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rebuchet MS Bold" charset="1" panose="020B0703020202020204"/>
      <p:regular r:id="rId17"/>
    </p:embeddedFont>
    <p:embeddedFont>
      <p:font typeface="Trebuchet MS Italics" charset="1" panose="020B0603020202090204"/>
      <p:regular r:id="rId18"/>
    </p:embeddedFont>
    <p:embeddedFont>
      <p:font typeface="Trebuchet MS" charset="1" panose="020B0603020202020204"/>
      <p:regular r:id="rId19"/>
    </p:embeddedFont>
    <p:embeddedFont>
      <p:font typeface="Calibri (MS) Bold" charset="1" panose="020F0702030404030204"/>
      <p:regular r:id="rId20"/>
    </p:embeddedFont>
    <p:embeddedFont>
      <p:font typeface="Calibri (MS) Italics" charset="1" panose="020F05020202040A0204"/>
      <p:regular r:id="rId21"/>
    </p:embeddedFont>
    <p:embeddedFont>
      <p:font typeface="Canva Sans Bold" charset="1" panose="020B0803030501040103"/>
      <p:regular r:id="rId22"/>
    </p:embeddedFont>
    <p:embeddedFont>
      <p:font typeface="PT Sans Bold" charset="1" panose="020B0703020203020204"/>
      <p:regular r:id="rId23"/>
    </p:embeddedFont>
    <p:embeddedFont>
      <p:font typeface="PT Sans" charset="1" panose="020B0503020203020204"/>
      <p:regular r:id="rId24"/>
    </p:embeddedFont>
    <p:embeddedFont>
      <p:font typeface="PT Sans Italics" charset="1" panose="020B0503020203090204"/>
      <p:regular r:id="rId25"/>
    </p:embeddedFont>
    <p:embeddedFont>
      <p:font typeface="Calibri (MS)" charset="1" panose="020F0502020204030204"/>
      <p:regular r:id="rId26"/>
    </p:embeddedFont>
    <p:embeddedFont>
      <p:font typeface="Calibri (MS) Bold Italics" charset="1" panose="020F07020304040A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21745"/>
            <a:ext cx="18297725" cy="68637"/>
            <a:chOff x="0" y="0"/>
            <a:chExt cx="24396967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91567"/>
            </a:xfrm>
            <a:custGeom>
              <a:avLst/>
              <a:gdLst/>
              <a:ahLst/>
              <a:cxnLst/>
              <a:rect r="r" b="b" t="t" l="l"/>
              <a:pathLst>
                <a:path h="91567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7773" y="173460"/>
            <a:ext cx="16563727" cy="9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Too Good To 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773" y="1271597"/>
            <a:ext cx="16563727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B7E4C7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Fighting Food Waste — One Surprise Bag at a Time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910696"/>
            <a:ext cx="18297725" cy="384353"/>
            <a:chOff x="0" y="0"/>
            <a:chExt cx="24396967" cy="512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96954" cy="512445"/>
            </a:xfrm>
            <a:custGeom>
              <a:avLst/>
              <a:gdLst/>
              <a:ahLst/>
              <a:cxnLst/>
              <a:rect r="r" b="b" t="t" l="l"/>
              <a:pathLst>
                <a:path h="51244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40509" y="9971684"/>
            <a:ext cx="9425826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B7E4C7"/>
                </a:solidFill>
                <a:latin typeface="Trebuchet MS"/>
                <a:ea typeface="Trebuchet MS"/>
                <a:cs typeface="Trebuchet MS"/>
                <a:sym typeface="Trebuchet MS"/>
              </a:rPr>
              <a:t>Too Good To Go  |  Data Strategy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5616" y="9971684"/>
            <a:ext cx="8190424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B7E4C7"/>
                </a:solidFill>
                <a:latin typeface="Trebuchet MS"/>
                <a:ea typeface="Trebuchet MS"/>
                <a:cs typeface="Trebuchet MS"/>
                <a:sym typeface="Trebuchet MS"/>
              </a:rPr>
              <a:t>© Too Good To Go International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227039" y="301990"/>
            <a:ext cx="768696" cy="768696"/>
            <a:chOff x="0" y="0"/>
            <a:chExt cx="1024928" cy="1024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24928" cy="103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83558" y="2031559"/>
            <a:ext cx="4667088" cy="7851686"/>
            <a:chOff x="0" y="0"/>
            <a:chExt cx="6222784" cy="104689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22746" cy="10468864"/>
            </a:xfrm>
            <a:custGeom>
              <a:avLst/>
              <a:gdLst/>
              <a:ahLst/>
              <a:cxnLst/>
              <a:rect r="r" b="b" t="t" l="l"/>
              <a:pathLst>
                <a:path h="10468864" w="6222746">
                  <a:moveTo>
                    <a:pt x="0" y="0"/>
                  </a:moveTo>
                  <a:lnTo>
                    <a:pt x="6222746" y="0"/>
                  </a:lnTo>
                  <a:lnTo>
                    <a:pt x="6222746" y="10468864"/>
                  </a:lnTo>
                  <a:lnTo>
                    <a:pt x="0" y="10468864"/>
                  </a:lnTo>
                  <a:close/>
                </a:path>
              </a:pathLst>
            </a:custGeom>
            <a:solidFill>
              <a:srgbClr val="0F3D2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383558" y="2031559"/>
            <a:ext cx="96088" cy="7851686"/>
            <a:chOff x="0" y="0"/>
            <a:chExt cx="128118" cy="104689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143" cy="10468864"/>
            </a:xfrm>
            <a:custGeom>
              <a:avLst/>
              <a:gdLst/>
              <a:ahLst/>
              <a:cxnLst/>
              <a:rect r="r" b="b" t="t" l="l"/>
              <a:pathLst>
                <a:path h="1046886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0468864"/>
                  </a:lnTo>
                  <a:lnTo>
                    <a:pt x="0" y="10468864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552475" y="2214201"/>
            <a:ext cx="4274353" cy="2187883"/>
            <a:chOff x="0" y="0"/>
            <a:chExt cx="5699138" cy="29171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5673725" cy="2891790"/>
            </a:xfrm>
            <a:custGeom>
              <a:avLst/>
              <a:gdLst/>
              <a:ahLst/>
              <a:cxnLst/>
              <a:rect r="r" b="b" t="t" l="l"/>
              <a:pathLst>
                <a:path h="2891790" w="5673725">
                  <a:moveTo>
                    <a:pt x="0" y="0"/>
                  </a:moveTo>
                  <a:lnTo>
                    <a:pt x="5673725" y="0"/>
                  </a:lnTo>
                  <a:lnTo>
                    <a:pt x="5673725" y="2891790"/>
                  </a:lnTo>
                  <a:lnTo>
                    <a:pt x="0" y="2891790"/>
                  </a:lnTo>
                  <a:close/>
                </a:path>
              </a:pathLst>
            </a:custGeom>
            <a:solidFill>
              <a:srgbClr val="16524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99125" cy="2917190"/>
            </a:xfrm>
            <a:custGeom>
              <a:avLst/>
              <a:gdLst/>
              <a:ahLst/>
              <a:cxnLst/>
              <a:rect r="r" b="b" t="t" l="l"/>
              <a:pathLst>
                <a:path h="2917190" w="5699125">
                  <a:moveTo>
                    <a:pt x="12700" y="0"/>
                  </a:moveTo>
                  <a:lnTo>
                    <a:pt x="5686425" y="0"/>
                  </a:lnTo>
                  <a:cubicBezTo>
                    <a:pt x="5693410" y="0"/>
                    <a:pt x="5699125" y="5715"/>
                    <a:pt x="5699125" y="12700"/>
                  </a:cubicBezTo>
                  <a:lnTo>
                    <a:pt x="5699125" y="2904490"/>
                  </a:lnTo>
                  <a:cubicBezTo>
                    <a:pt x="5699125" y="2911475"/>
                    <a:pt x="5693410" y="2917190"/>
                    <a:pt x="5686425" y="2917190"/>
                  </a:cubicBezTo>
                  <a:lnTo>
                    <a:pt x="12700" y="2917190"/>
                  </a:lnTo>
                  <a:cubicBezTo>
                    <a:pt x="5715" y="2917190"/>
                    <a:pt x="0" y="2911475"/>
                    <a:pt x="0" y="290449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04490"/>
                  </a:lnTo>
                  <a:lnTo>
                    <a:pt x="12700" y="2904490"/>
                  </a:lnTo>
                  <a:lnTo>
                    <a:pt x="12700" y="2891790"/>
                  </a:lnTo>
                  <a:lnTo>
                    <a:pt x="5686425" y="2891790"/>
                  </a:lnTo>
                  <a:lnTo>
                    <a:pt x="5686425" y="2904490"/>
                  </a:lnTo>
                  <a:lnTo>
                    <a:pt x="5673725" y="2904490"/>
                  </a:lnTo>
                  <a:lnTo>
                    <a:pt x="5673725" y="12700"/>
                  </a:lnTo>
                  <a:lnTo>
                    <a:pt x="5686425" y="12700"/>
                  </a:lnTo>
                  <a:lnTo>
                    <a:pt x="568642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680900" y="2397195"/>
            <a:ext cx="4003767" cy="108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sz="5704" b="true">
                <a:solidFill>
                  <a:srgbClr val="B7E4C7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100M+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80900" y="3595621"/>
            <a:ext cx="4003767" cy="50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E8F5EE"/>
                </a:solidFill>
                <a:latin typeface="Trebuchet MS"/>
                <a:ea typeface="Trebuchet MS"/>
                <a:cs typeface="Trebuchet MS"/>
                <a:sym typeface="Trebuchet MS"/>
              </a:rPr>
              <a:t>Meals Rescued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552475" y="4712465"/>
            <a:ext cx="4274353" cy="2187883"/>
            <a:chOff x="0" y="0"/>
            <a:chExt cx="5699138" cy="29171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5673725" cy="2891790"/>
            </a:xfrm>
            <a:custGeom>
              <a:avLst/>
              <a:gdLst/>
              <a:ahLst/>
              <a:cxnLst/>
              <a:rect r="r" b="b" t="t" l="l"/>
              <a:pathLst>
                <a:path h="2891790" w="5673725">
                  <a:moveTo>
                    <a:pt x="0" y="0"/>
                  </a:moveTo>
                  <a:lnTo>
                    <a:pt x="5673725" y="0"/>
                  </a:lnTo>
                  <a:lnTo>
                    <a:pt x="5673725" y="2891790"/>
                  </a:lnTo>
                  <a:lnTo>
                    <a:pt x="0" y="2891790"/>
                  </a:lnTo>
                  <a:close/>
                </a:path>
              </a:pathLst>
            </a:custGeom>
            <a:solidFill>
              <a:srgbClr val="16524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99125" cy="2917190"/>
            </a:xfrm>
            <a:custGeom>
              <a:avLst/>
              <a:gdLst/>
              <a:ahLst/>
              <a:cxnLst/>
              <a:rect r="r" b="b" t="t" l="l"/>
              <a:pathLst>
                <a:path h="2917190" w="5699125">
                  <a:moveTo>
                    <a:pt x="12700" y="0"/>
                  </a:moveTo>
                  <a:lnTo>
                    <a:pt x="5686425" y="0"/>
                  </a:lnTo>
                  <a:cubicBezTo>
                    <a:pt x="5693410" y="0"/>
                    <a:pt x="5699125" y="5715"/>
                    <a:pt x="5699125" y="12700"/>
                  </a:cubicBezTo>
                  <a:lnTo>
                    <a:pt x="5699125" y="2904490"/>
                  </a:lnTo>
                  <a:cubicBezTo>
                    <a:pt x="5699125" y="2911475"/>
                    <a:pt x="5693410" y="2917190"/>
                    <a:pt x="5686425" y="2917190"/>
                  </a:cubicBezTo>
                  <a:lnTo>
                    <a:pt x="12700" y="2917190"/>
                  </a:lnTo>
                  <a:cubicBezTo>
                    <a:pt x="5715" y="2917190"/>
                    <a:pt x="0" y="2911475"/>
                    <a:pt x="0" y="290449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04490"/>
                  </a:lnTo>
                  <a:lnTo>
                    <a:pt x="12700" y="2904490"/>
                  </a:lnTo>
                  <a:lnTo>
                    <a:pt x="12700" y="2891790"/>
                  </a:lnTo>
                  <a:lnTo>
                    <a:pt x="5686425" y="2891790"/>
                  </a:lnTo>
                  <a:lnTo>
                    <a:pt x="5686425" y="2904490"/>
                  </a:lnTo>
                  <a:lnTo>
                    <a:pt x="5673725" y="2904490"/>
                  </a:lnTo>
                  <a:lnTo>
                    <a:pt x="5673725" y="12700"/>
                  </a:lnTo>
                  <a:lnTo>
                    <a:pt x="5686425" y="12700"/>
                  </a:lnTo>
                  <a:lnTo>
                    <a:pt x="568642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680900" y="4895459"/>
            <a:ext cx="4003767" cy="108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sz="5704" b="true">
                <a:solidFill>
                  <a:srgbClr val="B7E4C7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17+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80900" y="6093885"/>
            <a:ext cx="4003767" cy="50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E8F5EE"/>
                </a:solidFill>
                <a:latin typeface="Trebuchet MS"/>
                <a:ea typeface="Trebuchet MS"/>
                <a:cs typeface="Trebuchet MS"/>
                <a:sym typeface="Trebuchet MS"/>
              </a:rPr>
              <a:t>Countries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552475" y="7210720"/>
            <a:ext cx="4274353" cy="2187883"/>
            <a:chOff x="0" y="0"/>
            <a:chExt cx="5699138" cy="291717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5673725" cy="2891790"/>
            </a:xfrm>
            <a:custGeom>
              <a:avLst/>
              <a:gdLst/>
              <a:ahLst/>
              <a:cxnLst/>
              <a:rect r="r" b="b" t="t" l="l"/>
              <a:pathLst>
                <a:path h="2891790" w="5673725">
                  <a:moveTo>
                    <a:pt x="0" y="0"/>
                  </a:moveTo>
                  <a:lnTo>
                    <a:pt x="5673725" y="0"/>
                  </a:lnTo>
                  <a:lnTo>
                    <a:pt x="5673725" y="2891790"/>
                  </a:lnTo>
                  <a:lnTo>
                    <a:pt x="0" y="2891790"/>
                  </a:lnTo>
                  <a:close/>
                </a:path>
              </a:pathLst>
            </a:custGeom>
            <a:solidFill>
              <a:srgbClr val="16524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99125" cy="2917190"/>
            </a:xfrm>
            <a:custGeom>
              <a:avLst/>
              <a:gdLst/>
              <a:ahLst/>
              <a:cxnLst/>
              <a:rect r="r" b="b" t="t" l="l"/>
              <a:pathLst>
                <a:path h="2917190" w="5699125">
                  <a:moveTo>
                    <a:pt x="12700" y="0"/>
                  </a:moveTo>
                  <a:lnTo>
                    <a:pt x="5686425" y="0"/>
                  </a:lnTo>
                  <a:cubicBezTo>
                    <a:pt x="5693410" y="0"/>
                    <a:pt x="5699125" y="5715"/>
                    <a:pt x="5699125" y="12700"/>
                  </a:cubicBezTo>
                  <a:lnTo>
                    <a:pt x="5699125" y="2904490"/>
                  </a:lnTo>
                  <a:cubicBezTo>
                    <a:pt x="5699125" y="2911475"/>
                    <a:pt x="5693410" y="2917190"/>
                    <a:pt x="5686425" y="2917190"/>
                  </a:cubicBezTo>
                  <a:lnTo>
                    <a:pt x="12700" y="2917190"/>
                  </a:lnTo>
                  <a:cubicBezTo>
                    <a:pt x="5715" y="2917190"/>
                    <a:pt x="0" y="2911475"/>
                    <a:pt x="0" y="290449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04490"/>
                  </a:lnTo>
                  <a:lnTo>
                    <a:pt x="12700" y="2904490"/>
                  </a:lnTo>
                  <a:lnTo>
                    <a:pt x="12700" y="2891790"/>
                  </a:lnTo>
                  <a:lnTo>
                    <a:pt x="5686425" y="2891790"/>
                  </a:lnTo>
                  <a:lnTo>
                    <a:pt x="5686425" y="2904490"/>
                  </a:lnTo>
                  <a:lnTo>
                    <a:pt x="5673725" y="2904490"/>
                  </a:lnTo>
                  <a:lnTo>
                    <a:pt x="5673725" y="12700"/>
                  </a:lnTo>
                  <a:lnTo>
                    <a:pt x="5686425" y="12700"/>
                  </a:lnTo>
                  <a:lnTo>
                    <a:pt x="568642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680900" y="7393715"/>
            <a:ext cx="4003767" cy="108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sz="5704" b="true">
                <a:solidFill>
                  <a:srgbClr val="B7E4C7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500M kg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80900" y="8592150"/>
            <a:ext cx="4003767" cy="50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E8F5EE"/>
                </a:solidFill>
                <a:latin typeface="Trebuchet MS"/>
                <a:ea typeface="Trebuchet MS"/>
                <a:cs typeface="Trebuchet MS"/>
                <a:sym typeface="Trebuchet MS"/>
              </a:rPr>
              <a:t>CO₂ Saved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7773" y="2103606"/>
            <a:ext cx="4621473" cy="32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D9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▌  KEY HIGHLIGHTS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72036" y="2483968"/>
            <a:ext cx="12382652" cy="1785614"/>
            <a:chOff x="0" y="0"/>
            <a:chExt cx="16510203" cy="23808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9050" y="19050"/>
              <a:ext cx="16472027" cy="2342769"/>
            </a:xfrm>
            <a:custGeom>
              <a:avLst/>
              <a:gdLst/>
              <a:ahLst/>
              <a:cxnLst/>
              <a:rect r="r" b="b" t="t" l="l"/>
              <a:pathLst>
                <a:path h="2342769" w="16472027">
                  <a:moveTo>
                    <a:pt x="0" y="0"/>
                  </a:moveTo>
                  <a:lnTo>
                    <a:pt x="16472027" y="0"/>
                  </a:lnTo>
                  <a:lnTo>
                    <a:pt x="16472027" y="2342769"/>
                  </a:lnTo>
                  <a:lnTo>
                    <a:pt x="0" y="23427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510127" cy="2380869"/>
            </a:xfrm>
            <a:custGeom>
              <a:avLst/>
              <a:gdLst/>
              <a:ahLst/>
              <a:cxnLst/>
              <a:rect r="r" b="b" t="t" l="l"/>
              <a:pathLst>
                <a:path h="2380869" w="16510127">
                  <a:moveTo>
                    <a:pt x="19050" y="0"/>
                  </a:moveTo>
                  <a:lnTo>
                    <a:pt x="16491077" y="0"/>
                  </a:lnTo>
                  <a:cubicBezTo>
                    <a:pt x="16501618" y="0"/>
                    <a:pt x="16510127" y="8509"/>
                    <a:pt x="16510127" y="19050"/>
                  </a:cubicBezTo>
                  <a:lnTo>
                    <a:pt x="16510127" y="2361819"/>
                  </a:lnTo>
                  <a:cubicBezTo>
                    <a:pt x="16510127" y="2372360"/>
                    <a:pt x="16501618" y="2380869"/>
                    <a:pt x="16491077" y="2380869"/>
                  </a:cubicBezTo>
                  <a:lnTo>
                    <a:pt x="19050" y="2380869"/>
                  </a:lnTo>
                  <a:cubicBezTo>
                    <a:pt x="8509" y="2380869"/>
                    <a:pt x="0" y="2372360"/>
                    <a:pt x="0" y="2361819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361819"/>
                  </a:lnTo>
                  <a:lnTo>
                    <a:pt x="19050" y="2361819"/>
                  </a:lnTo>
                  <a:lnTo>
                    <a:pt x="19050" y="2342769"/>
                  </a:lnTo>
                  <a:lnTo>
                    <a:pt x="16491077" y="2342769"/>
                  </a:lnTo>
                  <a:lnTo>
                    <a:pt x="16491077" y="2361819"/>
                  </a:lnTo>
                  <a:lnTo>
                    <a:pt x="16472027" y="2361819"/>
                  </a:lnTo>
                  <a:lnTo>
                    <a:pt x="16472027" y="19050"/>
                  </a:lnTo>
                  <a:lnTo>
                    <a:pt x="16491077" y="19050"/>
                  </a:lnTo>
                  <a:lnTo>
                    <a:pt x="1649107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7E4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86333" y="2498265"/>
            <a:ext cx="274539" cy="1757020"/>
            <a:chOff x="0" y="0"/>
            <a:chExt cx="366052" cy="23426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6014" cy="2342642"/>
            </a:xfrm>
            <a:custGeom>
              <a:avLst/>
              <a:gdLst/>
              <a:ahLst/>
              <a:cxnLst/>
              <a:rect r="r" b="b" t="t" l="l"/>
              <a:pathLst>
                <a:path h="2342642" w="366014">
                  <a:moveTo>
                    <a:pt x="0" y="0"/>
                  </a:moveTo>
                  <a:lnTo>
                    <a:pt x="366014" y="0"/>
                  </a:lnTo>
                  <a:lnTo>
                    <a:pt x="366014" y="2342642"/>
                  </a:lnTo>
                  <a:lnTo>
                    <a:pt x="0" y="2342642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25588" y="2717892"/>
            <a:ext cx="741245" cy="741245"/>
            <a:chOff x="0" y="0"/>
            <a:chExt cx="988327" cy="9883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88314" cy="988314"/>
            </a:xfrm>
            <a:custGeom>
              <a:avLst/>
              <a:gdLst/>
              <a:ahLst/>
              <a:cxnLst/>
              <a:rect r="r" b="b" t="t" l="l"/>
              <a:pathLst>
                <a:path h="988314" w="988314">
                  <a:moveTo>
                    <a:pt x="0" y="494157"/>
                  </a:moveTo>
                  <a:cubicBezTo>
                    <a:pt x="0" y="221234"/>
                    <a:pt x="221234" y="0"/>
                    <a:pt x="494157" y="0"/>
                  </a:cubicBezTo>
                  <a:cubicBezTo>
                    <a:pt x="767080" y="0"/>
                    <a:pt x="988314" y="221234"/>
                    <a:pt x="988314" y="494157"/>
                  </a:cubicBezTo>
                  <a:cubicBezTo>
                    <a:pt x="988314" y="767080"/>
                    <a:pt x="767080" y="988314"/>
                    <a:pt x="494157" y="988314"/>
                  </a:cubicBezTo>
                  <a:cubicBezTo>
                    <a:pt x="221234" y="988314"/>
                    <a:pt x="0" y="767080"/>
                    <a:pt x="0" y="494157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44489" y="2740362"/>
            <a:ext cx="530914" cy="576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B4D3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77901" y="2662199"/>
            <a:ext cx="10386698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b="true">
                <a:solidFill>
                  <a:srgbClr val="1B4D3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Mission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77901" y="3193342"/>
            <a:ext cx="10386698" cy="90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Too Good To Go exists to eliminate food waste globally. Every day, perfectly edible food is discarded — they're changing that, one rescued meal at a time.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72036" y="4405703"/>
            <a:ext cx="12382652" cy="1785614"/>
            <a:chOff x="0" y="0"/>
            <a:chExt cx="16510203" cy="238081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9050" y="19050"/>
              <a:ext cx="16472027" cy="2342769"/>
            </a:xfrm>
            <a:custGeom>
              <a:avLst/>
              <a:gdLst/>
              <a:ahLst/>
              <a:cxnLst/>
              <a:rect r="r" b="b" t="t" l="l"/>
              <a:pathLst>
                <a:path h="2342769" w="16472027">
                  <a:moveTo>
                    <a:pt x="0" y="0"/>
                  </a:moveTo>
                  <a:lnTo>
                    <a:pt x="16472027" y="0"/>
                  </a:lnTo>
                  <a:lnTo>
                    <a:pt x="16472027" y="2342769"/>
                  </a:lnTo>
                  <a:lnTo>
                    <a:pt x="0" y="23427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510127" cy="2380869"/>
            </a:xfrm>
            <a:custGeom>
              <a:avLst/>
              <a:gdLst/>
              <a:ahLst/>
              <a:cxnLst/>
              <a:rect r="r" b="b" t="t" l="l"/>
              <a:pathLst>
                <a:path h="2380869" w="16510127">
                  <a:moveTo>
                    <a:pt x="19050" y="0"/>
                  </a:moveTo>
                  <a:lnTo>
                    <a:pt x="16491077" y="0"/>
                  </a:lnTo>
                  <a:cubicBezTo>
                    <a:pt x="16501618" y="0"/>
                    <a:pt x="16510127" y="8509"/>
                    <a:pt x="16510127" y="19050"/>
                  </a:cubicBezTo>
                  <a:lnTo>
                    <a:pt x="16510127" y="2361819"/>
                  </a:lnTo>
                  <a:cubicBezTo>
                    <a:pt x="16510127" y="2372360"/>
                    <a:pt x="16501618" y="2380869"/>
                    <a:pt x="16491077" y="2380869"/>
                  </a:cubicBezTo>
                  <a:lnTo>
                    <a:pt x="19050" y="2380869"/>
                  </a:lnTo>
                  <a:cubicBezTo>
                    <a:pt x="8509" y="2380869"/>
                    <a:pt x="0" y="2372360"/>
                    <a:pt x="0" y="2361819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361819"/>
                  </a:lnTo>
                  <a:lnTo>
                    <a:pt x="19050" y="2361819"/>
                  </a:lnTo>
                  <a:lnTo>
                    <a:pt x="19050" y="2342769"/>
                  </a:lnTo>
                  <a:lnTo>
                    <a:pt x="16491077" y="2342769"/>
                  </a:lnTo>
                  <a:lnTo>
                    <a:pt x="16491077" y="2361819"/>
                  </a:lnTo>
                  <a:lnTo>
                    <a:pt x="16472027" y="2361819"/>
                  </a:lnTo>
                  <a:lnTo>
                    <a:pt x="16472027" y="19050"/>
                  </a:lnTo>
                  <a:lnTo>
                    <a:pt x="16491077" y="19050"/>
                  </a:lnTo>
                  <a:lnTo>
                    <a:pt x="1649107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7E4C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86333" y="4420010"/>
            <a:ext cx="274539" cy="1757020"/>
            <a:chOff x="0" y="0"/>
            <a:chExt cx="366052" cy="23426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6014" cy="2342642"/>
            </a:xfrm>
            <a:custGeom>
              <a:avLst/>
              <a:gdLst/>
              <a:ahLst/>
              <a:cxnLst/>
              <a:rect r="r" b="b" t="t" l="l"/>
              <a:pathLst>
                <a:path h="2342642" w="366014">
                  <a:moveTo>
                    <a:pt x="0" y="0"/>
                  </a:moveTo>
                  <a:lnTo>
                    <a:pt x="366014" y="0"/>
                  </a:lnTo>
                  <a:lnTo>
                    <a:pt x="366014" y="2342642"/>
                  </a:lnTo>
                  <a:lnTo>
                    <a:pt x="0" y="2342642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25588" y="4639637"/>
            <a:ext cx="741245" cy="741245"/>
            <a:chOff x="0" y="0"/>
            <a:chExt cx="988327" cy="9883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8314" cy="988314"/>
            </a:xfrm>
            <a:custGeom>
              <a:avLst/>
              <a:gdLst/>
              <a:ahLst/>
              <a:cxnLst/>
              <a:rect r="r" b="b" t="t" l="l"/>
              <a:pathLst>
                <a:path h="988314" w="988314">
                  <a:moveTo>
                    <a:pt x="0" y="494157"/>
                  </a:moveTo>
                  <a:cubicBezTo>
                    <a:pt x="0" y="221234"/>
                    <a:pt x="221234" y="0"/>
                    <a:pt x="494157" y="0"/>
                  </a:cubicBezTo>
                  <a:cubicBezTo>
                    <a:pt x="767080" y="0"/>
                    <a:pt x="988314" y="221234"/>
                    <a:pt x="988314" y="494157"/>
                  </a:cubicBezTo>
                  <a:cubicBezTo>
                    <a:pt x="988314" y="767080"/>
                    <a:pt x="767080" y="988314"/>
                    <a:pt x="494157" y="988314"/>
                  </a:cubicBezTo>
                  <a:cubicBezTo>
                    <a:pt x="221234" y="988314"/>
                    <a:pt x="0" y="767080"/>
                    <a:pt x="0" y="494157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44489" y="4662097"/>
            <a:ext cx="530914" cy="576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B4D3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177901" y="4583944"/>
            <a:ext cx="10386698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b="true">
                <a:solidFill>
                  <a:srgbClr val="1B4D3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Business Model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177901" y="5115087"/>
            <a:ext cx="10386698" cy="90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Restaurants, bakeries &amp; supermarkets list surplus food as 'Surprise Bags'. Customers buy them at up to 70% off retail and collect at closing time — zero food wasted.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72036" y="6327448"/>
            <a:ext cx="12382652" cy="1785614"/>
            <a:chOff x="0" y="0"/>
            <a:chExt cx="16510203" cy="238081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9050" y="19050"/>
              <a:ext cx="16472027" cy="2342769"/>
            </a:xfrm>
            <a:custGeom>
              <a:avLst/>
              <a:gdLst/>
              <a:ahLst/>
              <a:cxnLst/>
              <a:rect r="r" b="b" t="t" l="l"/>
              <a:pathLst>
                <a:path h="2342769" w="16472027">
                  <a:moveTo>
                    <a:pt x="0" y="0"/>
                  </a:moveTo>
                  <a:lnTo>
                    <a:pt x="16472027" y="0"/>
                  </a:lnTo>
                  <a:lnTo>
                    <a:pt x="16472027" y="2342769"/>
                  </a:lnTo>
                  <a:lnTo>
                    <a:pt x="0" y="23427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510127" cy="2380869"/>
            </a:xfrm>
            <a:custGeom>
              <a:avLst/>
              <a:gdLst/>
              <a:ahLst/>
              <a:cxnLst/>
              <a:rect r="r" b="b" t="t" l="l"/>
              <a:pathLst>
                <a:path h="2380869" w="16510127">
                  <a:moveTo>
                    <a:pt x="19050" y="0"/>
                  </a:moveTo>
                  <a:lnTo>
                    <a:pt x="16491077" y="0"/>
                  </a:lnTo>
                  <a:cubicBezTo>
                    <a:pt x="16501618" y="0"/>
                    <a:pt x="16510127" y="8509"/>
                    <a:pt x="16510127" y="19050"/>
                  </a:cubicBezTo>
                  <a:lnTo>
                    <a:pt x="16510127" y="2361819"/>
                  </a:lnTo>
                  <a:cubicBezTo>
                    <a:pt x="16510127" y="2372360"/>
                    <a:pt x="16501618" y="2380869"/>
                    <a:pt x="16491077" y="2380869"/>
                  </a:cubicBezTo>
                  <a:lnTo>
                    <a:pt x="19050" y="2380869"/>
                  </a:lnTo>
                  <a:cubicBezTo>
                    <a:pt x="8509" y="2380869"/>
                    <a:pt x="0" y="2372360"/>
                    <a:pt x="0" y="2361819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361819"/>
                  </a:lnTo>
                  <a:lnTo>
                    <a:pt x="19050" y="2361819"/>
                  </a:lnTo>
                  <a:lnTo>
                    <a:pt x="19050" y="2342769"/>
                  </a:lnTo>
                  <a:lnTo>
                    <a:pt x="16491077" y="2342769"/>
                  </a:lnTo>
                  <a:lnTo>
                    <a:pt x="16491077" y="2361819"/>
                  </a:lnTo>
                  <a:lnTo>
                    <a:pt x="16472027" y="2361819"/>
                  </a:lnTo>
                  <a:lnTo>
                    <a:pt x="16472027" y="19050"/>
                  </a:lnTo>
                  <a:lnTo>
                    <a:pt x="16491077" y="19050"/>
                  </a:lnTo>
                  <a:lnTo>
                    <a:pt x="1649107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B7E4C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86333" y="6341745"/>
            <a:ext cx="274539" cy="1757020"/>
            <a:chOff x="0" y="0"/>
            <a:chExt cx="366052" cy="23426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6014" cy="2342642"/>
            </a:xfrm>
            <a:custGeom>
              <a:avLst/>
              <a:gdLst/>
              <a:ahLst/>
              <a:cxnLst/>
              <a:rect r="r" b="b" t="t" l="l"/>
              <a:pathLst>
                <a:path h="2342642" w="366014">
                  <a:moveTo>
                    <a:pt x="0" y="0"/>
                  </a:moveTo>
                  <a:lnTo>
                    <a:pt x="366014" y="0"/>
                  </a:lnTo>
                  <a:lnTo>
                    <a:pt x="366014" y="2342642"/>
                  </a:lnTo>
                  <a:lnTo>
                    <a:pt x="0" y="2342642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25588" y="6561372"/>
            <a:ext cx="741245" cy="741245"/>
            <a:chOff x="0" y="0"/>
            <a:chExt cx="988327" cy="98832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88314" cy="988314"/>
            </a:xfrm>
            <a:custGeom>
              <a:avLst/>
              <a:gdLst/>
              <a:ahLst/>
              <a:cxnLst/>
              <a:rect r="r" b="b" t="t" l="l"/>
              <a:pathLst>
                <a:path h="988314" w="988314">
                  <a:moveTo>
                    <a:pt x="0" y="494157"/>
                  </a:moveTo>
                  <a:cubicBezTo>
                    <a:pt x="0" y="221234"/>
                    <a:pt x="221234" y="0"/>
                    <a:pt x="494157" y="0"/>
                  </a:cubicBezTo>
                  <a:cubicBezTo>
                    <a:pt x="767080" y="0"/>
                    <a:pt x="988314" y="221234"/>
                    <a:pt x="988314" y="494157"/>
                  </a:cubicBezTo>
                  <a:cubicBezTo>
                    <a:pt x="988314" y="767080"/>
                    <a:pt x="767080" y="988314"/>
                    <a:pt x="494157" y="988314"/>
                  </a:cubicBezTo>
                  <a:cubicBezTo>
                    <a:pt x="221234" y="988314"/>
                    <a:pt x="0" y="767080"/>
                    <a:pt x="0" y="494157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244489" y="6583842"/>
            <a:ext cx="530914" cy="576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B4D3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03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177901" y="6505680"/>
            <a:ext cx="10386698" cy="42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b="true">
                <a:solidFill>
                  <a:srgbClr val="1B4D3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Global Impact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177901" y="7036822"/>
            <a:ext cx="10386698" cy="90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Operating in 17+ countries with 100M+ meals saved. The world's #1 food-waste reduction platform, measuring CO₂ savings on every transaction.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76808" y="8295132"/>
            <a:ext cx="12373118" cy="677951"/>
            <a:chOff x="0" y="0"/>
            <a:chExt cx="16497491" cy="90393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2700"/>
              <a:ext cx="16472027" cy="878459"/>
            </a:xfrm>
            <a:custGeom>
              <a:avLst/>
              <a:gdLst/>
              <a:ahLst/>
              <a:cxnLst/>
              <a:rect r="r" b="b" t="t" l="l"/>
              <a:pathLst>
                <a:path h="878459" w="16472027">
                  <a:moveTo>
                    <a:pt x="0" y="0"/>
                  </a:moveTo>
                  <a:lnTo>
                    <a:pt x="16472027" y="0"/>
                  </a:lnTo>
                  <a:lnTo>
                    <a:pt x="16472027" y="878459"/>
                  </a:lnTo>
                  <a:lnTo>
                    <a:pt x="0" y="878459"/>
                  </a:lnTo>
                  <a:close/>
                </a:path>
              </a:pathLst>
            </a:custGeom>
            <a:solidFill>
              <a:srgbClr val="E8F5EE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497427" cy="903859"/>
            </a:xfrm>
            <a:custGeom>
              <a:avLst/>
              <a:gdLst/>
              <a:ahLst/>
              <a:cxnLst/>
              <a:rect r="r" b="b" t="t" l="l"/>
              <a:pathLst>
                <a:path h="903859" w="16497427">
                  <a:moveTo>
                    <a:pt x="12700" y="0"/>
                  </a:moveTo>
                  <a:lnTo>
                    <a:pt x="16484727" y="0"/>
                  </a:lnTo>
                  <a:cubicBezTo>
                    <a:pt x="16491713" y="0"/>
                    <a:pt x="16497427" y="5715"/>
                    <a:pt x="16497427" y="12700"/>
                  </a:cubicBezTo>
                  <a:lnTo>
                    <a:pt x="16497427" y="891159"/>
                  </a:lnTo>
                  <a:cubicBezTo>
                    <a:pt x="16497427" y="898144"/>
                    <a:pt x="16491713" y="903859"/>
                    <a:pt x="16484727" y="903859"/>
                  </a:cubicBezTo>
                  <a:lnTo>
                    <a:pt x="12700" y="903859"/>
                  </a:lnTo>
                  <a:cubicBezTo>
                    <a:pt x="5715" y="903859"/>
                    <a:pt x="0" y="898144"/>
                    <a:pt x="0" y="89115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91159"/>
                  </a:lnTo>
                  <a:lnTo>
                    <a:pt x="12700" y="891159"/>
                  </a:lnTo>
                  <a:lnTo>
                    <a:pt x="12700" y="878459"/>
                  </a:lnTo>
                  <a:lnTo>
                    <a:pt x="16484727" y="878459"/>
                  </a:lnTo>
                  <a:lnTo>
                    <a:pt x="16484727" y="891159"/>
                  </a:lnTo>
                  <a:lnTo>
                    <a:pt x="16472027" y="891159"/>
                  </a:lnTo>
                  <a:lnTo>
                    <a:pt x="16472027" y="12700"/>
                  </a:lnTo>
                  <a:lnTo>
                    <a:pt x="16484727" y="12700"/>
                  </a:lnTo>
                  <a:lnTo>
                    <a:pt x="1648472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7E4C7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983675" y="8408375"/>
            <a:ext cx="11759365" cy="41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1B4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✨  Voted World's Best Social Impact App  |  B-Corp Certified  |  150,000+ Partner Stores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245645" y="367106"/>
            <a:ext cx="261366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Mohit</a:t>
            </a:r>
            <a:r>
              <a:rPr lang="en-US" b="true" sz="2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Bahukhandi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270503" y="823277"/>
            <a:ext cx="258880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Vighnesh Shetty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48863" y="302495"/>
            <a:ext cx="294036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21745"/>
            <a:ext cx="18297725" cy="68637"/>
            <a:chOff x="0" y="0"/>
            <a:chExt cx="24396967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91567"/>
            </a:xfrm>
            <a:custGeom>
              <a:avLst/>
              <a:gdLst/>
              <a:ahLst/>
              <a:cxnLst/>
              <a:rect r="r" b="b" t="t" l="l"/>
              <a:pathLst>
                <a:path h="91567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7773" y="173460"/>
            <a:ext cx="16563727" cy="9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Data Challenges in Food Waste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773" y="1271597"/>
            <a:ext cx="16563727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B7E4C7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Key obstacles in capturing, syncing &amp; standardising partner data at scale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910696"/>
            <a:ext cx="18297725" cy="384353"/>
            <a:chOff x="0" y="0"/>
            <a:chExt cx="24396967" cy="512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96954" cy="512445"/>
            </a:xfrm>
            <a:custGeom>
              <a:avLst/>
              <a:gdLst/>
              <a:ahLst/>
              <a:cxnLst/>
              <a:rect r="r" b="b" t="t" l="l"/>
              <a:pathLst>
                <a:path h="51244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40509" y="9971684"/>
            <a:ext cx="9425826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B7E4C7"/>
                </a:solidFill>
                <a:latin typeface="Trebuchet MS"/>
                <a:ea typeface="Trebuchet MS"/>
                <a:cs typeface="Trebuchet MS"/>
                <a:sym typeface="Trebuchet MS"/>
              </a:rPr>
              <a:t>Too Good To Go  |  Data Strategy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5616" y="9971684"/>
            <a:ext cx="8190424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B7E4C7"/>
                </a:solidFill>
                <a:latin typeface="Trebuchet MS"/>
                <a:ea typeface="Trebuchet MS"/>
                <a:cs typeface="Trebuchet MS"/>
                <a:sym typeface="Trebuchet MS"/>
              </a:rPr>
              <a:t>© Too Good To Go International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227039" y="301990"/>
            <a:ext cx="768696" cy="768696"/>
            <a:chOff x="0" y="0"/>
            <a:chExt cx="1024928" cy="1024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24928" cy="103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2036" y="2113340"/>
            <a:ext cx="16953652" cy="1922888"/>
            <a:chOff x="0" y="0"/>
            <a:chExt cx="22604870" cy="25638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22566757" cy="2525776"/>
            </a:xfrm>
            <a:custGeom>
              <a:avLst/>
              <a:gdLst/>
              <a:ahLst/>
              <a:cxnLst/>
              <a:rect r="r" b="b" t="t" l="l"/>
              <a:pathLst>
                <a:path h="2525776" w="22566757">
                  <a:moveTo>
                    <a:pt x="0" y="0"/>
                  </a:moveTo>
                  <a:lnTo>
                    <a:pt x="22566757" y="0"/>
                  </a:lnTo>
                  <a:lnTo>
                    <a:pt x="22566757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1B6B5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04857" cy="2563876"/>
            </a:xfrm>
            <a:custGeom>
              <a:avLst/>
              <a:gdLst/>
              <a:ahLst/>
              <a:cxnLst/>
              <a:rect r="r" b="b" t="t" l="l"/>
              <a:pathLst>
                <a:path h="2563876" w="22604857">
                  <a:moveTo>
                    <a:pt x="19050" y="0"/>
                  </a:moveTo>
                  <a:lnTo>
                    <a:pt x="22585807" y="0"/>
                  </a:lnTo>
                  <a:cubicBezTo>
                    <a:pt x="22596348" y="0"/>
                    <a:pt x="22604857" y="8509"/>
                    <a:pt x="22604857" y="19050"/>
                  </a:cubicBezTo>
                  <a:lnTo>
                    <a:pt x="22604857" y="2544826"/>
                  </a:lnTo>
                  <a:cubicBezTo>
                    <a:pt x="22604857" y="2555367"/>
                    <a:pt x="22596348" y="2563876"/>
                    <a:pt x="22585807" y="2563876"/>
                  </a:cubicBezTo>
                  <a:lnTo>
                    <a:pt x="19050" y="2563876"/>
                  </a:lnTo>
                  <a:cubicBezTo>
                    <a:pt x="8509" y="2563876"/>
                    <a:pt x="0" y="2555367"/>
                    <a:pt x="0" y="2544826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544826"/>
                  </a:lnTo>
                  <a:lnTo>
                    <a:pt x="19050" y="2544826"/>
                  </a:lnTo>
                  <a:lnTo>
                    <a:pt x="19050" y="2525776"/>
                  </a:lnTo>
                  <a:lnTo>
                    <a:pt x="22585807" y="2525776"/>
                  </a:lnTo>
                  <a:lnTo>
                    <a:pt x="22585807" y="2544826"/>
                  </a:lnTo>
                  <a:lnTo>
                    <a:pt x="22566757" y="2544826"/>
                  </a:lnTo>
                  <a:lnTo>
                    <a:pt x="22566757" y="19050"/>
                  </a:lnTo>
                  <a:lnTo>
                    <a:pt x="22585807" y="19050"/>
                  </a:lnTo>
                  <a:lnTo>
                    <a:pt x="2258580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6333" y="2127647"/>
            <a:ext cx="301990" cy="1894284"/>
            <a:chOff x="0" y="0"/>
            <a:chExt cx="402654" cy="25257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590" cy="2525776"/>
            </a:xfrm>
            <a:custGeom>
              <a:avLst/>
              <a:gdLst/>
              <a:ahLst/>
              <a:cxnLst/>
              <a:rect r="r" b="b" t="t" l="l"/>
              <a:pathLst>
                <a:path h="2525776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8324" y="2580627"/>
            <a:ext cx="933421" cy="933421"/>
            <a:chOff x="0" y="0"/>
            <a:chExt cx="1244562" cy="12445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46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1244600">
                  <a:moveTo>
                    <a:pt x="0" y="622300"/>
                  </a:moveTo>
                  <a:cubicBezTo>
                    <a:pt x="0" y="278638"/>
                    <a:pt x="278638" y="0"/>
                    <a:pt x="622300" y="0"/>
                  </a:cubicBezTo>
                  <a:cubicBezTo>
                    <a:pt x="965962" y="0"/>
                    <a:pt x="1244600" y="278638"/>
                    <a:pt x="1244600" y="622300"/>
                  </a:cubicBezTo>
                  <a:cubicBezTo>
                    <a:pt x="1244600" y="965962"/>
                    <a:pt x="965962" y="1244600"/>
                    <a:pt x="622300" y="1244600"/>
                  </a:cubicBezTo>
                  <a:cubicBezTo>
                    <a:pt x="278638" y="1244600"/>
                    <a:pt x="0" y="965962"/>
                    <a:pt x="0" y="622300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07215" y="2671724"/>
            <a:ext cx="723081" cy="54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21136" y="2291582"/>
            <a:ext cx="13955649" cy="44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b="true">
                <a:solidFill>
                  <a:srgbClr val="1B4D3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Real-Time Inventory Accuracy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21136" y="2877626"/>
            <a:ext cx="13955649" cy="9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Surprise Bag availability changes minute-by-minute across thousands of independent partners. Synchronising live stock levels without delay is critical — stale counts cause double-bookings and frustrated customers.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2036" y="4268438"/>
            <a:ext cx="16953652" cy="1922888"/>
            <a:chOff x="0" y="0"/>
            <a:chExt cx="22604870" cy="25638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9050" y="19050"/>
              <a:ext cx="22566757" cy="2525776"/>
            </a:xfrm>
            <a:custGeom>
              <a:avLst/>
              <a:gdLst/>
              <a:ahLst/>
              <a:cxnLst/>
              <a:rect r="r" b="b" t="t" l="l"/>
              <a:pathLst>
                <a:path h="2525776" w="22566757">
                  <a:moveTo>
                    <a:pt x="0" y="0"/>
                  </a:moveTo>
                  <a:lnTo>
                    <a:pt x="22566757" y="0"/>
                  </a:lnTo>
                  <a:lnTo>
                    <a:pt x="22566757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FFF0D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604857" cy="2563876"/>
            </a:xfrm>
            <a:custGeom>
              <a:avLst/>
              <a:gdLst/>
              <a:ahLst/>
              <a:cxnLst/>
              <a:rect r="r" b="b" t="t" l="l"/>
              <a:pathLst>
                <a:path h="2563876" w="22604857">
                  <a:moveTo>
                    <a:pt x="19050" y="0"/>
                  </a:moveTo>
                  <a:lnTo>
                    <a:pt x="22585807" y="0"/>
                  </a:lnTo>
                  <a:cubicBezTo>
                    <a:pt x="22596348" y="0"/>
                    <a:pt x="22604857" y="8509"/>
                    <a:pt x="22604857" y="19050"/>
                  </a:cubicBezTo>
                  <a:lnTo>
                    <a:pt x="22604857" y="2544826"/>
                  </a:lnTo>
                  <a:cubicBezTo>
                    <a:pt x="22604857" y="2555367"/>
                    <a:pt x="22596348" y="2563876"/>
                    <a:pt x="22585807" y="2563876"/>
                  </a:cubicBezTo>
                  <a:lnTo>
                    <a:pt x="19050" y="2563876"/>
                  </a:lnTo>
                  <a:cubicBezTo>
                    <a:pt x="8509" y="2563876"/>
                    <a:pt x="0" y="2555367"/>
                    <a:pt x="0" y="2544826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544826"/>
                  </a:lnTo>
                  <a:lnTo>
                    <a:pt x="19050" y="2544826"/>
                  </a:lnTo>
                  <a:lnTo>
                    <a:pt x="19050" y="2525776"/>
                  </a:lnTo>
                  <a:lnTo>
                    <a:pt x="22585807" y="2525776"/>
                  </a:lnTo>
                  <a:lnTo>
                    <a:pt x="22585807" y="2544826"/>
                  </a:lnTo>
                  <a:lnTo>
                    <a:pt x="22566757" y="2544826"/>
                  </a:lnTo>
                  <a:lnTo>
                    <a:pt x="22566757" y="19050"/>
                  </a:lnTo>
                  <a:lnTo>
                    <a:pt x="22585807" y="19050"/>
                  </a:lnTo>
                  <a:lnTo>
                    <a:pt x="2258580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F0964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86333" y="4282735"/>
            <a:ext cx="301990" cy="1894284"/>
            <a:chOff x="0" y="0"/>
            <a:chExt cx="402654" cy="25257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2590" cy="2525776"/>
            </a:xfrm>
            <a:custGeom>
              <a:avLst/>
              <a:gdLst/>
              <a:ahLst/>
              <a:cxnLst/>
              <a:rect r="r" b="b" t="t" l="l"/>
              <a:pathLst>
                <a:path h="2525776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F0964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8324" y="4735716"/>
            <a:ext cx="933421" cy="933421"/>
            <a:chOff x="0" y="0"/>
            <a:chExt cx="1244562" cy="12445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46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1244600">
                  <a:moveTo>
                    <a:pt x="0" y="622300"/>
                  </a:moveTo>
                  <a:cubicBezTo>
                    <a:pt x="0" y="278638"/>
                    <a:pt x="278638" y="0"/>
                    <a:pt x="622300" y="0"/>
                  </a:cubicBezTo>
                  <a:cubicBezTo>
                    <a:pt x="965962" y="0"/>
                    <a:pt x="1244600" y="278638"/>
                    <a:pt x="1244600" y="622300"/>
                  </a:cubicBezTo>
                  <a:cubicBezTo>
                    <a:pt x="1244600" y="965962"/>
                    <a:pt x="965962" y="1244600"/>
                    <a:pt x="622300" y="1244600"/>
                  </a:cubicBezTo>
                  <a:cubicBezTo>
                    <a:pt x="278638" y="1244600"/>
                    <a:pt x="0" y="965962"/>
                    <a:pt x="0" y="622300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07215" y="4826822"/>
            <a:ext cx="723081" cy="54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21136" y="4446680"/>
            <a:ext cx="13955649" cy="44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b="true">
                <a:solidFill>
                  <a:srgbClr val="1B4D3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Manual Entry Errors &amp; Partner Variability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21136" y="5032724"/>
            <a:ext cx="13955649" cy="9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Bag quantities, pickup windows, and food categories are entered by individual store managers with no enforced format. Inconsistent data degrades demand forecasting and partner analytics.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72036" y="6423536"/>
            <a:ext cx="16953652" cy="1922888"/>
            <a:chOff x="0" y="0"/>
            <a:chExt cx="22604870" cy="25638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9050" y="19050"/>
              <a:ext cx="22566757" cy="2525776"/>
            </a:xfrm>
            <a:custGeom>
              <a:avLst/>
              <a:gdLst/>
              <a:ahLst/>
              <a:cxnLst/>
              <a:rect r="r" b="b" t="t" l="l"/>
              <a:pathLst>
                <a:path h="2525776" w="22566757">
                  <a:moveTo>
                    <a:pt x="0" y="0"/>
                  </a:moveTo>
                  <a:lnTo>
                    <a:pt x="22566757" y="0"/>
                  </a:lnTo>
                  <a:lnTo>
                    <a:pt x="22566757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E8F3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604857" cy="2563876"/>
            </a:xfrm>
            <a:custGeom>
              <a:avLst/>
              <a:gdLst/>
              <a:ahLst/>
              <a:cxnLst/>
              <a:rect r="r" b="b" t="t" l="l"/>
              <a:pathLst>
                <a:path h="2563876" w="22604857">
                  <a:moveTo>
                    <a:pt x="19050" y="0"/>
                  </a:moveTo>
                  <a:lnTo>
                    <a:pt x="22585807" y="0"/>
                  </a:lnTo>
                  <a:cubicBezTo>
                    <a:pt x="22596348" y="0"/>
                    <a:pt x="22604857" y="8509"/>
                    <a:pt x="22604857" y="19050"/>
                  </a:cubicBezTo>
                  <a:lnTo>
                    <a:pt x="22604857" y="2544826"/>
                  </a:lnTo>
                  <a:cubicBezTo>
                    <a:pt x="22604857" y="2555367"/>
                    <a:pt x="22596348" y="2563876"/>
                    <a:pt x="22585807" y="2563876"/>
                  </a:cubicBezTo>
                  <a:lnTo>
                    <a:pt x="19050" y="2563876"/>
                  </a:lnTo>
                  <a:cubicBezTo>
                    <a:pt x="8509" y="2563876"/>
                    <a:pt x="0" y="2555367"/>
                    <a:pt x="0" y="2544826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544826"/>
                  </a:lnTo>
                  <a:lnTo>
                    <a:pt x="19050" y="2544826"/>
                  </a:lnTo>
                  <a:lnTo>
                    <a:pt x="19050" y="2525776"/>
                  </a:lnTo>
                  <a:lnTo>
                    <a:pt x="22585807" y="2525776"/>
                  </a:lnTo>
                  <a:lnTo>
                    <a:pt x="22585807" y="2544826"/>
                  </a:lnTo>
                  <a:lnTo>
                    <a:pt x="22566757" y="2544826"/>
                  </a:lnTo>
                  <a:lnTo>
                    <a:pt x="22566757" y="19050"/>
                  </a:lnTo>
                  <a:lnTo>
                    <a:pt x="22585807" y="19050"/>
                  </a:lnTo>
                  <a:lnTo>
                    <a:pt x="22585807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3A86C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86333" y="6437833"/>
            <a:ext cx="301990" cy="1894284"/>
            <a:chOff x="0" y="0"/>
            <a:chExt cx="402654" cy="25257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590" cy="2525776"/>
            </a:xfrm>
            <a:custGeom>
              <a:avLst/>
              <a:gdLst/>
              <a:ahLst/>
              <a:cxnLst/>
              <a:rect r="r" b="b" t="t" l="l"/>
              <a:pathLst>
                <a:path h="2525776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3A86C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88324" y="6890814"/>
            <a:ext cx="933421" cy="933421"/>
            <a:chOff x="0" y="0"/>
            <a:chExt cx="1244562" cy="124456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446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1244600">
                  <a:moveTo>
                    <a:pt x="0" y="622300"/>
                  </a:moveTo>
                  <a:cubicBezTo>
                    <a:pt x="0" y="278638"/>
                    <a:pt x="278638" y="0"/>
                    <a:pt x="622300" y="0"/>
                  </a:cubicBezTo>
                  <a:cubicBezTo>
                    <a:pt x="965962" y="0"/>
                    <a:pt x="1244600" y="278638"/>
                    <a:pt x="1244600" y="622300"/>
                  </a:cubicBezTo>
                  <a:cubicBezTo>
                    <a:pt x="1244600" y="965962"/>
                    <a:pt x="965962" y="1244600"/>
                    <a:pt x="622300" y="1244600"/>
                  </a:cubicBezTo>
                  <a:cubicBezTo>
                    <a:pt x="278638" y="1244600"/>
                    <a:pt x="0" y="965962"/>
                    <a:pt x="0" y="622300"/>
                  </a:cubicBezTo>
                  <a:close/>
                </a:path>
              </a:pathLst>
            </a:custGeom>
            <a:solidFill>
              <a:srgbClr val="3A86C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07215" y="6981920"/>
            <a:ext cx="723081" cy="54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03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221136" y="6601768"/>
            <a:ext cx="13955649" cy="44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b="true">
                <a:solidFill>
                  <a:srgbClr val="1B4D3E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Scalability of POS Data Integration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221136" y="7187822"/>
            <a:ext cx="13955649" cy="9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Partners use dozens of different Point-of-Sale systems (Square, Lightspeed, legacy tills, etc.). Ingesting and normalising transaction data into a single clean schema is a major engineering and data-governance challenge.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76808" y="8528494"/>
            <a:ext cx="16944118" cy="705402"/>
            <a:chOff x="0" y="0"/>
            <a:chExt cx="22592157" cy="94053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2700" y="12700"/>
              <a:ext cx="22566757" cy="915162"/>
            </a:xfrm>
            <a:custGeom>
              <a:avLst/>
              <a:gdLst/>
              <a:ahLst/>
              <a:cxnLst/>
              <a:rect r="r" b="b" t="t" l="l"/>
              <a:pathLst>
                <a:path h="915162" w="22566757">
                  <a:moveTo>
                    <a:pt x="0" y="0"/>
                  </a:moveTo>
                  <a:lnTo>
                    <a:pt x="22566757" y="0"/>
                  </a:lnTo>
                  <a:lnTo>
                    <a:pt x="22566757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E8F5E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592157" cy="940562"/>
            </a:xfrm>
            <a:custGeom>
              <a:avLst/>
              <a:gdLst/>
              <a:ahLst/>
              <a:cxnLst/>
              <a:rect r="r" b="b" t="t" l="l"/>
              <a:pathLst>
                <a:path h="940562" w="22592157">
                  <a:moveTo>
                    <a:pt x="12700" y="0"/>
                  </a:moveTo>
                  <a:lnTo>
                    <a:pt x="22579457" y="0"/>
                  </a:lnTo>
                  <a:cubicBezTo>
                    <a:pt x="22586443" y="0"/>
                    <a:pt x="22592157" y="5715"/>
                    <a:pt x="22592157" y="12700"/>
                  </a:cubicBezTo>
                  <a:lnTo>
                    <a:pt x="22592157" y="927862"/>
                  </a:lnTo>
                  <a:cubicBezTo>
                    <a:pt x="22592157" y="934847"/>
                    <a:pt x="22586443" y="940562"/>
                    <a:pt x="22579457" y="940562"/>
                  </a:cubicBezTo>
                  <a:lnTo>
                    <a:pt x="12700" y="940562"/>
                  </a:lnTo>
                  <a:cubicBezTo>
                    <a:pt x="5715" y="940562"/>
                    <a:pt x="0" y="934847"/>
                    <a:pt x="0" y="92786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7862"/>
                  </a:lnTo>
                  <a:lnTo>
                    <a:pt x="12700" y="927862"/>
                  </a:lnTo>
                  <a:lnTo>
                    <a:pt x="12700" y="915162"/>
                  </a:lnTo>
                  <a:lnTo>
                    <a:pt x="22579457" y="915162"/>
                  </a:lnTo>
                  <a:lnTo>
                    <a:pt x="22579457" y="927862"/>
                  </a:lnTo>
                  <a:lnTo>
                    <a:pt x="22566757" y="927862"/>
                  </a:lnTo>
                  <a:lnTo>
                    <a:pt x="22566757" y="12700"/>
                  </a:lnTo>
                  <a:lnTo>
                    <a:pt x="22579457" y="12700"/>
                  </a:lnTo>
                  <a:lnTo>
                    <a:pt x="2257945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024861" y="8660778"/>
            <a:ext cx="16289188" cy="40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i="true">
                <a:solidFill>
                  <a:srgbClr val="1B4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💡  Addressing these challenges is essential to scaling Too Good To Go's data infrastructure and maintaining trust across 150,000+ partner stores worldwide.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21745"/>
            <a:ext cx="18297725" cy="68637"/>
            <a:chOff x="0" y="0"/>
            <a:chExt cx="24396967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91567"/>
            </a:xfrm>
            <a:custGeom>
              <a:avLst/>
              <a:gdLst/>
              <a:ahLst/>
              <a:cxnLst/>
              <a:rect r="r" b="b" t="t" l="l"/>
              <a:pathLst>
                <a:path h="91567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7773" y="173460"/>
            <a:ext cx="16563727" cy="9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Physical Data Capture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773" y="1271597"/>
            <a:ext cx="16563727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B7E4C7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Real World  →  Captor  →  Digital World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910696"/>
            <a:ext cx="18297725" cy="384353"/>
            <a:chOff x="0" y="0"/>
            <a:chExt cx="24396967" cy="512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96954" cy="512445"/>
            </a:xfrm>
            <a:custGeom>
              <a:avLst/>
              <a:gdLst/>
              <a:ahLst/>
              <a:cxnLst/>
              <a:rect r="r" b="b" t="t" l="l"/>
              <a:pathLst>
                <a:path h="51244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40509" y="9971684"/>
            <a:ext cx="9425826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B7E4C7"/>
                </a:solidFill>
                <a:latin typeface="Trebuchet MS"/>
                <a:ea typeface="Trebuchet MS"/>
                <a:cs typeface="Trebuchet MS"/>
                <a:sym typeface="Trebuchet MS"/>
              </a:rPr>
              <a:t>Too Good To Go  |  Data Strategy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5616" y="9971684"/>
            <a:ext cx="8190424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B7E4C7"/>
                </a:solidFill>
                <a:latin typeface="Trebuchet MS"/>
                <a:ea typeface="Trebuchet MS"/>
                <a:cs typeface="Trebuchet MS"/>
                <a:sym typeface="Trebuchet MS"/>
              </a:rPr>
              <a:t>© Too Good To Go International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227039" y="301990"/>
            <a:ext cx="768696" cy="768696"/>
            <a:chOff x="0" y="0"/>
            <a:chExt cx="1024928" cy="1024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24928" cy="103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4353" y="2031559"/>
            <a:ext cx="5106343" cy="686333"/>
            <a:chOff x="0" y="0"/>
            <a:chExt cx="6808457" cy="9151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8470" cy="915162"/>
            </a:xfrm>
            <a:custGeom>
              <a:avLst/>
              <a:gdLst/>
              <a:ahLst/>
              <a:cxnLst/>
              <a:rect r="r" b="b" t="t" l="l"/>
              <a:pathLst>
                <a:path h="91516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808457" cy="92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REAL WORLD  (Source)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04480" y="2031559"/>
            <a:ext cx="5106343" cy="686333"/>
            <a:chOff x="0" y="0"/>
            <a:chExt cx="6808457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08470" cy="915162"/>
            </a:xfrm>
            <a:custGeom>
              <a:avLst/>
              <a:gdLst/>
              <a:ahLst/>
              <a:cxnLst/>
              <a:rect r="r" b="b" t="t" l="l"/>
              <a:pathLst>
                <a:path h="91516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808457" cy="92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CAPTOR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24608" y="2031559"/>
            <a:ext cx="5888765" cy="686333"/>
            <a:chOff x="0" y="0"/>
            <a:chExt cx="7851686" cy="9151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51648" cy="915162"/>
            </a:xfrm>
            <a:custGeom>
              <a:avLst/>
              <a:gdLst/>
              <a:ahLst/>
              <a:cxnLst/>
              <a:rect r="r" b="b" t="t" l="l"/>
              <a:pathLst>
                <a:path h="91516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1A5C9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851686" cy="92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DIGITAL WORLD  (Data)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582126" y="2205018"/>
            <a:ext cx="53091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09644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→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2263" y="2205018"/>
            <a:ext cx="53091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09644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→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05902" y="2786520"/>
            <a:ext cx="17885921" cy="1008917"/>
            <a:chOff x="0" y="0"/>
            <a:chExt cx="23847895" cy="13452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7F9F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72913" y="2802541"/>
            <a:ext cx="5129222" cy="976884"/>
            <a:chOff x="0" y="0"/>
            <a:chExt cx="6838963" cy="13025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Unsold bakery items (pastries &amp; meals at end-of-day)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503840" y="3043333"/>
            <a:ext cx="687476" cy="495310"/>
            <a:chOff x="0" y="0"/>
            <a:chExt cx="916635" cy="6604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193041" y="2802541"/>
            <a:ext cx="5129222" cy="976884"/>
            <a:chOff x="0" y="0"/>
            <a:chExt cx="6838963" cy="13025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Manual Staff Entry / Kitchen Scale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323977" y="3043333"/>
            <a:ext cx="687476" cy="495310"/>
            <a:chOff x="0" y="0"/>
            <a:chExt cx="916635" cy="66041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013168" y="2802541"/>
            <a:ext cx="5911644" cy="976884"/>
            <a:chOff x="0" y="0"/>
            <a:chExt cx="7882192" cy="13025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Inventory DB — qty, weight, SKU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05902" y="3816029"/>
            <a:ext cx="17885921" cy="1008917"/>
            <a:chOff x="0" y="0"/>
            <a:chExt cx="23847895" cy="134522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72913" y="3832041"/>
            <a:ext cx="5129222" cy="976884"/>
            <a:chOff x="0" y="0"/>
            <a:chExt cx="6838963" cy="13025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Customer arriving at storefront for pickup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503840" y="4072833"/>
            <a:ext cx="687476" cy="495310"/>
            <a:chOff x="0" y="0"/>
            <a:chExt cx="916635" cy="6604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193041" y="3832041"/>
            <a:ext cx="5129222" cy="976884"/>
            <a:chOff x="0" y="0"/>
            <a:chExt cx="6838963" cy="13025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Store Smartphone / QR Code Scanner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323977" y="4072833"/>
            <a:ext cx="687476" cy="495310"/>
            <a:chOff x="0" y="0"/>
            <a:chExt cx="916635" cy="66041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013168" y="3832041"/>
            <a:ext cx="5911644" cy="976884"/>
            <a:chOff x="0" y="0"/>
            <a:chExt cx="7882192" cy="130251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Order verification &amp; Transaction log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205902" y="4845529"/>
            <a:ext cx="17885921" cy="1008917"/>
            <a:chOff x="0" y="0"/>
            <a:chExt cx="23847895" cy="134522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7F9F7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372913" y="4861550"/>
            <a:ext cx="5129222" cy="976884"/>
            <a:chOff x="0" y="0"/>
            <a:chExt cx="6838963" cy="130251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Waste bins &amp; unsold stock at partner premises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503840" y="5102333"/>
            <a:ext cx="687476" cy="495310"/>
            <a:chOff x="0" y="0"/>
            <a:chExt cx="916635" cy="66041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193041" y="4861550"/>
            <a:ext cx="5129222" cy="976884"/>
            <a:chOff x="0" y="0"/>
            <a:chExt cx="6838963" cy="130251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Smart Scales / IoT Weight Sensors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323977" y="5102333"/>
            <a:ext cx="687476" cy="495310"/>
            <a:chOff x="0" y="0"/>
            <a:chExt cx="916635" cy="66041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013168" y="4861550"/>
            <a:ext cx="5911644" cy="976884"/>
            <a:chOff x="0" y="0"/>
            <a:chExt cx="7882192" cy="130251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Waste reduction metrics dashboard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205902" y="5875039"/>
            <a:ext cx="17885921" cy="1008917"/>
            <a:chOff x="0" y="0"/>
            <a:chExt cx="23847895" cy="134522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372913" y="5891051"/>
            <a:ext cx="5129222" cy="976884"/>
            <a:chOff x="0" y="0"/>
            <a:chExt cx="6838963" cy="130251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Refrigeration &amp; cold-chain units in-store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503840" y="6131843"/>
            <a:ext cx="687476" cy="495310"/>
            <a:chOff x="0" y="0"/>
            <a:chExt cx="916635" cy="66041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6193041" y="5891051"/>
            <a:ext cx="5129222" cy="976884"/>
            <a:chOff x="0" y="0"/>
            <a:chExt cx="6838963" cy="130251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IoT Temperature Sensor / MQTT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323977" y="6131843"/>
            <a:ext cx="687476" cy="495310"/>
            <a:chOff x="0" y="0"/>
            <a:chExt cx="916635" cy="660413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31" id="131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013168" y="5891051"/>
            <a:ext cx="5911644" cy="976884"/>
            <a:chOff x="0" y="0"/>
            <a:chExt cx="7882192" cy="130251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Cold-chain compliance &amp; alert log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205902" y="6904539"/>
            <a:ext cx="17885921" cy="1008917"/>
            <a:chOff x="0" y="0"/>
            <a:chExt cx="23847895" cy="134522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7F9F7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372913" y="6920560"/>
            <a:ext cx="5129222" cy="976884"/>
            <a:chOff x="0" y="0"/>
            <a:chExt cx="6838963" cy="130251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Foot-traffic flow at store entrance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5503840" y="7161343"/>
            <a:ext cx="687476" cy="495310"/>
            <a:chOff x="0" y="0"/>
            <a:chExt cx="916635" cy="660413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47" id="147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6193041" y="6920560"/>
            <a:ext cx="5129222" cy="976884"/>
            <a:chOff x="0" y="0"/>
            <a:chExt cx="6838963" cy="130251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Footfall Counter / Computer Vision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1323977" y="7161343"/>
            <a:ext cx="687476" cy="495310"/>
            <a:chOff x="0" y="0"/>
            <a:chExt cx="916635" cy="660413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58" id="158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2013168" y="6920560"/>
            <a:ext cx="5911644" cy="976884"/>
            <a:chOff x="0" y="0"/>
            <a:chExt cx="7882192" cy="1302512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Peak-hour demand &amp; capacity data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205902" y="7934049"/>
            <a:ext cx="17885921" cy="1008917"/>
            <a:chOff x="0" y="0"/>
            <a:chExt cx="23847895" cy="134522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372913" y="7950060"/>
            <a:ext cx="5129222" cy="976884"/>
            <a:chOff x="0" y="0"/>
            <a:chExt cx="6838963" cy="1302512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Physical storefront / business location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5503840" y="8190852"/>
            <a:ext cx="687476" cy="495310"/>
            <a:chOff x="0" y="0"/>
            <a:chExt cx="916635" cy="660413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74" id="174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76" id="176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6193041" y="7950060"/>
            <a:ext cx="5129222" cy="976884"/>
            <a:chOff x="0" y="0"/>
            <a:chExt cx="6838963" cy="130251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GPS Module / IoT Geofence Beacon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1323977" y="8190852"/>
            <a:ext cx="687476" cy="495310"/>
            <a:chOff x="0" y="0"/>
            <a:chExt cx="916635" cy="660413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85" id="185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86" id="186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2013168" y="7950060"/>
            <a:ext cx="5911644" cy="976884"/>
            <a:chOff x="0" y="0"/>
            <a:chExt cx="7882192" cy="1302512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Store geo-coordinates &amp; live Open status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384353" y="2031559"/>
            <a:ext cx="5106343" cy="75495"/>
            <a:chOff x="0" y="0"/>
            <a:chExt cx="6808457" cy="10066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6808470" cy="100711"/>
            </a:xfrm>
            <a:custGeom>
              <a:avLst/>
              <a:gdLst/>
              <a:ahLst/>
              <a:cxnLst/>
              <a:rect r="r" b="b" t="t" l="l"/>
              <a:pathLst>
                <a:path h="100711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196" id="196"/>
          <p:cNvGrpSpPr/>
          <p:nvPr/>
        </p:nvGrpSpPr>
        <p:grpSpPr>
          <a:xfrm rot="0">
            <a:off x="6204480" y="2031559"/>
            <a:ext cx="5106343" cy="75495"/>
            <a:chOff x="0" y="0"/>
            <a:chExt cx="6808457" cy="10066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6808470" cy="100711"/>
            </a:xfrm>
            <a:custGeom>
              <a:avLst/>
              <a:gdLst/>
              <a:ahLst/>
              <a:cxnLst/>
              <a:rect r="r" b="b" t="t" l="l"/>
              <a:pathLst>
                <a:path h="100711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12024608" y="2031559"/>
            <a:ext cx="5888765" cy="75495"/>
            <a:chOff x="0" y="0"/>
            <a:chExt cx="7851686" cy="100660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7851648" cy="100711"/>
            </a:xfrm>
            <a:custGeom>
              <a:avLst/>
              <a:gdLst/>
              <a:ahLst/>
              <a:cxnLst/>
              <a:rect r="r" b="b" t="t" l="l"/>
              <a:pathLst>
                <a:path h="100711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921745"/>
            <a:chOff x="0" y="0"/>
            <a:chExt cx="24396967" cy="25623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21745"/>
            <a:ext cx="18297725" cy="68637"/>
            <a:chOff x="0" y="0"/>
            <a:chExt cx="24396967" cy="91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91567"/>
            </a:xfrm>
            <a:custGeom>
              <a:avLst/>
              <a:gdLst/>
              <a:ahLst/>
              <a:cxnLst/>
              <a:rect r="r" b="b" t="t" l="l"/>
              <a:pathLst>
                <a:path h="91567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7773" y="173460"/>
            <a:ext cx="16563727" cy="9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Numerical Data Capture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773" y="1271597"/>
            <a:ext cx="16563727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B7E4C7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Source (Web / App)  →  Captors  →  Digital World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910696"/>
            <a:ext cx="18297725" cy="384353"/>
            <a:chOff x="0" y="0"/>
            <a:chExt cx="24396967" cy="512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96954" cy="512445"/>
            </a:xfrm>
            <a:custGeom>
              <a:avLst/>
              <a:gdLst/>
              <a:ahLst/>
              <a:cxnLst/>
              <a:rect r="r" b="b" t="t" l="l"/>
              <a:pathLst>
                <a:path h="51244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40509" y="9971684"/>
            <a:ext cx="9425826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B7E4C7"/>
                </a:solidFill>
                <a:latin typeface="Trebuchet MS"/>
                <a:ea typeface="Trebuchet MS"/>
                <a:cs typeface="Trebuchet MS"/>
                <a:sym typeface="Trebuchet MS"/>
              </a:rPr>
              <a:t>Too Good To Go  |  Data Strategy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5616" y="9971684"/>
            <a:ext cx="8190424" cy="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B7E4C7"/>
                </a:solidFill>
                <a:latin typeface="Trebuchet MS"/>
                <a:ea typeface="Trebuchet MS"/>
                <a:cs typeface="Trebuchet MS"/>
                <a:sym typeface="Trebuchet MS"/>
              </a:rPr>
              <a:t>© Too Good To Go International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227039" y="301990"/>
            <a:ext cx="768696" cy="768696"/>
            <a:chOff x="0" y="0"/>
            <a:chExt cx="1024928" cy="1024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24928" cy="1034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4353" y="2031559"/>
            <a:ext cx="5106343" cy="686333"/>
            <a:chOff x="0" y="0"/>
            <a:chExt cx="6808457" cy="9151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8470" cy="915162"/>
            </a:xfrm>
            <a:custGeom>
              <a:avLst/>
              <a:gdLst/>
              <a:ahLst/>
              <a:cxnLst/>
              <a:rect r="r" b="b" t="t" l="l"/>
              <a:pathLst>
                <a:path h="91516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808457" cy="92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SOURCE  (App / Web)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04480" y="2031559"/>
            <a:ext cx="5106343" cy="686333"/>
            <a:chOff x="0" y="0"/>
            <a:chExt cx="6808457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08470" cy="915162"/>
            </a:xfrm>
            <a:custGeom>
              <a:avLst/>
              <a:gdLst/>
              <a:ahLst/>
              <a:cxnLst/>
              <a:rect r="r" b="b" t="t" l="l"/>
              <a:pathLst>
                <a:path h="91516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808457" cy="92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CAPTOR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24608" y="2031559"/>
            <a:ext cx="5888765" cy="686333"/>
            <a:chOff x="0" y="0"/>
            <a:chExt cx="7851686" cy="9151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51648" cy="915162"/>
            </a:xfrm>
            <a:custGeom>
              <a:avLst/>
              <a:gdLst/>
              <a:ahLst/>
              <a:cxnLst/>
              <a:rect r="r" b="b" t="t" l="l"/>
              <a:pathLst>
                <a:path h="91516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1A5C9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851686" cy="924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DIGITAL WORLD  (Data)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582126" y="2205018"/>
            <a:ext cx="53091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09644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→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2263" y="2205018"/>
            <a:ext cx="53091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09644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→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05902" y="2786520"/>
            <a:ext cx="17885921" cy="1008917"/>
            <a:chOff x="0" y="0"/>
            <a:chExt cx="23847895" cy="13452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7F9F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72913" y="2802541"/>
            <a:ext cx="5129222" cy="976884"/>
            <a:chOff x="0" y="0"/>
            <a:chExt cx="6838963" cy="13025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User browsing App map for nearby deals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503840" y="3043333"/>
            <a:ext cx="687476" cy="495310"/>
            <a:chOff x="0" y="0"/>
            <a:chExt cx="916635" cy="6604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193041" y="2802541"/>
            <a:ext cx="5129222" cy="976884"/>
            <a:chOff x="0" y="0"/>
            <a:chExt cx="6838963" cy="13025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JS Event Tracker / Mixpanel Analytics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323977" y="3043333"/>
            <a:ext cx="687476" cy="495310"/>
            <a:chOff x="0" y="0"/>
            <a:chExt cx="916635" cy="66041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013168" y="2802541"/>
            <a:ext cx="5911644" cy="976884"/>
            <a:chOff x="0" y="0"/>
            <a:chExt cx="7882192" cy="13025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Geographic demand heatmaps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05902" y="3816029"/>
            <a:ext cx="17885921" cy="1008917"/>
            <a:chOff x="0" y="0"/>
            <a:chExt cx="23847895" cy="134522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72913" y="3832041"/>
            <a:ext cx="5129222" cy="976884"/>
            <a:chOff x="0" y="0"/>
            <a:chExt cx="6838963" cy="13025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Partner sign-up &amp; registration page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503840" y="4072833"/>
            <a:ext cx="687476" cy="495310"/>
            <a:chOff x="0" y="0"/>
            <a:chExt cx="916635" cy="66041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193041" y="3832041"/>
            <a:ext cx="5129222" cy="976884"/>
            <a:chOff x="0" y="0"/>
            <a:chExt cx="6838963" cy="13025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Web Form — structured input + validation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323977" y="4072833"/>
            <a:ext cx="687476" cy="495310"/>
            <a:chOff x="0" y="0"/>
            <a:chExt cx="916635" cy="66041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013168" y="3832041"/>
            <a:ext cx="5911644" cy="976884"/>
            <a:chOff x="0" y="0"/>
            <a:chExt cx="7882192" cy="130251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CRM / Partner onboarding profile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205902" y="4845529"/>
            <a:ext cx="17885921" cy="1008917"/>
            <a:chOff x="0" y="0"/>
            <a:chExt cx="23847895" cy="134522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7F9F7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372913" y="4861550"/>
            <a:ext cx="5129222" cy="976884"/>
            <a:chOff x="0" y="0"/>
            <a:chExt cx="6838963" cy="130251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In-app payment for a Surprise Bag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503840" y="5102333"/>
            <a:ext cx="687476" cy="495310"/>
            <a:chOff x="0" y="0"/>
            <a:chExt cx="916635" cy="66041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193041" y="4861550"/>
            <a:ext cx="5129222" cy="976884"/>
            <a:chOff x="0" y="0"/>
            <a:chExt cx="6838963" cy="130251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API / Payment Gateway (e.g. Stripe)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323977" y="5102333"/>
            <a:ext cx="687476" cy="495310"/>
            <a:chOff x="0" y="0"/>
            <a:chExt cx="916635" cy="66041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013168" y="4861550"/>
            <a:ext cx="5911644" cy="976884"/>
            <a:chOff x="0" y="0"/>
            <a:chExt cx="7882192" cy="130251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Revenue &amp; CO₂ savings metrics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205902" y="5875039"/>
            <a:ext cx="17885921" cy="1008917"/>
            <a:chOff x="0" y="0"/>
            <a:chExt cx="23847895" cy="134522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372913" y="5891051"/>
            <a:ext cx="5129222" cy="976884"/>
            <a:chOff x="0" y="0"/>
            <a:chExt cx="6838963" cy="130251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User submitting post-pickup rating/review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503840" y="6131843"/>
            <a:ext cx="687476" cy="495310"/>
            <a:chOff x="0" y="0"/>
            <a:chExt cx="916635" cy="66041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6193041" y="5891051"/>
            <a:ext cx="5129222" cy="976884"/>
            <a:chOff x="0" y="0"/>
            <a:chExt cx="6838963" cy="130251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In-App Review Widget / NLP Pipeline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323977" y="6131843"/>
            <a:ext cx="687476" cy="495310"/>
            <a:chOff x="0" y="0"/>
            <a:chExt cx="916635" cy="660413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31" id="131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013168" y="5891051"/>
            <a:ext cx="5911644" cy="976884"/>
            <a:chOff x="0" y="0"/>
            <a:chExt cx="7882192" cy="130251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Partner quality score &amp; sentiment index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205902" y="6904539"/>
            <a:ext cx="17885921" cy="1008917"/>
            <a:chOff x="0" y="0"/>
            <a:chExt cx="23847895" cy="134522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7F9F7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372913" y="6920560"/>
            <a:ext cx="5129222" cy="976884"/>
            <a:chOff x="0" y="0"/>
            <a:chExt cx="6838963" cy="130251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Push notification open / tap event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5503840" y="7161343"/>
            <a:ext cx="687476" cy="495310"/>
            <a:chOff x="0" y="0"/>
            <a:chExt cx="916635" cy="660413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47" id="147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6193041" y="6920560"/>
            <a:ext cx="5129222" cy="976884"/>
            <a:chOff x="0" y="0"/>
            <a:chExt cx="6838963" cy="130251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Firebase Cloud Messaging / SDK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1323977" y="7161343"/>
            <a:ext cx="687476" cy="495310"/>
            <a:chOff x="0" y="0"/>
            <a:chExt cx="916635" cy="660413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58" id="158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2013168" y="6920560"/>
            <a:ext cx="5911644" cy="976884"/>
            <a:chOff x="0" y="0"/>
            <a:chExt cx="7882192" cy="1302512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Notification engagement &amp; CTR metrics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205902" y="7934049"/>
            <a:ext cx="17885921" cy="1008917"/>
            <a:chOff x="0" y="0"/>
            <a:chExt cx="23847895" cy="134522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3847933" cy="1345184"/>
            </a:xfrm>
            <a:custGeom>
              <a:avLst/>
              <a:gdLst/>
              <a:ahLst/>
              <a:cxnLst/>
              <a:rect r="r" b="b" t="t" l="l"/>
              <a:pathLst>
                <a:path h="1345184" w="23847933">
                  <a:moveTo>
                    <a:pt x="0" y="0"/>
                  </a:moveTo>
                  <a:lnTo>
                    <a:pt x="23847933" y="0"/>
                  </a:lnTo>
                  <a:lnTo>
                    <a:pt x="23847933" y="1345184"/>
                  </a:lnTo>
                  <a:lnTo>
                    <a:pt x="0" y="1345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372913" y="7950060"/>
            <a:ext cx="5129222" cy="976884"/>
            <a:chOff x="0" y="0"/>
            <a:chExt cx="6838963" cy="1302512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E2F5EC"/>
            </a:solidFill>
          </p:spPr>
        </p:sp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User search query inside the app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5503840" y="8190852"/>
            <a:ext cx="687476" cy="495310"/>
            <a:chOff x="0" y="0"/>
            <a:chExt cx="916635" cy="660413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74" id="174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76" id="176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6193041" y="7950060"/>
            <a:ext cx="5129222" cy="976884"/>
            <a:chOff x="0" y="0"/>
            <a:chExt cx="6838963" cy="130251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5240" y="15240"/>
              <a:ext cx="6808470" cy="1272032"/>
            </a:xfrm>
            <a:custGeom>
              <a:avLst/>
              <a:gdLst/>
              <a:ahLst/>
              <a:cxnLst/>
              <a:rect r="r" b="b" t="t" l="l"/>
              <a:pathLst>
                <a:path h="1272032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FFF4E6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6838950" cy="1302512"/>
            </a:xfrm>
            <a:custGeom>
              <a:avLst/>
              <a:gdLst/>
              <a:ahLst/>
              <a:cxnLst/>
              <a:rect r="r" b="b" t="t" l="l"/>
              <a:pathLst>
                <a:path h="1302512" w="6838950">
                  <a:moveTo>
                    <a:pt x="15240" y="0"/>
                  </a:moveTo>
                  <a:lnTo>
                    <a:pt x="6823710" y="0"/>
                  </a:lnTo>
                  <a:cubicBezTo>
                    <a:pt x="6832092" y="0"/>
                    <a:pt x="6838950" y="6858"/>
                    <a:pt x="6838950" y="15240"/>
                  </a:cubicBezTo>
                  <a:lnTo>
                    <a:pt x="6838950" y="1287272"/>
                  </a:lnTo>
                  <a:cubicBezTo>
                    <a:pt x="6838950" y="1295654"/>
                    <a:pt x="6832092" y="1302512"/>
                    <a:pt x="6823710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6823710" y="1272032"/>
                  </a:lnTo>
                  <a:lnTo>
                    <a:pt x="6823710" y="1287272"/>
                  </a:lnTo>
                  <a:lnTo>
                    <a:pt x="6808470" y="1287272"/>
                  </a:lnTo>
                  <a:lnTo>
                    <a:pt x="6808470" y="15240"/>
                  </a:lnTo>
                  <a:lnTo>
                    <a:pt x="6823710" y="15240"/>
                  </a:lnTo>
                  <a:lnTo>
                    <a:pt x="6823710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9525"/>
              <a:ext cx="6838963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Search API / Autocomplete Tracker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1323977" y="8190852"/>
            <a:ext cx="687476" cy="495310"/>
            <a:chOff x="0" y="0"/>
            <a:chExt cx="916635" cy="660413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19050" y="96901"/>
              <a:ext cx="878586" cy="544322"/>
            </a:xfrm>
            <a:custGeom>
              <a:avLst/>
              <a:gdLst/>
              <a:ahLst/>
              <a:cxnLst/>
              <a:rect r="r" b="b" t="t" l="l"/>
              <a:pathLst>
                <a:path h="544322" w="878586">
                  <a:moveTo>
                    <a:pt x="0" y="0"/>
                  </a:moveTo>
                  <a:cubicBezTo>
                    <a:pt x="0" y="42926"/>
                    <a:pt x="196723" y="77724"/>
                    <a:pt x="439293" y="77724"/>
                  </a:cubicBezTo>
                  <a:cubicBezTo>
                    <a:pt x="681863" y="77724"/>
                    <a:pt x="878586" y="42926"/>
                    <a:pt x="878586" y="0"/>
                  </a:cubicBezTo>
                  <a:lnTo>
                    <a:pt x="878586" y="466598"/>
                  </a:lnTo>
                  <a:cubicBezTo>
                    <a:pt x="878586" y="509524"/>
                    <a:pt x="681863" y="544322"/>
                    <a:pt x="439293" y="544322"/>
                  </a:cubicBezTo>
                  <a:cubicBezTo>
                    <a:pt x="196723" y="544322"/>
                    <a:pt x="0" y="509651"/>
                    <a:pt x="0" y="466598"/>
                  </a:cubicBezTo>
                  <a:close/>
                </a:path>
              </a:pathLst>
            </a:custGeom>
            <a:solidFill>
              <a:srgbClr val="F09644"/>
            </a:solidFill>
          </p:spPr>
        </p:sp>
        <p:sp>
          <p:nvSpPr>
            <p:cNvPr name="Freeform 185" id="185"/>
            <p:cNvSpPr/>
            <p:nvPr/>
          </p:nvSpPr>
          <p:spPr>
            <a:xfrm flipH="false" flipV="false" rot="0">
              <a:off x="19050" y="19050"/>
              <a:ext cx="878586" cy="155575"/>
            </a:xfrm>
            <a:custGeom>
              <a:avLst/>
              <a:gdLst/>
              <a:ahLst/>
              <a:cxnLst/>
              <a:rect r="r" b="b" t="t" l="l"/>
              <a:pathLst>
                <a:path h="155575" w="878586">
                  <a:moveTo>
                    <a:pt x="0" y="77851"/>
                  </a:moveTo>
                  <a:cubicBezTo>
                    <a:pt x="0" y="34798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cubicBezTo>
                    <a:pt x="878586" y="120904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lose/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86" id="186"/>
            <p:cNvSpPr/>
            <p:nvPr/>
          </p:nvSpPr>
          <p:spPr>
            <a:xfrm flipH="false" flipV="false" rot="0">
              <a:off x="19050" y="19050"/>
              <a:ext cx="878586" cy="622173"/>
            </a:xfrm>
            <a:custGeom>
              <a:avLst/>
              <a:gdLst/>
              <a:ahLst/>
              <a:cxnLst/>
              <a:rect r="r" b="b" t="t" l="l"/>
              <a:pathLst>
                <a:path h="622173" w="878586">
                  <a:moveTo>
                    <a:pt x="878586" y="77851"/>
                  </a:moveTo>
                  <a:cubicBezTo>
                    <a:pt x="878586" y="120777"/>
                    <a:pt x="681863" y="155575"/>
                    <a:pt x="439293" y="155575"/>
                  </a:cubicBezTo>
                  <a:cubicBezTo>
                    <a:pt x="196723" y="155575"/>
                    <a:pt x="0" y="120777"/>
                    <a:pt x="0" y="77851"/>
                  </a:cubicBezTo>
                  <a:cubicBezTo>
                    <a:pt x="0" y="34925"/>
                    <a:pt x="196723" y="0"/>
                    <a:pt x="439293" y="0"/>
                  </a:cubicBezTo>
                  <a:cubicBezTo>
                    <a:pt x="681863" y="0"/>
                    <a:pt x="878586" y="34798"/>
                    <a:pt x="878586" y="77851"/>
                  </a:cubicBezTo>
                  <a:lnTo>
                    <a:pt x="878586" y="544449"/>
                  </a:lnTo>
                  <a:cubicBezTo>
                    <a:pt x="878586" y="587375"/>
                    <a:pt x="681863" y="622173"/>
                    <a:pt x="439293" y="622173"/>
                  </a:cubicBezTo>
                  <a:cubicBezTo>
                    <a:pt x="196723" y="622173"/>
                    <a:pt x="0" y="587502"/>
                    <a:pt x="0" y="544449"/>
                  </a:cubicBezTo>
                  <a:lnTo>
                    <a:pt x="0" y="77851"/>
                  </a:lnTo>
                </a:path>
              </a:pathLst>
            </a:custGeom>
            <a:solidFill>
              <a:srgbClr val="F6C08E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77851"/>
              <a:ext cx="916686" cy="582549"/>
            </a:xfrm>
            <a:custGeom>
              <a:avLst/>
              <a:gdLst/>
              <a:ahLst/>
              <a:cxnLst/>
              <a:rect r="r" b="b" t="t" l="l"/>
              <a:pathLst>
                <a:path h="582549" w="916686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cubicBezTo>
                    <a:pt x="38100" y="18161"/>
                    <a:pt x="37846" y="17526"/>
                    <a:pt x="37846" y="17526"/>
                  </a:cubicBezTo>
                  <a:cubicBezTo>
                    <a:pt x="50927" y="43815"/>
                    <a:pt x="220980" y="77851"/>
                    <a:pt x="458343" y="77851"/>
                  </a:cubicBezTo>
                  <a:lnTo>
                    <a:pt x="458343" y="96901"/>
                  </a:lnTo>
                  <a:lnTo>
                    <a:pt x="458343" y="77851"/>
                  </a:lnTo>
                  <a:cubicBezTo>
                    <a:pt x="695706" y="77851"/>
                    <a:pt x="865759" y="43815"/>
                    <a:pt x="878840" y="17526"/>
                  </a:cubicBezTo>
                  <a:cubicBezTo>
                    <a:pt x="878840" y="17526"/>
                    <a:pt x="878586" y="18161"/>
                    <a:pt x="878586" y="19050"/>
                  </a:cubicBezTo>
                  <a:lnTo>
                    <a:pt x="897636" y="19050"/>
                  </a:lnTo>
                  <a:lnTo>
                    <a:pt x="916686" y="19050"/>
                  </a:lnTo>
                  <a:lnTo>
                    <a:pt x="916686" y="485648"/>
                  </a:lnTo>
                  <a:lnTo>
                    <a:pt x="897636" y="485648"/>
                  </a:lnTo>
                  <a:lnTo>
                    <a:pt x="916686" y="485648"/>
                  </a:lnTo>
                  <a:cubicBezTo>
                    <a:pt x="916686" y="491236"/>
                    <a:pt x="915289" y="496443"/>
                    <a:pt x="913003" y="501015"/>
                  </a:cubicBezTo>
                  <a:cubicBezTo>
                    <a:pt x="886460" y="554228"/>
                    <a:pt x="679831" y="582549"/>
                    <a:pt x="458343" y="582549"/>
                  </a:cubicBezTo>
                  <a:lnTo>
                    <a:pt x="458343" y="563499"/>
                  </a:lnTo>
                  <a:lnTo>
                    <a:pt x="458343" y="582549"/>
                  </a:lnTo>
                  <a:cubicBezTo>
                    <a:pt x="236728" y="582549"/>
                    <a:pt x="30099" y="554228"/>
                    <a:pt x="3683" y="501142"/>
                  </a:cubicBezTo>
                  <a:cubicBezTo>
                    <a:pt x="1397" y="496443"/>
                    <a:pt x="0" y="491363"/>
                    <a:pt x="0" y="485648"/>
                  </a:cubicBezTo>
                  <a:lnTo>
                    <a:pt x="0" y="19050"/>
                  </a:lnTo>
                  <a:lnTo>
                    <a:pt x="19050" y="19050"/>
                  </a:lnTo>
                  <a:lnTo>
                    <a:pt x="0" y="19050"/>
                  </a:lnTo>
                  <a:moveTo>
                    <a:pt x="38100" y="19050"/>
                  </a:moveTo>
                  <a:lnTo>
                    <a:pt x="38100" y="485648"/>
                  </a:lnTo>
                  <a:lnTo>
                    <a:pt x="19050" y="485648"/>
                  </a:lnTo>
                  <a:lnTo>
                    <a:pt x="38100" y="485648"/>
                  </a:lnTo>
                  <a:cubicBezTo>
                    <a:pt x="38100" y="484759"/>
                    <a:pt x="37846" y="484124"/>
                    <a:pt x="37846" y="484124"/>
                  </a:cubicBezTo>
                  <a:cubicBezTo>
                    <a:pt x="50927" y="510413"/>
                    <a:pt x="220980" y="544449"/>
                    <a:pt x="458343" y="544449"/>
                  </a:cubicBezTo>
                  <a:cubicBezTo>
                    <a:pt x="695706" y="544449"/>
                    <a:pt x="865759" y="510413"/>
                    <a:pt x="878840" y="484124"/>
                  </a:cubicBezTo>
                  <a:cubicBezTo>
                    <a:pt x="878840" y="484124"/>
                    <a:pt x="878586" y="484759"/>
                    <a:pt x="878586" y="485648"/>
                  </a:cubicBezTo>
                  <a:lnTo>
                    <a:pt x="878586" y="19050"/>
                  </a:lnTo>
                  <a:cubicBezTo>
                    <a:pt x="878586" y="8509"/>
                    <a:pt x="887095" y="0"/>
                    <a:pt x="897636" y="0"/>
                  </a:cubicBezTo>
                  <a:cubicBezTo>
                    <a:pt x="908177" y="0"/>
                    <a:pt x="916686" y="8509"/>
                    <a:pt x="916686" y="19050"/>
                  </a:cubicBezTo>
                  <a:cubicBezTo>
                    <a:pt x="916686" y="24638"/>
                    <a:pt x="915289" y="29845"/>
                    <a:pt x="913003" y="34417"/>
                  </a:cubicBezTo>
                  <a:cubicBezTo>
                    <a:pt x="886587" y="87630"/>
                    <a:pt x="679958" y="115824"/>
                    <a:pt x="458343" y="115824"/>
                  </a:cubicBezTo>
                  <a:cubicBezTo>
                    <a:pt x="236728" y="115824"/>
                    <a:pt x="30099" y="87503"/>
                    <a:pt x="3683" y="34417"/>
                  </a:cubicBezTo>
                  <a:cubicBezTo>
                    <a:pt x="1397" y="29845"/>
                    <a:pt x="0" y="24638"/>
                    <a:pt x="0" y="19050"/>
                  </a:cubicBezTo>
                  <a:lnTo>
                    <a:pt x="19050" y="19050"/>
                  </a:lnTo>
                  <a:lnTo>
                    <a:pt x="38100" y="19050"/>
                  </a:ln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916559" cy="193548"/>
            </a:xfrm>
            <a:custGeom>
              <a:avLst/>
              <a:gdLst/>
              <a:ahLst/>
              <a:cxnLst/>
              <a:rect r="r" b="b" t="t" l="l"/>
              <a:pathLst>
                <a:path h="193548" w="916559">
                  <a:moveTo>
                    <a:pt x="0" y="96901"/>
                  </a:move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cubicBezTo>
                    <a:pt x="916559" y="102362"/>
                    <a:pt x="915162" y="107569"/>
                    <a:pt x="912876" y="112141"/>
                  </a:cubicBezTo>
                  <a:cubicBezTo>
                    <a:pt x="886460" y="165354"/>
                    <a:pt x="679831" y="193548"/>
                    <a:pt x="458216" y="193548"/>
                  </a:cubicBezTo>
                  <a:lnTo>
                    <a:pt x="458216" y="174498"/>
                  </a:lnTo>
                  <a:lnTo>
                    <a:pt x="458216" y="193548"/>
                  </a:lnTo>
                  <a:cubicBezTo>
                    <a:pt x="236728" y="193548"/>
                    <a:pt x="29972" y="165227"/>
                    <a:pt x="3556" y="112141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38100" y="96901"/>
                  </a:lnTo>
                  <a:lnTo>
                    <a:pt x="19050" y="96901"/>
                  </a:lnTo>
                  <a:lnTo>
                    <a:pt x="0" y="96901"/>
                  </a:lnTo>
                  <a:moveTo>
                    <a:pt x="38100" y="96901"/>
                  </a:moveTo>
                  <a:cubicBezTo>
                    <a:pt x="38100" y="107442"/>
                    <a:pt x="29591" y="115951"/>
                    <a:pt x="19050" y="115951"/>
                  </a:cubicBezTo>
                  <a:cubicBezTo>
                    <a:pt x="8509" y="115951"/>
                    <a:pt x="0" y="107442"/>
                    <a:pt x="0" y="96901"/>
                  </a:cubicBezTo>
                  <a:cubicBezTo>
                    <a:pt x="0" y="86360"/>
                    <a:pt x="8509" y="77851"/>
                    <a:pt x="19050" y="77851"/>
                  </a:cubicBezTo>
                  <a:cubicBezTo>
                    <a:pt x="29591" y="77851"/>
                    <a:pt x="38100" y="86360"/>
                    <a:pt x="38100" y="96901"/>
                  </a:cubicBez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ubicBezTo>
                    <a:pt x="878586" y="97663"/>
                    <a:pt x="878840" y="98298"/>
                    <a:pt x="878840" y="98298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916686" cy="660400"/>
            </a:xfrm>
            <a:custGeom>
              <a:avLst/>
              <a:gdLst/>
              <a:ahLst/>
              <a:cxnLst/>
              <a:rect r="r" b="b" t="t" l="l"/>
              <a:pathLst>
                <a:path h="660400" w="916686">
                  <a:moveTo>
                    <a:pt x="916686" y="96901"/>
                  </a:moveTo>
                  <a:cubicBezTo>
                    <a:pt x="916686" y="102489"/>
                    <a:pt x="915289" y="107696"/>
                    <a:pt x="913003" y="112268"/>
                  </a:cubicBezTo>
                  <a:cubicBezTo>
                    <a:pt x="886587" y="165481"/>
                    <a:pt x="679958" y="193675"/>
                    <a:pt x="458343" y="193675"/>
                  </a:cubicBezTo>
                  <a:lnTo>
                    <a:pt x="458343" y="174625"/>
                  </a:lnTo>
                  <a:lnTo>
                    <a:pt x="458343" y="193675"/>
                  </a:lnTo>
                  <a:cubicBezTo>
                    <a:pt x="236855" y="193675"/>
                    <a:pt x="30099" y="165354"/>
                    <a:pt x="3683" y="112268"/>
                  </a:cubicBezTo>
                  <a:cubicBezTo>
                    <a:pt x="1397" y="107696"/>
                    <a:pt x="0" y="102489"/>
                    <a:pt x="0" y="96901"/>
                  </a:cubicBezTo>
                  <a:lnTo>
                    <a:pt x="19050" y="96901"/>
                  </a:lnTo>
                  <a:lnTo>
                    <a:pt x="0" y="96901"/>
                  </a:lnTo>
                  <a:cubicBezTo>
                    <a:pt x="0" y="91313"/>
                    <a:pt x="1397" y="86106"/>
                    <a:pt x="3683" y="81534"/>
                  </a:cubicBezTo>
                  <a:cubicBezTo>
                    <a:pt x="30099" y="28321"/>
                    <a:pt x="236728" y="0"/>
                    <a:pt x="458343" y="0"/>
                  </a:cubicBezTo>
                  <a:cubicBezTo>
                    <a:pt x="679958" y="0"/>
                    <a:pt x="886460" y="28321"/>
                    <a:pt x="912876" y="81407"/>
                  </a:cubicBezTo>
                  <a:cubicBezTo>
                    <a:pt x="915162" y="85979"/>
                    <a:pt x="916559" y="91186"/>
                    <a:pt x="916559" y="96774"/>
                  </a:cubicBezTo>
                  <a:lnTo>
                    <a:pt x="897509" y="96774"/>
                  </a:lnTo>
                  <a:lnTo>
                    <a:pt x="916559" y="96774"/>
                  </a:lnTo>
                  <a:lnTo>
                    <a:pt x="916559" y="563499"/>
                  </a:lnTo>
                  <a:lnTo>
                    <a:pt x="897509" y="563499"/>
                  </a:lnTo>
                  <a:lnTo>
                    <a:pt x="916559" y="563499"/>
                  </a:lnTo>
                  <a:cubicBezTo>
                    <a:pt x="916559" y="569087"/>
                    <a:pt x="915162" y="574294"/>
                    <a:pt x="912876" y="578866"/>
                  </a:cubicBezTo>
                  <a:cubicBezTo>
                    <a:pt x="886460" y="632079"/>
                    <a:pt x="679831" y="660400"/>
                    <a:pt x="458343" y="660400"/>
                  </a:cubicBezTo>
                  <a:lnTo>
                    <a:pt x="458343" y="641350"/>
                  </a:lnTo>
                  <a:lnTo>
                    <a:pt x="458343" y="660400"/>
                  </a:lnTo>
                  <a:cubicBezTo>
                    <a:pt x="236728" y="660400"/>
                    <a:pt x="30099" y="632079"/>
                    <a:pt x="3683" y="578993"/>
                  </a:cubicBezTo>
                  <a:cubicBezTo>
                    <a:pt x="1397" y="574294"/>
                    <a:pt x="0" y="569214"/>
                    <a:pt x="0" y="563499"/>
                  </a:cubicBezTo>
                  <a:lnTo>
                    <a:pt x="0" y="96901"/>
                  </a:lnTo>
                  <a:lnTo>
                    <a:pt x="38100" y="96901"/>
                  </a:lnTo>
                  <a:lnTo>
                    <a:pt x="38100" y="563499"/>
                  </a:lnTo>
                  <a:lnTo>
                    <a:pt x="19050" y="563499"/>
                  </a:lnTo>
                  <a:lnTo>
                    <a:pt x="38100" y="563499"/>
                  </a:lnTo>
                  <a:cubicBezTo>
                    <a:pt x="38100" y="562610"/>
                    <a:pt x="37846" y="561975"/>
                    <a:pt x="37846" y="561975"/>
                  </a:cubicBezTo>
                  <a:cubicBezTo>
                    <a:pt x="50927" y="588264"/>
                    <a:pt x="220980" y="622300"/>
                    <a:pt x="458343" y="622300"/>
                  </a:cubicBezTo>
                  <a:cubicBezTo>
                    <a:pt x="695706" y="622300"/>
                    <a:pt x="865759" y="588264"/>
                    <a:pt x="878840" y="561975"/>
                  </a:cubicBezTo>
                  <a:cubicBezTo>
                    <a:pt x="878840" y="561975"/>
                    <a:pt x="878586" y="562610"/>
                    <a:pt x="878586" y="563499"/>
                  </a:cubicBezTo>
                  <a:lnTo>
                    <a:pt x="878586" y="96901"/>
                  </a:lnTo>
                  <a:cubicBezTo>
                    <a:pt x="878586" y="97790"/>
                    <a:pt x="878840" y="98425"/>
                    <a:pt x="878840" y="98425"/>
                  </a:cubicBezTo>
                  <a:cubicBezTo>
                    <a:pt x="865759" y="72136"/>
                    <a:pt x="695706" y="38100"/>
                    <a:pt x="458343" y="38100"/>
                  </a:cubicBezTo>
                  <a:lnTo>
                    <a:pt x="458343" y="19050"/>
                  </a:lnTo>
                  <a:lnTo>
                    <a:pt x="458343" y="38100"/>
                  </a:lnTo>
                  <a:cubicBezTo>
                    <a:pt x="220980" y="38100"/>
                    <a:pt x="50927" y="72136"/>
                    <a:pt x="37846" y="98425"/>
                  </a:cubicBezTo>
                  <a:cubicBezTo>
                    <a:pt x="37846" y="98425"/>
                    <a:pt x="38100" y="97790"/>
                    <a:pt x="38100" y="96901"/>
                  </a:cubicBezTo>
                  <a:lnTo>
                    <a:pt x="19050" y="96901"/>
                  </a:lnTo>
                  <a:lnTo>
                    <a:pt x="38100" y="96901"/>
                  </a:lnTo>
                  <a:cubicBezTo>
                    <a:pt x="38100" y="96012"/>
                    <a:pt x="37846" y="95377"/>
                    <a:pt x="37846" y="95377"/>
                  </a:cubicBezTo>
                  <a:cubicBezTo>
                    <a:pt x="50927" y="121666"/>
                    <a:pt x="220980" y="155702"/>
                    <a:pt x="458343" y="155702"/>
                  </a:cubicBezTo>
                  <a:cubicBezTo>
                    <a:pt x="695706" y="155702"/>
                    <a:pt x="865759" y="121539"/>
                    <a:pt x="878840" y="95250"/>
                  </a:cubicBezTo>
                  <a:cubicBezTo>
                    <a:pt x="878840" y="95250"/>
                    <a:pt x="878586" y="95885"/>
                    <a:pt x="878586" y="96774"/>
                  </a:cubicBezTo>
                  <a:close/>
                </a:path>
              </a:pathLst>
            </a:custGeom>
            <a:solidFill>
              <a:srgbClr val="C8621A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2013168" y="7950060"/>
            <a:ext cx="5911644" cy="976884"/>
            <a:chOff x="0" y="0"/>
            <a:chExt cx="7882192" cy="1302512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15240" y="15240"/>
              <a:ext cx="7851648" cy="1272032"/>
            </a:xfrm>
            <a:custGeom>
              <a:avLst/>
              <a:gdLst/>
              <a:ahLst/>
              <a:cxnLst/>
              <a:rect r="r" b="b" t="t" l="l"/>
              <a:pathLst>
                <a:path h="1272032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272032"/>
                  </a:lnTo>
                  <a:lnTo>
                    <a:pt x="0" y="1272032"/>
                  </a:lnTo>
                  <a:close/>
                </a:path>
              </a:pathLst>
            </a:custGeom>
            <a:solidFill>
              <a:srgbClr val="D6EAF8"/>
            </a:solidFill>
          </p:spPr>
        </p:sp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7882128" cy="1302512"/>
            </a:xfrm>
            <a:custGeom>
              <a:avLst/>
              <a:gdLst/>
              <a:ahLst/>
              <a:cxnLst/>
              <a:rect r="r" b="b" t="t" l="l"/>
              <a:pathLst>
                <a:path h="1302512" w="7882128">
                  <a:moveTo>
                    <a:pt x="15240" y="0"/>
                  </a:moveTo>
                  <a:lnTo>
                    <a:pt x="7866888" y="0"/>
                  </a:lnTo>
                  <a:cubicBezTo>
                    <a:pt x="7875270" y="0"/>
                    <a:pt x="7882128" y="6858"/>
                    <a:pt x="7882128" y="15240"/>
                  </a:cubicBezTo>
                  <a:lnTo>
                    <a:pt x="7882128" y="1287272"/>
                  </a:lnTo>
                  <a:cubicBezTo>
                    <a:pt x="7882128" y="1295654"/>
                    <a:pt x="7875270" y="1302512"/>
                    <a:pt x="7866888" y="1302512"/>
                  </a:cubicBezTo>
                  <a:lnTo>
                    <a:pt x="15240" y="1302512"/>
                  </a:lnTo>
                  <a:cubicBezTo>
                    <a:pt x="6858" y="1302512"/>
                    <a:pt x="0" y="1295654"/>
                    <a:pt x="0" y="1287272"/>
                  </a:cubicBezTo>
                  <a:lnTo>
                    <a:pt x="0" y="15240"/>
                  </a:lnTo>
                  <a:cubicBezTo>
                    <a:pt x="0" y="6858"/>
                    <a:pt x="6858" y="0"/>
                    <a:pt x="15240" y="0"/>
                  </a:cubicBezTo>
                  <a:moveTo>
                    <a:pt x="15240" y="30480"/>
                  </a:moveTo>
                  <a:lnTo>
                    <a:pt x="15240" y="15240"/>
                  </a:lnTo>
                  <a:lnTo>
                    <a:pt x="30480" y="15240"/>
                  </a:lnTo>
                  <a:lnTo>
                    <a:pt x="30480" y="1287272"/>
                  </a:lnTo>
                  <a:lnTo>
                    <a:pt x="15240" y="1287272"/>
                  </a:lnTo>
                  <a:lnTo>
                    <a:pt x="15240" y="1272032"/>
                  </a:lnTo>
                  <a:lnTo>
                    <a:pt x="7866888" y="1272032"/>
                  </a:lnTo>
                  <a:lnTo>
                    <a:pt x="7866888" y="1287272"/>
                  </a:lnTo>
                  <a:lnTo>
                    <a:pt x="7851648" y="1287272"/>
                  </a:lnTo>
                  <a:lnTo>
                    <a:pt x="7851648" y="15240"/>
                  </a:lnTo>
                  <a:lnTo>
                    <a:pt x="7866888" y="15240"/>
                  </a:lnTo>
                  <a:lnTo>
                    <a:pt x="7866888" y="30480"/>
                  </a:lnTo>
                  <a:lnTo>
                    <a:pt x="15240" y="30480"/>
                  </a:lnTo>
                  <a:close/>
                </a:path>
              </a:pathLst>
            </a:custGeom>
            <a:solidFill>
              <a:srgbClr val="3A86C8"/>
            </a:solid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9525"/>
              <a:ext cx="7882192" cy="13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Search demand &amp; category popularity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384353" y="2031559"/>
            <a:ext cx="5106343" cy="75495"/>
            <a:chOff x="0" y="0"/>
            <a:chExt cx="6808457" cy="10066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6808470" cy="100711"/>
            </a:xfrm>
            <a:custGeom>
              <a:avLst/>
              <a:gdLst/>
              <a:ahLst/>
              <a:cxnLst/>
              <a:rect r="r" b="b" t="t" l="l"/>
              <a:pathLst>
                <a:path h="100711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196" id="196"/>
          <p:cNvGrpSpPr/>
          <p:nvPr/>
        </p:nvGrpSpPr>
        <p:grpSpPr>
          <a:xfrm rot="0">
            <a:off x="6204480" y="2031559"/>
            <a:ext cx="5106343" cy="75495"/>
            <a:chOff x="0" y="0"/>
            <a:chExt cx="6808457" cy="10066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6808470" cy="100711"/>
            </a:xfrm>
            <a:custGeom>
              <a:avLst/>
              <a:gdLst/>
              <a:ahLst/>
              <a:cxnLst/>
              <a:rect r="r" b="b" t="t" l="l"/>
              <a:pathLst>
                <a:path h="100711" w="6808470">
                  <a:moveTo>
                    <a:pt x="0" y="0"/>
                  </a:moveTo>
                  <a:lnTo>
                    <a:pt x="6808470" y="0"/>
                  </a:lnTo>
                  <a:lnTo>
                    <a:pt x="6808470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12024608" y="2031559"/>
            <a:ext cx="5888765" cy="75495"/>
            <a:chOff x="0" y="0"/>
            <a:chExt cx="7851686" cy="100660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7851648" cy="100711"/>
            </a:xfrm>
            <a:custGeom>
              <a:avLst/>
              <a:gdLst/>
              <a:ahLst/>
              <a:cxnLst/>
              <a:rect r="r" b="b" t="t" l="l"/>
              <a:pathLst>
                <a:path h="100711" w="7851648">
                  <a:moveTo>
                    <a:pt x="0" y="0"/>
                  </a:moveTo>
                  <a:lnTo>
                    <a:pt x="7851648" y="0"/>
                  </a:lnTo>
                  <a:lnTo>
                    <a:pt x="7851648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08074" y="6048946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631431"/>
            <a:chOff x="0" y="0"/>
            <a:chExt cx="24396967" cy="8419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841883"/>
            </a:xfrm>
            <a:custGeom>
              <a:avLst/>
              <a:gdLst/>
              <a:ahLst/>
              <a:cxnLst/>
              <a:rect r="r" b="b" t="t" l="l"/>
              <a:pathLst>
                <a:path h="841883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4396967" cy="85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b="true" sz="2251" spc="-3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Too Good To Go  —  Module Flow Map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13912" y="658882"/>
            <a:ext cx="2539441" cy="549069"/>
            <a:chOff x="0" y="0"/>
            <a:chExt cx="3385922" cy="732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85947" cy="732155"/>
            </a:xfrm>
            <a:custGeom>
              <a:avLst/>
              <a:gdLst/>
              <a:ahLst/>
              <a:cxnLst/>
              <a:rect r="r" b="b" t="t" l="l"/>
              <a:pathLst>
                <a:path h="7321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385922" cy="732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b="true" sz="1501" spc="-2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Consumer &amp; 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63235" y="658882"/>
            <a:ext cx="2539441" cy="549069"/>
            <a:chOff x="0" y="0"/>
            <a:chExt cx="3385922" cy="732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85947" cy="732155"/>
            </a:xfrm>
            <a:custGeom>
              <a:avLst/>
              <a:gdLst/>
              <a:ahLst/>
              <a:cxnLst/>
              <a:rect r="r" b="b" t="t" l="l"/>
              <a:pathLst>
                <a:path h="7321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385922" cy="732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b="true" sz="1501" spc="-2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Operations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12559" y="658882"/>
            <a:ext cx="2539441" cy="549069"/>
            <a:chOff x="0" y="0"/>
            <a:chExt cx="3385922" cy="732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85947" cy="732155"/>
            </a:xfrm>
            <a:custGeom>
              <a:avLst/>
              <a:gdLst/>
              <a:ahLst/>
              <a:cxnLst/>
              <a:rect r="r" b="b" t="t" l="l"/>
              <a:pathLst>
                <a:path h="7321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385922" cy="732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b="true" sz="1501" spc="-2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Partner &amp; Data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61872" y="658882"/>
            <a:ext cx="2539441" cy="549069"/>
            <a:chOff x="0" y="0"/>
            <a:chExt cx="3385922" cy="732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85947" cy="732155"/>
            </a:xfrm>
            <a:custGeom>
              <a:avLst/>
              <a:gdLst/>
              <a:ahLst/>
              <a:cxnLst/>
              <a:rect r="r" b="b" t="t" l="l"/>
              <a:pathLst>
                <a:path h="73215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FA5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3385922" cy="732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  <a:r>
                <a:rPr lang="en-US" b="true" sz="1501" spc="-2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Finance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80814" y="658882"/>
            <a:ext cx="754971" cy="8730196"/>
            <a:chOff x="0" y="0"/>
            <a:chExt cx="1006627" cy="116402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6602" cy="11640312"/>
            </a:xfrm>
            <a:custGeom>
              <a:avLst/>
              <a:gdLst/>
              <a:ahLst/>
              <a:cxnLst/>
              <a:rect r="r" b="b" t="t" l="l"/>
              <a:pathLst>
                <a:path h="11640312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1640312"/>
                  </a:lnTo>
                  <a:lnTo>
                    <a:pt x="0" y="11640312"/>
                  </a:lnTo>
                  <a:close/>
                </a:path>
              </a:pathLst>
            </a:custGeom>
            <a:solidFill>
              <a:srgbClr val="E8EA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030137" y="658882"/>
            <a:ext cx="754971" cy="8730196"/>
            <a:chOff x="0" y="0"/>
            <a:chExt cx="1006627" cy="116402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6602" cy="11640312"/>
            </a:xfrm>
            <a:custGeom>
              <a:avLst/>
              <a:gdLst/>
              <a:ahLst/>
              <a:cxnLst/>
              <a:rect r="r" b="b" t="t" l="l"/>
              <a:pathLst>
                <a:path h="11640312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1640312"/>
                  </a:lnTo>
                  <a:lnTo>
                    <a:pt x="0" y="11640312"/>
                  </a:lnTo>
                  <a:close/>
                </a:path>
              </a:pathLst>
            </a:custGeom>
            <a:solidFill>
              <a:srgbClr val="E8EA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379451" y="658882"/>
            <a:ext cx="754971" cy="8730196"/>
            <a:chOff x="0" y="0"/>
            <a:chExt cx="1006627" cy="116402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6602" cy="11640312"/>
            </a:xfrm>
            <a:custGeom>
              <a:avLst/>
              <a:gdLst/>
              <a:ahLst/>
              <a:cxnLst/>
              <a:rect r="r" b="b" t="t" l="l"/>
              <a:pathLst>
                <a:path h="11640312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1640312"/>
                  </a:lnTo>
                  <a:lnTo>
                    <a:pt x="0" y="11640312"/>
                  </a:lnTo>
                  <a:close/>
                </a:path>
              </a:pathLst>
            </a:custGeom>
            <a:solidFill>
              <a:srgbClr val="E8EA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7572" y="3561798"/>
            <a:ext cx="1936042" cy="728091"/>
            <a:chOff x="0" y="0"/>
            <a:chExt cx="2581389" cy="9707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9525" y="9525"/>
              <a:ext cx="2562352" cy="951738"/>
            </a:xfrm>
            <a:custGeom>
              <a:avLst/>
              <a:gdLst/>
              <a:ahLst/>
              <a:cxnLst/>
              <a:rect r="r" b="b" t="t" l="l"/>
              <a:pathLst>
                <a:path h="951738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81402" cy="970788"/>
            </a:xfrm>
            <a:custGeom>
              <a:avLst/>
              <a:gdLst/>
              <a:ahLst/>
              <a:cxnLst/>
              <a:rect r="r" b="b" t="t" l="l"/>
              <a:pathLst>
                <a:path h="970788" w="2581402">
                  <a:moveTo>
                    <a:pt x="9525" y="0"/>
                  </a:moveTo>
                  <a:lnTo>
                    <a:pt x="2571877" y="0"/>
                  </a:lnTo>
                  <a:cubicBezTo>
                    <a:pt x="2577084" y="0"/>
                    <a:pt x="2581402" y="4318"/>
                    <a:pt x="2581402" y="9525"/>
                  </a:cubicBezTo>
                  <a:lnTo>
                    <a:pt x="2581402" y="961263"/>
                  </a:lnTo>
                  <a:cubicBezTo>
                    <a:pt x="2581402" y="966470"/>
                    <a:pt x="2577084" y="970788"/>
                    <a:pt x="2571877" y="970788"/>
                  </a:cubicBezTo>
                  <a:lnTo>
                    <a:pt x="9525" y="970788"/>
                  </a:lnTo>
                  <a:cubicBezTo>
                    <a:pt x="4318" y="970788"/>
                    <a:pt x="0" y="966470"/>
                    <a:pt x="0" y="9612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61263"/>
                  </a:lnTo>
                  <a:lnTo>
                    <a:pt x="9525" y="961263"/>
                  </a:lnTo>
                  <a:lnTo>
                    <a:pt x="9525" y="951738"/>
                  </a:lnTo>
                  <a:lnTo>
                    <a:pt x="2571877" y="951738"/>
                  </a:lnTo>
                  <a:lnTo>
                    <a:pt x="2571877" y="961263"/>
                  </a:lnTo>
                  <a:lnTo>
                    <a:pt x="2562352" y="961263"/>
                  </a:lnTo>
                  <a:lnTo>
                    <a:pt x="2562352" y="9525"/>
                  </a:lnTo>
                  <a:lnTo>
                    <a:pt x="2571877" y="9525"/>
                  </a:lnTo>
                  <a:lnTo>
                    <a:pt x="2571877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324793" y="3714960"/>
            <a:ext cx="1601591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Consumers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7572" y="4495219"/>
            <a:ext cx="1936042" cy="728091"/>
            <a:chOff x="0" y="0"/>
            <a:chExt cx="2581389" cy="9707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9525" y="9525"/>
              <a:ext cx="2562352" cy="951738"/>
            </a:xfrm>
            <a:custGeom>
              <a:avLst/>
              <a:gdLst/>
              <a:ahLst/>
              <a:cxnLst/>
              <a:rect r="r" b="b" t="t" l="l"/>
              <a:pathLst>
                <a:path h="951738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81402" cy="970788"/>
            </a:xfrm>
            <a:custGeom>
              <a:avLst/>
              <a:gdLst/>
              <a:ahLst/>
              <a:cxnLst/>
              <a:rect r="r" b="b" t="t" l="l"/>
              <a:pathLst>
                <a:path h="970788" w="2581402">
                  <a:moveTo>
                    <a:pt x="9525" y="0"/>
                  </a:moveTo>
                  <a:lnTo>
                    <a:pt x="2571877" y="0"/>
                  </a:lnTo>
                  <a:cubicBezTo>
                    <a:pt x="2577084" y="0"/>
                    <a:pt x="2581402" y="4318"/>
                    <a:pt x="2581402" y="9525"/>
                  </a:cubicBezTo>
                  <a:lnTo>
                    <a:pt x="2581402" y="961263"/>
                  </a:lnTo>
                  <a:cubicBezTo>
                    <a:pt x="2581402" y="966470"/>
                    <a:pt x="2577084" y="970788"/>
                    <a:pt x="2571877" y="970788"/>
                  </a:cubicBezTo>
                  <a:lnTo>
                    <a:pt x="9525" y="970788"/>
                  </a:lnTo>
                  <a:cubicBezTo>
                    <a:pt x="4318" y="970788"/>
                    <a:pt x="0" y="966470"/>
                    <a:pt x="0" y="9612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61263"/>
                  </a:lnTo>
                  <a:lnTo>
                    <a:pt x="9525" y="961263"/>
                  </a:lnTo>
                  <a:lnTo>
                    <a:pt x="9525" y="951738"/>
                  </a:lnTo>
                  <a:lnTo>
                    <a:pt x="2571877" y="951738"/>
                  </a:lnTo>
                  <a:lnTo>
                    <a:pt x="2571877" y="961263"/>
                  </a:lnTo>
                  <a:lnTo>
                    <a:pt x="2562352" y="961263"/>
                  </a:lnTo>
                  <a:lnTo>
                    <a:pt x="2562352" y="9525"/>
                  </a:lnTo>
                  <a:lnTo>
                    <a:pt x="2571877" y="9525"/>
                  </a:lnTo>
                  <a:lnTo>
                    <a:pt x="2571877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324793" y="4648371"/>
            <a:ext cx="1601591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Restaurants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7572" y="5428631"/>
            <a:ext cx="1936042" cy="728091"/>
            <a:chOff x="0" y="0"/>
            <a:chExt cx="2581389" cy="9707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9525" y="9525"/>
              <a:ext cx="2562352" cy="951738"/>
            </a:xfrm>
            <a:custGeom>
              <a:avLst/>
              <a:gdLst/>
              <a:ahLst/>
              <a:cxnLst/>
              <a:rect r="r" b="b" t="t" l="l"/>
              <a:pathLst>
                <a:path h="951738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81402" cy="970788"/>
            </a:xfrm>
            <a:custGeom>
              <a:avLst/>
              <a:gdLst/>
              <a:ahLst/>
              <a:cxnLst/>
              <a:rect r="r" b="b" t="t" l="l"/>
              <a:pathLst>
                <a:path h="970788" w="2581402">
                  <a:moveTo>
                    <a:pt x="9525" y="0"/>
                  </a:moveTo>
                  <a:lnTo>
                    <a:pt x="2571877" y="0"/>
                  </a:lnTo>
                  <a:cubicBezTo>
                    <a:pt x="2577084" y="0"/>
                    <a:pt x="2581402" y="4318"/>
                    <a:pt x="2581402" y="9525"/>
                  </a:cubicBezTo>
                  <a:lnTo>
                    <a:pt x="2581402" y="961263"/>
                  </a:lnTo>
                  <a:cubicBezTo>
                    <a:pt x="2581402" y="966470"/>
                    <a:pt x="2577084" y="970788"/>
                    <a:pt x="2571877" y="970788"/>
                  </a:cubicBezTo>
                  <a:lnTo>
                    <a:pt x="9525" y="970788"/>
                  </a:lnTo>
                  <a:cubicBezTo>
                    <a:pt x="4318" y="970788"/>
                    <a:pt x="0" y="966470"/>
                    <a:pt x="0" y="9612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61263"/>
                  </a:lnTo>
                  <a:lnTo>
                    <a:pt x="9525" y="961263"/>
                  </a:lnTo>
                  <a:lnTo>
                    <a:pt x="9525" y="951738"/>
                  </a:lnTo>
                  <a:lnTo>
                    <a:pt x="2571877" y="951738"/>
                  </a:lnTo>
                  <a:lnTo>
                    <a:pt x="2571877" y="961263"/>
                  </a:lnTo>
                  <a:lnTo>
                    <a:pt x="2562352" y="961263"/>
                  </a:lnTo>
                  <a:lnTo>
                    <a:pt x="2562352" y="9525"/>
                  </a:lnTo>
                  <a:lnTo>
                    <a:pt x="2571877" y="9525"/>
                  </a:lnTo>
                  <a:lnTo>
                    <a:pt x="2571877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324793" y="5581793"/>
            <a:ext cx="1601591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Bakeries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57572" y="6362052"/>
            <a:ext cx="1936042" cy="728091"/>
            <a:chOff x="0" y="0"/>
            <a:chExt cx="2581389" cy="9707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9525" y="9525"/>
              <a:ext cx="2562352" cy="951738"/>
            </a:xfrm>
            <a:custGeom>
              <a:avLst/>
              <a:gdLst/>
              <a:ahLst/>
              <a:cxnLst/>
              <a:rect r="r" b="b" t="t" l="l"/>
              <a:pathLst>
                <a:path h="951738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81402" cy="970788"/>
            </a:xfrm>
            <a:custGeom>
              <a:avLst/>
              <a:gdLst/>
              <a:ahLst/>
              <a:cxnLst/>
              <a:rect r="r" b="b" t="t" l="l"/>
              <a:pathLst>
                <a:path h="970788" w="2581402">
                  <a:moveTo>
                    <a:pt x="9525" y="0"/>
                  </a:moveTo>
                  <a:lnTo>
                    <a:pt x="2571877" y="0"/>
                  </a:lnTo>
                  <a:cubicBezTo>
                    <a:pt x="2577084" y="0"/>
                    <a:pt x="2581402" y="4318"/>
                    <a:pt x="2581402" y="9525"/>
                  </a:cubicBezTo>
                  <a:lnTo>
                    <a:pt x="2581402" y="961263"/>
                  </a:lnTo>
                  <a:cubicBezTo>
                    <a:pt x="2581402" y="966470"/>
                    <a:pt x="2577084" y="970788"/>
                    <a:pt x="2571877" y="970788"/>
                  </a:cubicBezTo>
                  <a:lnTo>
                    <a:pt x="9525" y="970788"/>
                  </a:lnTo>
                  <a:cubicBezTo>
                    <a:pt x="4318" y="970788"/>
                    <a:pt x="0" y="966470"/>
                    <a:pt x="0" y="9612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61263"/>
                  </a:lnTo>
                  <a:lnTo>
                    <a:pt x="9525" y="961263"/>
                  </a:lnTo>
                  <a:lnTo>
                    <a:pt x="9525" y="951738"/>
                  </a:lnTo>
                  <a:lnTo>
                    <a:pt x="2571877" y="951738"/>
                  </a:lnTo>
                  <a:lnTo>
                    <a:pt x="2571877" y="961263"/>
                  </a:lnTo>
                  <a:lnTo>
                    <a:pt x="2562352" y="961263"/>
                  </a:lnTo>
                  <a:lnTo>
                    <a:pt x="2562352" y="9525"/>
                  </a:lnTo>
                  <a:lnTo>
                    <a:pt x="2571877" y="9525"/>
                  </a:lnTo>
                  <a:lnTo>
                    <a:pt x="2571877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324793" y="6515205"/>
            <a:ext cx="1601591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Supermarkets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4721621" y="3561798"/>
            <a:ext cx="1936042" cy="728091"/>
            <a:chOff x="0" y="0"/>
            <a:chExt cx="2581389" cy="9707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525" y="9525"/>
              <a:ext cx="2562352" cy="951738"/>
            </a:xfrm>
            <a:custGeom>
              <a:avLst/>
              <a:gdLst/>
              <a:ahLst/>
              <a:cxnLst/>
              <a:rect r="r" b="b" t="t" l="l"/>
              <a:pathLst>
                <a:path h="951738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81402" cy="970788"/>
            </a:xfrm>
            <a:custGeom>
              <a:avLst/>
              <a:gdLst/>
              <a:ahLst/>
              <a:cxnLst/>
              <a:rect r="r" b="b" t="t" l="l"/>
              <a:pathLst>
                <a:path h="970788" w="2581402">
                  <a:moveTo>
                    <a:pt x="9525" y="0"/>
                  </a:moveTo>
                  <a:lnTo>
                    <a:pt x="2571877" y="0"/>
                  </a:lnTo>
                  <a:cubicBezTo>
                    <a:pt x="2577084" y="0"/>
                    <a:pt x="2581402" y="4318"/>
                    <a:pt x="2581402" y="9525"/>
                  </a:cubicBezTo>
                  <a:lnTo>
                    <a:pt x="2581402" y="961263"/>
                  </a:lnTo>
                  <a:cubicBezTo>
                    <a:pt x="2581402" y="966470"/>
                    <a:pt x="2577084" y="970788"/>
                    <a:pt x="2571877" y="970788"/>
                  </a:cubicBezTo>
                  <a:lnTo>
                    <a:pt x="9525" y="970788"/>
                  </a:lnTo>
                  <a:cubicBezTo>
                    <a:pt x="4318" y="970788"/>
                    <a:pt x="0" y="966470"/>
                    <a:pt x="0" y="9612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61263"/>
                  </a:lnTo>
                  <a:lnTo>
                    <a:pt x="9525" y="961263"/>
                  </a:lnTo>
                  <a:lnTo>
                    <a:pt x="9525" y="951738"/>
                  </a:lnTo>
                  <a:lnTo>
                    <a:pt x="2571877" y="951738"/>
                  </a:lnTo>
                  <a:lnTo>
                    <a:pt x="2571877" y="961263"/>
                  </a:lnTo>
                  <a:lnTo>
                    <a:pt x="2562352" y="961263"/>
                  </a:lnTo>
                  <a:lnTo>
                    <a:pt x="2562352" y="9525"/>
                  </a:lnTo>
                  <a:lnTo>
                    <a:pt x="2571877" y="9525"/>
                  </a:lnTo>
                  <a:lnTo>
                    <a:pt x="2571877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888851" y="3714960"/>
            <a:ext cx="1601591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NGOs / Charities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4721621" y="4495219"/>
            <a:ext cx="1936042" cy="728091"/>
            <a:chOff x="0" y="0"/>
            <a:chExt cx="2581389" cy="9707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9525" y="9525"/>
              <a:ext cx="2562352" cy="951738"/>
            </a:xfrm>
            <a:custGeom>
              <a:avLst/>
              <a:gdLst/>
              <a:ahLst/>
              <a:cxnLst/>
              <a:rect r="r" b="b" t="t" l="l"/>
              <a:pathLst>
                <a:path h="951738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81402" cy="970788"/>
            </a:xfrm>
            <a:custGeom>
              <a:avLst/>
              <a:gdLst/>
              <a:ahLst/>
              <a:cxnLst/>
              <a:rect r="r" b="b" t="t" l="l"/>
              <a:pathLst>
                <a:path h="970788" w="2581402">
                  <a:moveTo>
                    <a:pt x="9525" y="0"/>
                  </a:moveTo>
                  <a:lnTo>
                    <a:pt x="2571877" y="0"/>
                  </a:lnTo>
                  <a:cubicBezTo>
                    <a:pt x="2577084" y="0"/>
                    <a:pt x="2581402" y="4318"/>
                    <a:pt x="2581402" y="9525"/>
                  </a:cubicBezTo>
                  <a:lnTo>
                    <a:pt x="2581402" y="961263"/>
                  </a:lnTo>
                  <a:cubicBezTo>
                    <a:pt x="2581402" y="966470"/>
                    <a:pt x="2577084" y="970788"/>
                    <a:pt x="2571877" y="970788"/>
                  </a:cubicBezTo>
                  <a:lnTo>
                    <a:pt x="9525" y="970788"/>
                  </a:lnTo>
                  <a:cubicBezTo>
                    <a:pt x="4318" y="970788"/>
                    <a:pt x="0" y="966470"/>
                    <a:pt x="0" y="9612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61263"/>
                  </a:lnTo>
                  <a:lnTo>
                    <a:pt x="9525" y="961263"/>
                  </a:lnTo>
                  <a:lnTo>
                    <a:pt x="9525" y="951738"/>
                  </a:lnTo>
                  <a:lnTo>
                    <a:pt x="2571877" y="951738"/>
                  </a:lnTo>
                  <a:lnTo>
                    <a:pt x="2571877" y="961263"/>
                  </a:lnTo>
                  <a:lnTo>
                    <a:pt x="2562352" y="961263"/>
                  </a:lnTo>
                  <a:lnTo>
                    <a:pt x="2562352" y="9525"/>
                  </a:lnTo>
                  <a:lnTo>
                    <a:pt x="2571877" y="9525"/>
                  </a:lnTo>
                  <a:lnTo>
                    <a:pt x="2571877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4888851" y="4648371"/>
            <a:ext cx="1601591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City Councils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4721621" y="5428631"/>
            <a:ext cx="1936042" cy="728091"/>
            <a:chOff x="0" y="0"/>
            <a:chExt cx="2581389" cy="9707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9525" y="9525"/>
              <a:ext cx="2562352" cy="951738"/>
            </a:xfrm>
            <a:custGeom>
              <a:avLst/>
              <a:gdLst/>
              <a:ahLst/>
              <a:cxnLst/>
              <a:rect r="r" b="b" t="t" l="l"/>
              <a:pathLst>
                <a:path h="951738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81402" cy="970788"/>
            </a:xfrm>
            <a:custGeom>
              <a:avLst/>
              <a:gdLst/>
              <a:ahLst/>
              <a:cxnLst/>
              <a:rect r="r" b="b" t="t" l="l"/>
              <a:pathLst>
                <a:path h="970788" w="2581402">
                  <a:moveTo>
                    <a:pt x="9525" y="0"/>
                  </a:moveTo>
                  <a:lnTo>
                    <a:pt x="2571877" y="0"/>
                  </a:lnTo>
                  <a:cubicBezTo>
                    <a:pt x="2577084" y="0"/>
                    <a:pt x="2581402" y="4318"/>
                    <a:pt x="2581402" y="9525"/>
                  </a:cubicBezTo>
                  <a:lnTo>
                    <a:pt x="2581402" y="961263"/>
                  </a:lnTo>
                  <a:cubicBezTo>
                    <a:pt x="2581402" y="966470"/>
                    <a:pt x="2577084" y="970788"/>
                    <a:pt x="2571877" y="970788"/>
                  </a:cubicBezTo>
                  <a:lnTo>
                    <a:pt x="9525" y="970788"/>
                  </a:lnTo>
                  <a:cubicBezTo>
                    <a:pt x="4318" y="970788"/>
                    <a:pt x="0" y="966470"/>
                    <a:pt x="0" y="9612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61263"/>
                  </a:lnTo>
                  <a:lnTo>
                    <a:pt x="9525" y="961263"/>
                  </a:lnTo>
                  <a:lnTo>
                    <a:pt x="9525" y="951738"/>
                  </a:lnTo>
                  <a:lnTo>
                    <a:pt x="2571877" y="951738"/>
                  </a:lnTo>
                  <a:lnTo>
                    <a:pt x="2571877" y="961263"/>
                  </a:lnTo>
                  <a:lnTo>
                    <a:pt x="2562352" y="961263"/>
                  </a:lnTo>
                  <a:lnTo>
                    <a:pt x="2562352" y="9525"/>
                  </a:lnTo>
                  <a:lnTo>
                    <a:pt x="2571877" y="9525"/>
                  </a:lnTo>
                  <a:lnTo>
                    <a:pt x="2571877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4888851" y="5581793"/>
            <a:ext cx="1601591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Investors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4721621" y="6362052"/>
            <a:ext cx="1936042" cy="728091"/>
            <a:chOff x="0" y="0"/>
            <a:chExt cx="2581389" cy="9707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9525" y="9525"/>
              <a:ext cx="2562352" cy="951738"/>
            </a:xfrm>
            <a:custGeom>
              <a:avLst/>
              <a:gdLst/>
              <a:ahLst/>
              <a:cxnLst/>
              <a:rect r="r" b="b" t="t" l="l"/>
              <a:pathLst>
                <a:path h="951738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81402" cy="970788"/>
            </a:xfrm>
            <a:custGeom>
              <a:avLst/>
              <a:gdLst/>
              <a:ahLst/>
              <a:cxnLst/>
              <a:rect r="r" b="b" t="t" l="l"/>
              <a:pathLst>
                <a:path h="970788" w="2581402">
                  <a:moveTo>
                    <a:pt x="9525" y="0"/>
                  </a:moveTo>
                  <a:lnTo>
                    <a:pt x="2571877" y="0"/>
                  </a:lnTo>
                  <a:cubicBezTo>
                    <a:pt x="2577084" y="0"/>
                    <a:pt x="2581402" y="4318"/>
                    <a:pt x="2581402" y="9525"/>
                  </a:cubicBezTo>
                  <a:lnTo>
                    <a:pt x="2581402" y="961263"/>
                  </a:lnTo>
                  <a:cubicBezTo>
                    <a:pt x="2581402" y="966470"/>
                    <a:pt x="2577084" y="970788"/>
                    <a:pt x="2571877" y="970788"/>
                  </a:cubicBezTo>
                  <a:lnTo>
                    <a:pt x="9525" y="970788"/>
                  </a:lnTo>
                  <a:cubicBezTo>
                    <a:pt x="4318" y="970788"/>
                    <a:pt x="0" y="966470"/>
                    <a:pt x="0" y="961263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61263"/>
                  </a:lnTo>
                  <a:lnTo>
                    <a:pt x="9525" y="961263"/>
                  </a:lnTo>
                  <a:lnTo>
                    <a:pt x="9525" y="951738"/>
                  </a:lnTo>
                  <a:lnTo>
                    <a:pt x="2571877" y="951738"/>
                  </a:lnTo>
                  <a:lnTo>
                    <a:pt x="2571877" y="961263"/>
                  </a:lnTo>
                  <a:lnTo>
                    <a:pt x="2562352" y="961263"/>
                  </a:lnTo>
                  <a:lnTo>
                    <a:pt x="2562352" y="9525"/>
                  </a:lnTo>
                  <a:lnTo>
                    <a:pt x="2571877" y="9525"/>
                  </a:lnTo>
                  <a:lnTo>
                    <a:pt x="2571877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4888851" y="6515205"/>
            <a:ext cx="1601591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Press / Media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2097405" y="1246346"/>
            <a:ext cx="2572474" cy="1817503"/>
            <a:chOff x="0" y="0"/>
            <a:chExt cx="3429965" cy="242333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2C168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113912" y="1262863"/>
            <a:ext cx="2539441" cy="329441"/>
            <a:chOff x="0" y="0"/>
            <a:chExt cx="3385922" cy="43925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M01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2315166" y="1683401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Customer App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(iOS/Android)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2097405" y="4417219"/>
            <a:ext cx="2572474" cy="1817503"/>
            <a:chOff x="0" y="0"/>
            <a:chExt cx="3429965" cy="242333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2C168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2113912" y="4433735"/>
            <a:ext cx="2539441" cy="329441"/>
            <a:chOff x="0" y="0"/>
            <a:chExt cx="3385922" cy="43925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M02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2315166" y="4854273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Notification &amp;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Messaging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2097405" y="7588091"/>
            <a:ext cx="2572474" cy="1817503"/>
            <a:chOff x="0" y="0"/>
            <a:chExt cx="3429965" cy="242333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2C168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2113912" y="7604608"/>
            <a:ext cx="2539441" cy="329441"/>
            <a:chOff x="0" y="0"/>
            <a:chExt cx="3385922" cy="43925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M03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2315166" y="8025146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User Account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&amp; Auth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5446719" y="1246346"/>
            <a:ext cx="2572474" cy="1817503"/>
            <a:chOff x="0" y="0"/>
            <a:chExt cx="3429965" cy="242333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463235" y="1262863"/>
            <a:ext cx="2539441" cy="329441"/>
            <a:chOff x="0" y="0"/>
            <a:chExt cx="3385922" cy="43925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M04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5664489" y="1683401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Surprise Bag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Inventory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5446719" y="4417219"/>
            <a:ext cx="2572474" cy="1817503"/>
            <a:chOff x="0" y="0"/>
            <a:chExt cx="3429965" cy="242333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5463235" y="4433735"/>
            <a:ext cx="2539441" cy="329441"/>
            <a:chOff x="0" y="0"/>
            <a:chExt cx="3385922" cy="43925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M05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5664489" y="4854273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Order &amp; Pickup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Tracking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5446719" y="7588091"/>
            <a:ext cx="2572474" cy="1817503"/>
            <a:chOff x="0" y="0"/>
            <a:chExt cx="3429965" cy="242333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5463235" y="7604608"/>
            <a:ext cx="2539441" cy="329441"/>
            <a:chOff x="0" y="0"/>
            <a:chExt cx="3385922" cy="43925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M06</a:t>
              </a: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5664489" y="8025146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Logistics &amp;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Route Opt.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8796042" y="1246346"/>
            <a:ext cx="2572474" cy="1817503"/>
            <a:chOff x="0" y="0"/>
            <a:chExt cx="3429965" cy="242333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8812559" y="1262863"/>
            <a:ext cx="2539441" cy="329441"/>
            <a:chOff x="0" y="0"/>
            <a:chExt cx="3385922" cy="43925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M07</a:t>
              </a: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9013812" y="1683401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Partner Portal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&amp; Onboarding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8796042" y="4417219"/>
            <a:ext cx="2572474" cy="1817503"/>
            <a:chOff x="0" y="0"/>
            <a:chExt cx="3429965" cy="242333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70AD47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8812559" y="4433735"/>
            <a:ext cx="2539441" cy="329441"/>
            <a:chOff x="0" y="0"/>
            <a:chExt cx="3385922" cy="43925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M08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9013812" y="4854273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Data Analytics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&amp; Reporting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2145366" y="1246346"/>
            <a:ext cx="2572474" cy="1817503"/>
            <a:chOff x="0" y="0"/>
            <a:chExt cx="3429965" cy="242333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FFA50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161872" y="1262863"/>
            <a:ext cx="2539441" cy="329441"/>
            <a:chOff x="0" y="0"/>
            <a:chExt cx="3385922" cy="43925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FFA500"/>
            </a:solid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M09</a:t>
              </a: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12363136" y="1683401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Payment &amp;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Revenue Engine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12145366" y="4417219"/>
            <a:ext cx="2572474" cy="1817503"/>
            <a:chOff x="0" y="0"/>
            <a:chExt cx="3429965" cy="242333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21971" y="21971"/>
              <a:ext cx="3385947" cy="2379345"/>
            </a:xfrm>
            <a:custGeom>
              <a:avLst/>
              <a:gdLst/>
              <a:ahLst/>
              <a:cxnLst/>
              <a:rect r="r" b="b" t="t" l="l"/>
              <a:pathLst>
                <a:path h="23793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429889" cy="2423287"/>
            </a:xfrm>
            <a:custGeom>
              <a:avLst/>
              <a:gdLst/>
              <a:ahLst/>
              <a:cxnLst/>
              <a:rect r="r" b="b" t="t" l="l"/>
              <a:pathLst>
                <a:path h="2423287" w="3429889">
                  <a:moveTo>
                    <a:pt x="21971" y="0"/>
                  </a:moveTo>
                  <a:lnTo>
                    <a:pt x="3407918" y="0"/>
                  </a:lnTo>
                  <a:cubicBezTo>
                    <a:pt x="3420110" y="0"/>
                    <a:pt x="3429889" y="9906"/>
                    <a:pt x="3429889" y="21971"/>
                  </a:cubicBezTo>
                  <a:lnTo>
                    <a:pt x="3429889" y="2401316"/>
                  </a:lnTo>
                  <a:cubicBezTo>
                    <a:pt x="3429889" y="2413508"/>
                    <a:pt x="3419983" y="2423287"/>
                    <a:pt x="3407918" y="2423287"/>
                  </a:cubicBezTo>
                  <a:lnTo>
                    <a:pt x="21971" y="2423287"/>
                  </a:lnTo>
                  <a:cubicBezTo>
                    <a:pt x="9779" y="2423287"/>
                    <a:pt x="0" y="2413381"/>
                    <a:pt x="0" y="2401316"/>
                  </a:cubicBezTo>
                  <a:lnTo>
                    <a:pt x="0" y="21971"/>
                  </a:lnTo>
                  <a:cubicBezTo>
                    <a:pt x="0" y="9906"/>
                    <a:pt x="9906" y="0"/>
                    <a:pt x="21971" y="0"/>
                  </a:cubicBezTo>
                  <a:moveTo>
                    <a:pt x="21971" y="44069"/>
                  </a:moveTo>
                  <a:lnTo>
                    <a:pt x="21971" y="21971"/>
                  </a:lnTo>
                  <a:lnTo>
                    <a:pt x="44069" y="21971"/>
                  </a:lnTo>
                  <a:lnTo>
                    <a:pt x="44069" y="2401316"/>
                  </a:lnTo>
                  <a:lnTo>
                    <a:pt x="21971" y="2401316"/>
                  </a:lnTo>
                  <a:lnTo>
                    <a:pt x="21971" y="2379345"/>
                  </a:lnTo>
                  <a:lnTo>
                    <a:pt x="3407918" y="2379345"/>
                  </a:lnTo>
                  <a:lnTo>
                    <a:pt x="3407918" y="2401316"/>
                  </a:lnTo>
                  <a:lnTo>
                    <a:pt x="3385947" y="2401316"/>
                  </a:lnTo>
                  <a:lnTo>
                    <a:pt x="3385947" y="21971"/>
                  </a:lnTo>
                  <a:lnTo>
                    <a:pt x="3407918" y="21971"/>
                  </a:lnTo>
                  <a:lnTo>
                    <a:pt x="3407918" y="44069"/>
                  </a:lnTo>
                  <a:lnTo>
                    <a:pt x="21971" y="44069"/>
                  </a:lnTo>
                  <a:close/>
                </a:path>
              </a:pathLst>
            </a:custGeom>
            <a:solidFill>
              <a:srgbClr val="FFA500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2161872" y="4433735"/>
            <a:ext cx="2539441" cy="329441"/>
            <a:chOff x="0" y="0"/>
            <a:chExt cx="3385922" cy="43925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385947" cy="439293"/>
            </a:xfrm>
            <a:custGeom>
              <a:avLst/>
              <a:gdLst/>
              <a:ahLst/>
              <a:cxnLst/>
              <a:rect r="r" b="b" t="t" l="l"/>
              <a:pathLst>
                <a:path h="439293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FFA500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3385922" cy="448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M10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12363136" y="4854273"/>
            <a:ext cx="2164394" cy="120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Impact &amp;</a:t>
            </a:r>
          </a:p>
          <a:p>
            <a:pPr algn="l">
              <a:lnSpc>
                <a:spcPts val="1531"/>
              </a:lnSpc>
            </a:pPr>
            <a:r>
              <a:rPr lang="en-US" b="true" sz="1275" spc="-1">
                <a:solidFill>
                  <a:srgbClr val="072621"/>
                </a:solidFill>
                <a:latin typeface="PT Sans Bold"/>
                <a:ea typeface="PT Sans Bold"/>
                <a:cs typeface="PT Sans Bold"/>
                <a:sym typeface="PT Sans Bold"/>
              </a:rPr>
              <a:t>CO2 Tracker</a:t>
            </a:r>
          </a:p>
        </p:txBody>
      </p:sp>
      <p:sp>
        <p:nvSpPr>
          <p:cNvPr name="AutoShape 127" id="127"/>
          <p:cNvSpPr/>
          <p:nvPr/>
        </p:nvSpPr>
        <p:spPr>
          <a:xfrm rot="642780">
            <a:off x="4640228" y="2150335"/>
            <a:ext cx="129226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8" id="128"/>
          <p:cNvSpPr/>
          <p:nvPr/>
        </p:nvSpPr>
        <p:spPr>
          <a:xfrm rot="112920">
            <a:off x="4744107" y="2150335"/>
            <a:ext cx="731339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9" id="129"/>
          <p:cNvSpPr/>
          <p:nvPr/>
        </p:nvSpPr>
        <p:spPr>
          <a:xfrm rot="296340">
            <a:off x="4640828" y="2150335"/>
            <a:ext cx="278997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0" id="130"/>
          <p:cNvSpPr/>
          <p:nvPr/>
        </p:nvSpPr>
        <p:spPr>
          <a:xfrm rot="5374140">
            <a:off x="3309814" y="3735772"/>
            <a:ext cx="3194980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1" id="131"/>
          <p:cNvSpPr/>
          <p:nvPr/>
        </p:nvSpPr>
        <p:spPr>
          <a:xfrm rot="142320">
            <a:off x="4895050" y="5321208"/>
            <a:ext cx="580444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2" id="132"/>
          <p:cNvSpPr/>
          <p:nvPr/>
        </p:nvSpPr>
        <p:spPr>
          <a:xfrm rot="192300">
            <a:off x="4641018" y="5321208"/>
            <a:ext cx="429625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3" id="133"/>
          <p:cNvSpPr/>
          <p:nvPr/>
        </p:nvSpPr>
        <p:spPr>
          <a:xfrm rot="192300">
            <a:off x="5045954" y="5321208"/>
            <a:ext cx="429625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4" id="134"/>
          <p:cNvSpPr/>
          <p:nvPr/>
        </p:nvSpPr>
        <p:spPr>
          <a:xfrm rot="142320">
            <a:off x="4641104" y="8492080"/>
            <a:ext cx="580444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5" id="135"/>
          <p:cNvSpPr/>
          <p:nvPr/>
        </p:nvSpPr>
        <p:spPr>
          <a:xfrm rot="-5387040">
            <a:off x="2026387" y="5321208"/>
            <a:ext cx="6365815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6" id="136"/>
          <p:cNvSpPr/>
          <p:nvPr/>
        </p:nvSpPr>
        <p:spPr>
          <a:xfrm rot="296340">
            <a:off x="5196764" y="2150335"/>
            <a:ext cx="278997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7" id="137"/>
          <p:cNvSpPr/>
          <p:nvPr/>
        </p:nvSpPr>
        <p:spPr>
          <a:xfrm rot="112920">
            <a:off x="4641152" y="8492080"/>
            <a:ext cx="731339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8" id="138"/>
          <p:cNvSpPr/>
          <p:nvPr/>
        </p:nvSpPr>
        <p:spPr>
          <a:xfrm rot="642780">
            <a:off x="5347154" y="8492080"/>
            <a:ext cx="129226" cy="0"/>
          </a:xfrm>
          <a:prstGeom prst="line">
            <a:avLst/>
          </a:prstGeom>
          <a:ln cap="rnd" w="9525">
            <a:solidFill>
              <a:srgbClr val="3A208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9" id="139"/>
          <p:cNvSpPr/>
          <p:nvPr/>
        </p:nvSpPr>
        <p:spPr>
          <a:xfrm rot="561180">
            <a:off x="7989684" y="2150335"/>
            <a:ext cx="147809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0" id="140"/>
          <p:cNvSpPr/>
          <p:nvPr/>
        </p:nvSpPr>
        <p:spPr>
          <a:xfrm rot="115920">
            <a:off x="8112290" y="2150335"/>
            <a:ext cx="712480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1" id="141"/>
          <p:cNvSpPr/>
          <p:nvPr/>
        </p:nvSpPr>
        <p:spPr>
          <a:xfrm rot="246360">
            <a:off x="7990237" y="2150335"/>
            <a:ext cx="335442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2" id="142"/>
          <p:cNvSpPr/>
          <p:nvPr/>
        </p:nvSpPr>
        <p:spPr>
          <a:xfrm rot="5374140">
            <a:off x="6715754" y="3735772"/>
            <a:ext cx="3194980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3" id="143"/>
          <p:cNvSpPr/>
          <p:nvPr/>
        </p:nvSpPr>
        <p:spPr>
          <a:xfrm rot="157680">
            <a:off x="8300961" y="5321208"/>
            <a:ext cx="523875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4" id="144"/>
          <p:cNvSpPr/>
          <p:nvPr/>
        </p:nvSpPr>
        <p:spPr>
          <a:xfrm rot="157680">
            <a:off x="7990399" y="5321208"/>
            <a:ext cx="523875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5" id="145"/>
          <p:cNvSpPr/>
          <p:nvPr/>
        </p:nvSpPr>
        <p:spPr>
          <a:xfrm rot="246360">
            <a:off x="8489547" y="5321208"/>
            <a:ext cx="335442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6" id="146"/>
          <p:cNvSpPr/>
          <p:nvPr/>
        </p:nvSpPr>
        <p:spPr>
          <a:xfrm rot="115920">
            <a:off x="7990465" y="8492080"/>
            <a:ext cx="712480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7" id="147"/>
          <p:cNvSpPr/>
          <p:nvPr/>
        </p:nvSpPr>
        <p:spPr>
          <a:xfrm rot="-5374140">
            <a:off x="7093239" y="6906644"/>
            <a:ext cx="3194980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8" id="148"/>
          <p:cNvSpPr/>
          <p:nvPr/>
        </p:nvSpPr>
        <p:spPr>
          <a:xfrm rot="561180">
            <a:off x="8677742" y="5321208"/>
            <a:ext cx="147809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9" id="149"/>
          <p:cNvSpPr/>
          <p:nvPr/>
        </p:nvSpPr>
        <p:spPr>
          <a:xfrm rot="462900">
            <a:off x="11339179" y="2150335"/>
            <a:ext cx="178918" cy="0"/>
          </a:xfrm>
          <a:prstGeom prst="line">
            <a:avLst/>
          </a:prstGeom>
          <a:ln cap="rnd" w="9525">
            <a:solidFill>
              <a:srgbClr val="3A8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0" id="150"/>
          <p:cNvSpPr/>
          <p:nvPr/>
        </p:nvSpPr>
        <p:spPr>
          <a:xfrm rot="121260">
            <a:off x="11493055" y="2150335"/>
            <a:ext cx="681038" cy="0"/>
          </a:xfrm>
          <a:prstGeom prst="line">
            <a:avLst/>
          </a:prstGeom>
          <a:ln cap="rnd" w="9525">
            <a:solidFill>
              <a:srgbClr val="3A8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1" id="151"/>
          <p:cNvSpPr/>
          <p:nvPr/>
        </p:nvSpPr>
        <p:spPr>
          <a:xfrm rot="192300">
            <a:off x="11339655" y="5321208"/>
            <a:ext cx="429625" cy="0"/>
          </a:xfrm>
          <a:prstGeom prst="line">
            <a:avLst/>
          </a:prstGeom>
          <a:ln cap="rnd" w="9525">
            <a:solidFill>
              <a:srgbClr val="3A8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2" id="152"/>
          <p:cNvSpPr/>
          <p:nvPr/>
        </p:nvSpPr>
        <p:spPr>
          <a:xfrm rot="-5374140">
            <a:off x="10159451" y="3735772"/>
            <a:ext cx="3194980" cy="0"/>
          </a:xfrm>
          <a:prstGeom prst="line">
            <a:avLst/>
          </a:prstGeom>
          <a:ln cap="rnd" w="9525">
            <a:solidFill>
              <a:srgbClr val="3A8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3" id="153"/>
          <p:cNvSpPr/>
          <p:nvPr/>
        </p:nvSpPr>
        <p:spPr>
          <a:xfrm rot="192300">
            <a:off x="11744592" y="2150335"/>
            <a:ext cx="429625" cy="0"/>
          </a:xfrm>
          <a:prstGeom prst="line">
            <a:avLst/>
          </a:prstGeom>
          <a:ln cap="rnd" w="9525">
            <a:solidFill>
              <a:srgbClr val="3A8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4" id="154"/>
          <p:cNvSpPr/>
          <p:nvPr/>
        </p:nvSpPr>
        <p:spPr>
          <a:xfrm rot="121260">
            <a:off x="11339779" y="5321208"/>
            <a:ext cx="681038" cy="0"/>
          </a:xfrm>
          <a:prstGeom prst="line">
            <a:avLst/>
          </a:prstGeom>
          <a:ln cap="rnd" w="9525">
            <a:solidFill>
              <a:srgbClr val="3A8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5" id="155"/>
          <p:cNvSpPr/>
          <p:nvPr/>
        </p:nvSpPr>
        <p:spPr>
          <a:xfrm rot="462900">
            <a:off x="11995775" y="5321208"/>
            <a:ext cx="178918" cy="0"/>
          </a:xfrm>
          <a:prstGeom prst="line">
            <a:avLst/>
          </a:prstGeom>
          <a:ln cap="rnd" w="9525">
            <a:solidFill>
              <a:srgbClr val="3A8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6" id="156"/>
          <p:cNvSpPr/>
          <p:nvPr/>
        </p:nvSpPr>
        <p:spPr>
          <a:xfrm rot="-5301420">
            <a:off x="1202436" y="3035703"/>
            <a:ext cx="1795501" cy="0"/>
          </a:xfrm>
          <a:prstGeom prst="line">
            <a:avLst/>
          </a:prstGeom>
          <a:ln cap="rnd" w="9525">
            <a:solidFill>
              <a:srgbClr val="55555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7" id="157"/>
          <p:cNvSpPr/>
          <p:nvPr/>
        </p:nvSpPr>
        <p:spPr>
          <a:xfrm rot="-5335140">
            <a:off x="735854" y="3502419"/>
            <a:ext cx="2728665" cy="0"/>
          </a:xfrm>
          <a:prstGeom prst="line">
            <a:avLst/>
          </a:prstGeom>
          <a:ln cap="rnd" w="9525">
            <a:solidFill>
              <a:srgbClr val="55555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8" id="158"/>
          <p:cNvSpPr/>
          <p:nvPr/>
        </p:nvSpPr>
        <p:spPr>
          <a:xfrm rot="-5351700">
            <a:off x="269205" y="3969125"/>
            <a:ext cx="3661962" cy="0"/>
          </a:xfrm>
          <a:prstGeom prst="line">
            <a:avLst/>
          </a:prstGeom>
          <a:ln cap="rnd" w="9525">
            <a:solidFill>
              <a:srgbClr val="55555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9" id="159"/>
          <p:cNvSpPr/>
          <p:nvPr/>
        </p:nvSpPr>
        <p:spPr>
          <a:xfrm rot="-5361480">
            <a:off x="-197463" y="4435831"/>
            <a:ext cx="4595308" cy="0"/>
          </a:xfrm>
          <a:prstGeom prst="line">
            <a:avLst/>
          </a:prstGeom>
          <a:ln cap="rnd" w="9525">
            <a:solidFill>
              <a:srgbClr val="555555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0" id="160"/>
          <p:cNvSpPr/>
          <p:nvPr/>
        </p:nvSpPr>
        <p:spPr>
          <a:xfrm rot="5301420">
            <a:off x="13817298" y="3035703"/>
            <a:ext cx="1795501" cy="0"/>
          </a:xfrm>
          <a:prstGeom prst="line">
            <a:avLst/>
          </a:prstGeom>
          <a:ln cap="rnd" w="9525">
            <a:solidFill>
              <a:srgbClr val="CC77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1" id="161"/>
          <p:cNvSpPr/>
          <p:nvPr/>
        </p:nvSpPr>
        <p:spPr>
          <a:xfrm rot="5335140">
            <a:off x="13350716" y="3502419"/>
            <a:ext cx="2728665" cy="0"/>
          </a:xfrm>
          <a:prstGeom prst="line">
            <a:avLst/>
          </a:prstGeom>
          <a:ln cap="rnd" w="9525">
            <a:solidFill>
              <a:srgbClr val="CC77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2" id="162"/>
          <p:cNvSpPr/>
          <p:nvPr/>
        </p:nvSpPr>
        <p:spPr>
          <a:xfrm rot="5040720">
            <a:off x="14468342" y="5554561"/>
            <a:ext cx="493424" cy="0"/>
          </a:xfrm>
          <a:prstGeom prst="line">
            <a:avLst/>
          </a:prstGeom>
          <a:ln cap="rnd" w="9525">
            <a:solidFill>
              <a:srgbClr val="CC77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3" id="163"/>
          <p:cNvSpPr/>
          <p:nvPr/>
        </p:nvSpPr>
        <p:spPr>
          <a:xfrm rot="5275800">
            <a:off x="14002512" y="6021267"/>
            <a:ext cx="1425073" cy="0"/>
          </a:xfrm>
          <a:prstGeom prst="line">
            <a:avLst/>
          </a:prstGeom>
          <a:ln cap="rnd" w="9525">
            <a:solidFill>
              <a:srgbClr val="CC77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4" id="164"/>
          <p:cNvGrpSpPr/>
          <p:nvPr/>
        </p:nvGrpSpPr>
        <p:grpSpPr>
          <a:xfrm rot="0">
            <a:off x="8812559" y="8922372"/>
            <a:ext cx="2539441" cy="1207951"/>
            <a:chOff x="0" y="0"/>
            <a:chExt cx="3385922" cy="1610601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385947" cy="1610614"/>
            </a:xfrm>
            <a:custGeom>
              <a:avLst/>
              <a:gdLst/>
              <a:ahLst/>
              <a:cxnLst/>
              <a:rect r="r" b="b" t="t" l="l"/>
              <a:pathLst>
                <a:path h="1610614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610614"/>
                  </a:lnTo>
                  <a:lnTo>
                    <a:pt x="0" y="1610614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9525"/>
              <a:ext cx="3385922" cy="1620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1"/>
                </a:lnSpc>
              </a:pPr>
              <a:r>
                <a:rPr lang="en-US" sz="127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"Company as a graph"</a:t>
              </a:r>
            </a:p>
            <a:p>
              <a:pPr algn="ctr">
                <a:lnSpc>
                  <a:spcPts val="1531"/>
                </a:lnSpc>
              </a:pPr>
              <a:r>
                <a:rPr lang="en-US" sz="127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Help Manage Software Dependency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30121" y="10095719"/>
            <a:ext cx="18037483" cy="398650"/>
            <a:chOff x="0" y="0"/>
            <a:chExt cx="24049977" cy="53153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9525" y="9525"/>
              <a:ext cx="24030939" cy="512445"/>
            </a:xfrm>
            <a:custGeom>
              <a:avLst/>
              <a:gdLst/>
              <a:ahLst/>
              <a:cxnLst/>
              <a:rect r="r" b="b" t="t" l="l"/>
              <a:pathLst>
                <a:path h="512445" w="24030939">
                  <a:moveTo>
                    <a:pt x="0" y="0"/>
                  </a:moveTo>
                  <a:lnTo>
                    <a:pt x="24030939" y="0"/>
                  </a:lnTo>
                  <a:lnTo>
                    <a:pt x="24030939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E8EAF0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4049989" cy="531495"/>
            </a:xfrm>
            <a:custGeom>
              <a:avLst/>
              <a:gdLst/>
              <a:ahLst/>
              <a:cxnLst/>
              <a:rect r="r" b="b" t="t" l="l"/>
              <a:pathLst>
                <a:path h="531495" w="24049989">
                  <a:moveTo>
                    <a:pt x="9525" y="0"/>
                  </a:moveTo>
                  <a:lnTo>
                    <a:pt x="24040464" y="0"/>
                  </a:lnTo>
                  <a:cubicBezTo>
                    <a:pt x="24045672" y="0"/>
                    <a:pt x="24049989" y="4318"/>
                    <a:pt x="24049989" y="9525"/>
                  </a:cubicBezTo>
                  <a:lnTo>
                    <a:pt x="24049989" y="521970"/>
                  </a:lnTo>
                  <a:cubicBezTo>
                    <a:pt x="24049989" y="527177"/>
                    <a:pt x="24045672" y="531495"/>
                    <a:pt x="24040464" y="531495"/>
                  </a:cubicBezTo>
                  <a:lnTo>
                    <a:pt x="9525" y="531495"/>
                  </a:lnTo>
                  <a:cubicBezTo>
                    <a:pt x="4318" y="531495"/>
                    <a:pt x="0" y="527177"/>
                    <a:pt x="0" y="52197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521970"/>
                  </a:lnTo>
                  <a:lnTo>
                    <a:pt x="9525" y="521970"/>
                  </a:lnTo>
                  <a:lnTo>
                    <a:pt x="9525" y="512445"/>
                  </a:lnTo>
                  <a:lnTo>
                    <a:pt x="24040464" y="512445"/>
                  </a:lnTo>
                  <a:lnTo>
                    <a:pt x="24040464" y="521970"/>
                  </a:lnTo>
                  <a:lnTo>
                    <a:pt x="24030939" y="521970"/>
                  </a:lnTo>
                  <a:lnTo>
                    <a:pt x="24030939" y="9525"/>
                  </a:lnTo>
                  <a:lnTo>
                    <a:pt x="24040464" y="9525"/>
                  </a:lnTo>
                  <a:lnTo>
                    <a:pt x="24040464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170" id="170"/>
          <p:cNvSpPr txBox="true"/>
          <p:nvPr/>
        </p:nvSpPr>
        <p:spPr>
          <a:xfrm rot="0">
            <a:off x="365979" y="10189769"/>
            <a:ext cx="17565776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i="true" spc="-1">
                <a:solidFill>
                  <a:srgbClr val="2C168A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Relationships:  M01–M03 → Ops (M04–M06)   |   M04–M06 → Partner/Data (M07, M08)   |   M07/M08 → Finance (M09, M10)   |   M09/M10 → External stakeholders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228705" y="10066230"/>
            <a:ext cx="17840306" cy="15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Copyright OPT2A © - Antoine Jeanjean 2025 - All rights reserved - www.opt2a.com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416473" cy="590817"/>
            <a:chOff x="0" y="0"/>
            <a:chExt cx="3221965" cy="787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525" y="9525"/>
              <a:ext cx="3202940" cy="768731"/>
            </a:xfrm>
            <a:custGeom>
              <a:avLst/>
              <a:gdLst/>
              <a:ahLst/>
              <a:cxnLst/>
              <a:rect r="r" b="b" t="t" l="l"/>
              <a:pathLst>
                <a:path h="76873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21990" cy="787781"/>
            </a:xfrm>
            <a:custGeom>
              <a:avLst/>
              <a:gdLst/>
              <a:ahLst/>
              <a:cxnLst/>
              <a:rect r="r" b="b" t="t" l="l"/>
              <a:pathLst>
                <a:path h="787781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778256"/>
                  </a:lnTo>
                  <a:cubicBezTo>
                    <a:pt x="3221990" y="783463"/>
                    <a:pt x="3217672" y="787781"/>
                    <a:pt x="3212465" y="787781"/>
                  </a:cubicBezTo>
                  <a:lnTo>
                    <a:pt x="9525" y="787781"/>
                  </a:lnTo>
                  <a:cubicBezTo>
                    <a:pt x="4318" y="787781"/>
                    <a:pt x="0" y="783463"/>
                    <a:pt x="0" y="77825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78256"/>
                  </a:lnTo>
                  <a:lnTo>
                    <a:pt x="9525" y="778256"/>
                  </a:lnTo>
                  <a:lnTo>
                    <a:pt x="9525" y="768731"/>
                  </a:lnTo>
                  <a:lnTo>
                    <a:pt x="3212465" y="768731"/>
                  </a:lnTo>
                  <a:lnTo>
                    <a:pt x="3212465" y="778256"/>
                  </a:lnTo>
                  <a:lnTo>
                    <a:pt x="3202940" y="778256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221965" cy="797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Input</a:t>
              </a:r>
            </a:p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(people or tools)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95023" y="-7153"/>
            <a:ext cx="13507669" cy="590817"/>
            <a:chOff x="0" y="0"/>
            <a:chExt cx="18010226" cy="78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7991201" cy="768731"/>
            </a:xfrm>
            <a:custGeom>
              <a:avLst/>
              <a:gdLst/>
              <a:ahLst/>
              <a:cxnLst/>
              <a:rect r="r" b="b" t="t" l="l"/>
              <a:pathLst>
                <a:path h="768731" w="17991201">
                  <a:moveTo>
                    <a:pt x="0" y="0"/>
                  </a:moveTo>
                  <a:lnTo>
                    <a:pt x="17991201" y="0"/>
                  </a:lnTo>
                  <a:lnTo>
                    <a:pt x="1799120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10251" cy="787781"/>
            </a:xfrm>
            <a:custGeom>
              <a:avLst/>
              <a:gdLst/>
              <a:ahLst/>
              <a:cxnLst/>
              <a:rect r="r" b="b" t="t" l="l"/>
              <a:pathLst>
                <a:path h="787781" w="18010251">
                  <a:moveTo>
                    <a:pt x="9525" y="0"/>
                  </a:moveTo>
                  <a:lnTo>
                    <a:pt x="18000726" y="0"/>
                  </a:lnTo>
                  <a:cubicBezTo>
                    <a:pt x="18005933" y="0"/>
                    <a:pt x="18010251" y="4318"/>
                    <a:pt x="18010251" y="9525"/>
                  </a:cubicBezTo>
                  <a:lnTo>
                    <a:pt x="18010251" y="778256"/>
                  </a:lnTo>
                  <a:cubicBezTo>
                    <a:pt x="18010251" y="783463"/>
                    <a:pt x="18005933" y="787781"/>
                    <a:pt x="18000726" y="787781"/>
                  </a:cubicBezTo>
                  <a:lnTo>
                    <a:pt x="9525" y="787781"/>
                  </a:lnTo>
                  <a:cubicBezTo>
                    <a:pt x="4318" y="787781"/>
                    <a:pt x="0" y="783463"/>
                    <a:pt x="0" y="77825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78256"/>
                  </a:lnTo>
                  <a:lnTo>
                    <a:pt x="9525" y="778256"/>
                  </a:lnTo>
                  <a:lnTo>
                    <a:pt x="9525" y="768731"/>
                  </a:lnTo>
                  <a:lnTo>
                    <a:pt x="18000726" y="768731"/>
                  </a:lnTo>
                  <a:lnTo>
                    <a:pt x="18000726" y="778256"/>
                  </a:lnTo>
                  <a:lnTo>
                    <a:pt x="17991201" y="778256"/>
                  </a:lnTo>
                  <a:lnTo>
                    <a:pt x="17991201" y="9525"/>
                  </a:lnTo>
                  <a:lnTo>
                    <a:pt x="18000726" y="9525"/>
                  </a:lnTo>
                  <a:lnTo>
                    <a:pt x="18000726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010226" cy="78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b="true" sz="1651" spc="-2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Module #1 : Customer App (iOS / Android)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88395" y="-7153"/>
            <a:ext cx="2416473" cy="590817"/>
            <a:chOff x="0" y="0"/>
            <a:chExt cx="3221965" cy="7877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525" y="9525"/>
              <a:ext cx="3202940" cy="768731"/>
            </a:xfrm>
            <a:custGeom>
              <a:avLst/>
              <a:gdLst/>
              <a:ahLst/>
              <a:cxnLst/>
              <a:rect r="r" b="b" t="t" l="l"/>
              <a:pathLst>
                <a:path h="76873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21990" cy="787781"/>
            </a:xfrm>
            <a:custGeom>
              <a:avLst/>
              <a:gdLst/>
              <a:ahLst/>
              <a:cxnLst/>
              <a:rect r="r" b="b" t="t" l="l"/>
              <a:pathLst>
                <a:path h="787781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778256"/>
                  </a:lnTo>
                  <a:cubicBezTo>
                    <a:pt x="3221990" y="783463"/>
                    <a:pt x="3217672" y="787781"/>
                    <a:pt x="3212465" y="787781"/>
                  </a:cubicBezTo>
                  <a:lnTo>
                    <a:pt x="9525" y="787781"/>
                  </a:lnTo>
                  <a:cubicBezTo>
                    <a:pt x="4318" y="787781"/>
                    <a:pt x="0" y="783463"/>
                    <a:pt x="0" y="77825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78256"/>
                  </a:lnTo>
                  <a:lnTo>
                    <a:pt x="9525" y="778256"/>
                  </a:lnTo>
                  <a:lnTo>
                    <a:pt x="9525" y="768731"/>
                  </a:lnTo>
                  <a:lnTo>
                    <a:pt x="3212465" y="768731"/>
                  </a:lnTo>
                  <a:lnTo>
                    <a:pt x="3212465" y="778256"/>
                  </a:lnTo>
                  <a:lnTo>
                    <a:pt x="3202940" y="778256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221965" cy="797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Output</a:t>
              </a:r>
            </a:p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(people or tools)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7153" y="569376"/>
            <a:ext cx="2416473" cy="755542"/>
            <a:chOff x="0" y="0"/>
            <a:chExt cx="3221965" cy="10073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1254" y="74998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Consumer / App User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7153" y="1310611"/>
            <a:ext cx="2416473" cy="755542"/>
            <a:chOff x="0" y="0"/>
            <a:chExt cx="3221965" cy="10073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01254" y="1491224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Store Location Data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7153" y="2051856"/>
            <a:ext cx="2416473" cy="755542"/>
            <a:chOff x="0" y="0"/>
            <a:chExt cx="3221965" cy="10073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01254" y="223246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Inventory API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-7153" y="2793101"/>
            <a:ext cx="2416473" cy="755542"/>
            <a:chOff x="0" y="0"/>
            <a:chExt cx="3221965" cy="10073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01254" y="2973715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Payment Gateway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-7153" y="3534346"/>
            <a:ext cx="2416473" cy="755542"/>
            <a:chOff x="0" y="0"/>
            <a:chExt cx="3221965" cy="10073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01254" y="3714960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Push Notification Svc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-7153" y="4275592"/>
            <a:ext cx="2416473" cy="755542"/>
            <a:chOff x="0" y="0"/>
            <a:chExt cx="3221965" cy="10073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-7153" y="5016827"/>
            <a:ext cx="2416473" cy="755542"/>
            <a:chOff x="0" y="0"/>
            <a:chExt cx="3221965" cy="100738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888395" y="569376"/>
            <a:ext cx="2416473" cy="755542"/>
            <a:chOff x="0" y="0"/>
            <a:chExt cx="3221965" cy="100738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6096802" y="74998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Reserved Surprise Bag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888395" y="1310611"/>
            <a:ext cx="2416473" cy="755542"/>
            <a:chOff x="0" y="0"/>
            <a:chExt cx="3221965" cy="10073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6096802" y="1491224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Order Confirmation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888395" y="2051856"/>
            <a:ext cx="2416473" cy="755542"/>
            <a:chOff x="0" y="0"/>
            <a:chExt cx="3221965" cy="10073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6096802" y="223246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Collection QR Code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5888395" y="2793101"/>
            <a:ext cx="2416473" cy="755542"/>
            <a:chOff x="0" y="0"/>
            <a:chExt cx="3221965" cy="10073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6096802" y="2973715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Transaction Record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5888395" y="3534346"/>
            <a:ext cx="2416473" cy="755542"/>
            <a:chOff x="0" y="0"/>
            <a:chExt cx="3221965" cy="100738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6096802" y="3714960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User Rating / Review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888395" y="4275592"/>
            <a:ext cx="2416473" cy="755542"/>
            <a:chOff x="0" y="0"/>
            <a:chExt cx="3221965" cy="10073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888395" y="5016827"/>
            <a:ext cx="2416473" cy="755542"/>
            <a:chOff x="0" y="0"/>
            <a:chExt cx="3221965" cy="100738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395023" y="569376"/>
            <a:ext cx="13507669" cy="5203003"/>
            <a:chOff x="0" y="0"/>
            <a:chExt cx="18010226" cy="693733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9525" y="9525"/>
              <a:ext cx="17991201" cy="6918325"/>
            </a:xfrm>
            <a:custGeom>
              <a:avLst/>
              <a:gdLst/>
              <a:ahLst/>
              <a:cxnLst/>
              <a:rect r="r" b="b" t="t" l="l"/>
              <a:pathLst>
                <a:path h="6918325" w="17991201">
                  <a:moveTo>
                    <a:pt x="0" y="0"/>
                  </a:moveTo>
                  <a:lnTo>
                    <a:pt x="17991201" y="0"/>
                  </a:lnTo>
                  <a:lnTo>
                    <a:pt x="17991201" y="6918325"/>
                  </a:lnTo>
                  <a:lnTo>
                    <a:pt x="0" y="69183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10251" cy="6937375"/>
            </a:xfrm>
            <a:custGeom>
              <a:avLst/>
              <a:gdLst/>
              <a:ahLst/>
              <a:cxnLst/>
              <a:rect r="r" b="b" t="t" l="l"/>
              <a:pathLst>
                <a:path h="6937375" w="18010251">
                  <a:moveTo>
                    <a:pt x="9525" y="0"/>
                  </a:moveTo>
                  <a:lnTo>
                    <a:pt x="18000726" y="0"/>
                  </a:lnTo>
                  <a:cubicBezTo>
                    <a:pt x="18005933" y="0"/>
                    <a:pt x="18010251" y="4318"/>
                    <a:pt x="18010251" y="9525"/>
                  </a:cubicBezTo>
                  <a:lnTo>
                    <a:pt x="18010251" y="6927850"/>
                  </a:lnTo>
                  <a:cubicBezTo>
                    <a:pt x="18010251" y="6933057"/>
                    <a:pt x="18005933" y="6937375"/>
                    <a:pt x="18000726" y="6937375"/>
                  </a:cubicBezTo>
                  <a:lnTo>
                    <a:pt x="9525" y="6937375"/>
                  </a:lnTo>
                  <a:cubicBezTo>
                    <a:pt x="4318" y="6937375"/>
                    <a:pt x="0" y="6933057"/>
                    <a:pt x="0" y="692785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6927850"/>
                  </a:lnTo>
                  <a:lnTo>
                    <a:pt x="9525" y="6927850"/>
                  </a:lnTo>
                  <a:lnTo>
                    <a:pt x="9525" y="6918325"/>
                  </a:lnTo>
                  <a:lnTo>
                    <a:pt x="18000726" y="6918325"/>
                  </a:lnTo>
                  <a:lnTo>
                    <a:pt x="18000726" y="6927850"/>
                  </a:lnTo>
                  <a:lnTo>
                    <a:pt x="17991201" y="6927850"/>
                  </a:lnTo>
                  <a:lnTo>
                    <a:pt x="17991201" y="9525"/>
                  </a:lnTo>
                  <a:lnTo>
                    <a:pt x="18000726" y="9525"/>
                  </a:lnTo>
                  <a:lnTo>
                    <a:pt x="18000726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2658342" y="804891"/>
            <a:ext cx="12981051" cy="477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Frequency of use : Daily — Multiple times per day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Functional description:</a:t>
            </a:r>
          </a:p>
          <a:p>
            <a:pPr algn="l">
              <a:lnSpc>
                <a:spcPts val="1621"/>
              </a:lnSpc>
            </a:pPr>
            <a:r>
              <a:rPr lang="en-US" sz="1351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Consumer-facing mobile app for discovering nearby Surprise Bags, reserving &amp; paying, then collecting at store. Provides real-time map, push notifications, order tracking and post-pickup ratings.</a:t>
            </a:r>
          </a:p>
        </p:txBody>
      </p:sp>
      <p:sp>
        <p:nvSpPr>
          <p:cNvPr name="AutoShape 72" id="72"/>
          <p:cNvSpPr/>
          <p:nvPr/>
        </p:nvSpPr>
        <p:spPr>
          <a:xfrm rot="357840">
            <a:off x="2183644" y="942384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3" id="73"/>
          <p:cNvSpPr/>
          <p:nvPr/>
        </p:nvSpPr>
        <p:spPr>
          <a:xfrm rot="357840">
            <a:off x="2183644" y="1683629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4" id="74"/>
          <p:cNvSpPr/>
          <p:nvPr/>
        </p:nvSpPr>
        <p:spPr>
          <a:xfrm rot="357840">
            <a:off x="2183644" y="242486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5" id="75"/>
          <p:cNvSpPr/>
          <p:nvPr/>
        </p:nvSpPr>
        <p:spPr>
          <a:xfrm rot="357840">
            <a:off x="2183644" y="3166110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" id="76"/>
          <p:cNvSpPr/>
          <p:nvPr/>
        </p:nvSpPr>
        <p:spPr>
          <a:xfrm rot="357840">
            <a:off x="2183644" y="390735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" id="77"/>
          <p:cNvSpPr/>
          <p:nvPr/>
        </p:nvSpPr>
        <p:spPr>
          <a:xfrm rot="357840">
            <a:off x="15677007" y="942384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8" id="78"/>
          <p:cNvSpPr/>
          <p:nvPr/>
        </p:nvSpPr>
        <p:spPr>
          <a:xfrm rot="357840">
            <a:off x="15677007" y="1683629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9" id="79"/>
          <p:cNvSpPr/>
          <p:nvPr/>
        </p:nvSpPr>
        <p:spPr>
          <a:xfrm rot="357840">
            <a:off x="15677007" y="242486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0" id="80"/>
          <p:cNvSpPr/>
          <p:nvPr/>
        </p:nvSpPr>
        <p:spPr>
          <a:xfrm rot="357840">
            <a:off x="15677007" y="3166110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1" id="81"/>
          <p:cNvSpPr/>
          <p:nvPr/>
        </p:nvSpPr>
        <p:spPr>
          <a:xfrm rot="357840">
            <a:off x="15677007" y="390735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2" id="82"/>
          <p:cNvGrpSpPr/>
          <p:nvPr/>
        </p:nvGrpSpPr>
        <p:grpSpPr>
          <a:xfrm rot="0">
            <a:off x="0" y="5765225"/>
            <a:ext cx="2402176" cy="1619755"/>
            <a:chOff x="0" y="0"/>
            <a:chExt cx="3202902" cy="215967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202940" cy="2159635"/>
            </a:xfrm>
            <a:custGeom>
              <a:avLst/>
              <a:gdLst/>
              <a:ahLst/>
              <a:cxnLst/>
              <a:rect r="r" b="b" t="t" l="l"/>
              <a:pathLst>
                <a:path h="2159635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202902" cy="2159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1"/>
                </a:lnSpc>
              </a:pPr>
              <a:r>
                <a:rPr lang="en-US" sz="112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Creation Date: 2024</a:t>
              </a:r>
            </a:p>
            <a:p>
              <a:pPr algn="l">
                <a:lnSpc>
                  <a:spcPts val="1351"/>
                </a:lnSpc>
              </a:pPr>
            </a:p>
            <a:p>
              <a:pPr algn="l">
                <a:lnSpc>
                  <a:spcPts val="1351"/>
                </a:lnSpc>
              </a:pPr>
              <a:r>
                <a:rPr lang="en-US" sz="112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Leader: Head of Product</a:t>
              </a:r>
            </a:p>
            <a:p>
              <a:pPr algn="l">
                <a:lnSpc>
                  <a:spcPts val="1351"/>
                </a:lnSpc>
              </a:pPr>
            </a:p>
            <a:p>
              <a:pPr algn="l">
                <a:lnSpc>
                  <a:spcPts val="1351"/>
                </a:lnSpc>
              </a:pPr>
              <a:r>
                <a:rPr lang="en-US" sz="112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Users: Consumers / App Users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402176" y="5765225"/>
            <a:ext cx="13493372" cy="1619755"/>
            <a:chOff x="0" y="0"/>
            <a:chExt cx="17991163" cy="215967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7991201" cy="2159635"/>
            </a:xfrm>
            <a:custGeom>
              <a:avLst/>
              <a:gdLst/>
              <a:ahLst/>
              <a:cxnLst/>
              <a:rect r="r" b="b" t="t" l="l"/>
              <a:pathLst>
                <a:path h="2159635" w="17991201">
                  <a:moveTo>
                    <a:pt x="0" y="0"/>
                  </a:moveTo>
                  <a:lnTo>
                    <a:pt x="17991201" y="0"/>
                  </a:lnTo>
                  <a:lnTo>
                    <a:pt x="17991201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17991163" cy="2169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Short term goals: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Reduce app load time &lt; 2s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Reach 50M active users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Medium term objectives: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Launch subscription model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Expand to 25 countries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895549" y="5765225"/>
            <a:ext cx="2402176" cy="615506"/>
            <a:chOff x="0" y="0"/>
            <a:chExt cx="3202902" cy="82067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202940" cy="820674"/>
            </a:xfrm>
            <a:custGeom>
              <a:avLst/>
              <a:gdLst/>
              <a:ahLst/>
              <a:cxnLst/>
              <a:rect r="r" b="b" t="t" l="l"/>
              <a:pathLst>
                <a:path h="82067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820674"/>
                  </a:lnTo>
                  <a:lnTo>
                    <a:pt x="0" y="820674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202902" cy="830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1"/>
                </a:lnSpc>
              </a:pPr>
              <a:r>
                <a:rPr lang="en-US" b="true" sz="1275" spc="-1">
                  <a:solidFill>
                    <a:srgbClr val="E1EFD8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Significance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5895549" y="6380731"/>
            <a:ext cx="2402176" cy="1004249"/>
            <a:chOff x="0" y="0"/>
            <a:chExt cx="3202902" cy="133899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02940" cy="1338961"/>
            </a:xfrm>
            <a:custGeom>
              <a:avLst/>
              <a:gdLst/>
              <a:ahLst/>
              <a:cxnLst/>
              <a:rect r="r" b="b" t="t" l="l"/>
              <a:pathLst>
                <a:path h="133896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1338961"/>
                  </a:lnTo>
                  <a:lnTo>
                    <a:pt x="0" y="1338961"/>
                  </a:lnTo>
                  <a:close/>
                </a:path>
              </a:pathLst>
            </a:custGeom>
            <a:solidFill>
              <a:srgbClr val="2C168A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6128616" y="6567954"/>
            <a:ext cx="343738" cy="343738"/>
            <a:chOff x="0" y="0"/>
            <a:chExt cx="458318" cy="45831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6526694" y="6567954"/>
            <a:ext cx="343738" cy="343738"/>
            <a:chOff x="0" y="0"/>
            <a:chExt cx="458318" cy="45831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6924763" y="6567954"/>
            <a:ext cx="343738" cy="343738"/>
            <a:chOff x="0" y="0"/>
            <a:chExt cx="458318" cy="45831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7322841" y="6567954"/>
            <a:ext cx="343738" cy="343738"/>
            <a:chOff x="0" y="0"/>
            <a:chExt cx="458318" cy="45831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7720910" y="6567954"/>
            <a:ext cx="343738" cy="343738"/>
            <a:chOff x="0" y="0"/>
            <a:chExt cx="458318" cy="45831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16069351" y="7041956"/>
            <a:ext cx="89810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i="true" spc="-1">
                <a:solidFill>
                  <a:srgbClr val="E1EFD8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- less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7067962" y="7041956"/>
            <a:ext cx="970169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70"/>
              </a:lnSpc>
            </a:pPr>
            <a:r>
              <a:rPr lang="en-US" sz="975" i="true" spc="-1">
                <a:solidFill>
                  <a:srgbClr val="E1EFD8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+ more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28705" y="10066230"/>
            <a:ext cx="17840306" cy="15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Copyright OPT2A © - Antoine Jeanjean 2025 - All rights reserved - www.opt2a.com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416473" cy="590817"/>
            <a:chOff x="0" y="0"/>
            <a:chExt cx="3221965" cy="787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525" y="9525"/>
              <a:ext cx="3202940" cy="768731"/>
            </a:xfrm>
            <a:custGeom>
              <a:avLst/>
              <a:gdLst/>
              <a:ahLst/>
              <a:cxnLst/>
              <a:rect r="r" b="b" t="t" l="l"/>
              <a:pathLst>
                <a:path h="76873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21990" cy="787781"/>
            </a:xfrm>
            <a:custGeom>
              <a:avLst/>
              <a:gdLst/>
              <a:ahLst/>
              <a:cxnLst/>
              <a:rect r="r" b="b" t="t" l="l"/>
              <a:pathLst>
                <a:path h="787781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778256"/>
                  </a:lnTo>
                  <a:cubicBezTo>
                    <a:pt x="3221990" y="783463"/>
                    <a:pt x="3217672" y="787781"/>
                    <a:pt x="3212465" y="787781"/>
                  </a:cubicBezTo>
                  <a:lnTo>
                    <a:pt x="9525" y="787781"/>
                  </a:lnTo>
                  <a:cubicBezTo>
                    <a:pt x="4318" y="787781"/>
                    <a:pt x="0" y="783463"/>
                    <a:pt x="0" y="77825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78256"/>
                  </a:lnTo>
                  <a:lnTo>
                    <a:pt x="9525" y="778256"/>
                  </a:lnTo>
                  <a:lnTo>
                    <a:pt x="9525" y="768731"/>
                  </a:lnTo>
                  <a:lnTo>
                    <a:pt x="3212465" y="768731"/>
                  </a:lnTo>
                  <a:lnTo>
                    <a:pt x="3212465" y="778256"/>
                  </a:lnTo>
                  <a:lnTo>
                    <a:pt x="3202940" y="778256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221965" cy="797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Input</a:t>
              </a:r>
            </a:p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(people or tools)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95023" y="-7153"/>
            <a:ext cx="13507669" cy="590817"/>
            <a:chOff x="0" y="0"/>
            <a:chExt cx="18010226" cy="78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7991201" cy="768731"/>
            </a:xfrm>
            <a:custGeom>
              <a:avLst/>
              <a:gdLst/>
              <a:ahLst/>
              <a:cxnLst/>
              <a:rect r="r" b="b" t="t" l="l"/>
              <a:pathLst>
                <a:path h="768731" w="17991201">
                  <a:moveTo>
                    <a:pt x="0" y="0"/>
                  </a:moveTo>
                  <a:lnTo>
                    <a:pt x="17991201" y="0"/>
                  </a:lnTo>
                  <a:lnTo>
                    <a:pt x="1799120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10251" cy="787781"/>
            </a:xfrm>
            <a:custGeom>
              <a:avLst/>
              <a:gdLst/>
              <a:ahLst/>
              <a:cxnLst/>
              <a:rect r="r" b="b" t="t" l="l"/>
              <a:pathLst>
                <a:path h="787781" w="18010251">
                  <a:moveTo>
                    <a:pt x="9525" y="0"/>
                  </a:moveTo>
                  <a:lnTo>
                    <a:pt x="18000726" y="0"/>
                  </a:lnTo>
                  <a:cubicBezTo>
                    <a:pt x="18005933" y="0"/>
                    <a:pt x="18010251" y="4318"/>
                    <a:pt x="18010251" y="9525"/>
                  </a:cubicBezTo>
                  <a:lnTo>
                    <a:pt x="18010251" y="778256"/>
                  </a:lnTo>
                  <a:cubicBezTo>
                    <a:pt x="18010251" y="783463"/>
                    <a:pt x="18005933" y="787781"/>
                    <a:pt x="18000726" y="787781"/>
                  </a:cubicBezTo>
                  <a:lnTo>
                    <a:pt x="9525" y="787781"/>
                  </a:lnTo>
                  <a:cubicBezTo>
                    <a:pt x="4318" y="787781"/>
                    <a:pt x="0" y="783463"/>
                    <a:pt x="0" y="77825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78256"/>
                  </a:lnTo>
                  <a:lnTo>
                    <a:pt x="9525" y="778256"/>
                  </a:lnTo>
                  <a:lnTo>
                    <a:pt x="9525" y="768731"/>
                  </a:lnTo>
                  <a:lnTo>
                    <a:pt x="18000726" y="768731"/>
                  </a:lnTo>
                  <a:lnTo>
                    <a:pt x="18000726" y="778256"/>
                  </a:lnTo>
                  <a:lnTo>
                    <a:pt x="17991201" y="778256"/>
                  </a:lnTo>
                  <a:lnTo>
                    <a:pt x="17991201" y="9525"/>
                  </a:lnTo>
                  <a:lnTo>
                    <a:pt x="18000726" y="9525"/>
                  </a:lnTo>
                  <a:lnTo>
                    <a:pt x="18000726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010226" cy="78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b="true" sz="1651" spc="-2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Module #4 : Surprise Bag Inventory Management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88395" y="-7153"/>
            <a:ext cx="2416473" cy="590817"/>
            <a:chOff x="0" y="0"/>
            <a:chExt cx="3221965" cy="7877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525" y="9525"/>
              <a:ext cx="3202940" cy="768731"/>
            </a:xfrm>
            <a:custGeom>
              <a:avLst/>
              <a:gdLst/>
              <a:ahLst/>
              <a:cxnLst/>
              <a:rect r="r" b="b" t="t" l="l"/>
              <a:pathLst>
                <a:path h="76873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21990" cy="787781"/>
            </a:xfrm>
            <a:custGeom>
              <a:avLst/>
              <a:gdLst/>
              <a:ahLst/>
              <a:cxnLst/>
              <a:rect r="r" b="b" t="t" l="l"/>
              <a:pathLst>
                <a:path h="787781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778256"/>
                  </a:lnTo>
                  <a:cubicBezTo>
                    <a:pt x="3221990" y="783463"/>
                    <a:pt x="3217672" y="787781"/>
                    <a:pt x="3212465" y="787781"/>
                  </a:cubicBezTo>
                  <a:lnTo>
                    <a:pt x="9525" y="787781"/>
                  </a:lnTo>
                  <a:cubicBezTo>
                    <a:pt x="4318" y="787781"/>
                    <a:pt x="0" y="783463"/>
                    <a:pt x="0" y="77825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78256"/>
                  </a:lnTo>
                  <a:lnTo>
                    <a:pt x="9525" y="778256"/>
                  </a:lnTo>
                  <a:lnTo>
                    <a:pt x="9525" y="768731"/>
                  </a:lnTo>
                  <a:lnTo>
                    <a:pt x="3212465" y="768731"/>
                  </a:lnTo>
                  <a:lnTo>
                    <a:pt x="3212465" y="778256"/>
                  </a:lnTo>
                  <a:lnTo>
                    <a:pt x="3202940" y="778256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221965" cy="797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Output</a:t>
              </a:r>
            </a:p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(people or tools)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7153" y="569376"/>
            <a:ext cx="2416473" cy="755542"/>
            <a:chOff x="0" y="0"/>
            <a:chExt cx="3221965" cy="10073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1254" y="74998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Partner Store Staff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7153" y="1310611"/>
            <a:ext cx="2416473" cy="755542"/>
            <a:chOff x="0" y="0"/>
            <a:chExt cx="3221965" cy="10073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01254" y="1491224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POS System Data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7153" y="2051856"/>
            <a:ext cx="2416473" cy="755542"/>
            <a:chOff x="0" y="0"/>
            <a:chExt cx="3221965" cy="10073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01254" y="223246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IoT / Kitchen Scale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-7153" y="2793101"/>
            <a:ext cx="2416473" cy="755542"/>
            <a:chOff x="0" y="0"/>
            <a:chExt cx="3221965" cy="10073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01254" y="2973715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Manual Entry Form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-7153" y="3534346"/>
            <a:ext cx="2416473" cy="755542"/>
            <a:chOff x="0" y="0"/>
            <a:chExt cx="3221965" cy="10073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01254" y="3714960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Scheduled Batch Jobs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-7153" y="4275592"/>
            <a:ext cx="2416473" cy="755542"/>
            <a:chOff x="0" y="0"/>
            <a:chExt cx="3221965" cy="10073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-7153" y="5016827"/>
            <a:ext cx="2416473" cy="755542"/>
            <a:chOff x="0" y="0"/>
            <a:chExt cx="3221965" cy="100738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888395" y="569376"/>
            <a:ext cx="2416473" cy="755542"/>
            <a:chOff x="0" y="0"/>
            <a:chExt cx="3221965" cy="100738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6096802" y="74998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Live Bag Availability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888395" y="1310611"/>
            <a:ext cx="2416473" cy="755542"/>
            <a:chOff x="0" y="0"/>
            <a:chExt cx="3221965" cy="10073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6096802" y="1491224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Inventory DB Record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888395" y="2051856"/>
            <a:ext cx="2416473" cy="755542"/>
            <a:chOff x="0" y="0"/>
            <a:chExt cx="3221965" cy="10073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6096802" y="223246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Analytics Feed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5888395" y="2793101"/>
            <a:ext cx="2416473" cy="755542"/>
            <a:chOff x="0" y="0"/>
            <a:chExt cx="3221965" cy="10073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6096802" y="2973715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Waste Reduction KPI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5888395" y="3534346"/>
            <a:ext cx="2416473" cy="755542"/>
            <a:chOff x="0" y="0"/>
            <a:chExt cx="3221965" cy="100738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6096802" y="3714960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Stock-out Alert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888395" y="4275592"/>
            <a:ext cx="2416473" cy="755542"/>
            <a:chOff x="0" y="0"/>
            <a:chExt cx="3221965" cy="10073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888395" y="5016827"/>
            <a:ext cx="2416473" cy="755542"/>
            <a:chOff x="0" y="0"/>
            <a:chExt cx="3221965" cy="100738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395023" y="569376"/>
            <a:ext cx="13507669" cy="5203003"/>
            <a:chOff x="0" y="0"/>
            <a:chExt cx="18010226" cy="693733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9525" y="9525"/>
              <a:ext cx="17991201" cy="6918325"/>
            </a:xfrm>
            <a:custGeom>
              <a:avLst/>
              <a:gdLst/>
              <a:ahLst/>
              <a:cxnLst/>
              <a:rect r="r" b="b" t="t" l="l"/>
              <a:pathLst>
                <a:path h="6918325" w="17991201">
                  <a:moveTo>
                    <a:pt x="0" y="0"/>
                  </a:moveTo>
                  <a:lnTo>
                    <a:pt x="17991201" y="0"/>
                  </a:lnTo>
                  <a:lnTo>
                    <a:pt x="17991201" y="6918325"/>
                  </a:lnTo>
                  <a:lnTo>
                    <a:pt x="0" y="69183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10251" cy="6937375"/>
            </a:xfrm>
            <a:custGeom>
              <a:avLst/>
              <a:gdLst/>
              <a:ahLst/>
              <a:cxnLst/>
              <a:rect r="r" b="b" t="t" l="l"/>
              <a:pathLst>
                <a:path h="6937375" w="18010251">
                  <a:moveTo>
                    <a:pt x="9525" y="0"/>
                  </a:moveTo>
                  <a:lnTo>
                    <a:pt x="18000726" y="0"/>
                  </a:lnTo>
                  <a:cubicBezTo>
                    <a:pt x="18005933" y="0"/>
                    <a:pt x="18010251" y="4318"/>
                    <a:pt x="18010251" y="9525"/>
                  </a:cubicBezTo>
                  <a:lnTo>
                    <a:pt x="18010251" y="6927850"/>
                  </a:lnTo>
                  <a:cubicBezTo>
                    <a:pt x="18010251" y="6933057"/>
                    <a:pt x="18005933" y="6937375"/>
                    <a:pt x="18000726" y="6937375"/>
                  </a:cubicBezTo>
                  <a:lnTo>
                    <a:pt x="9525" y="6937375"/>
                  </a:lnTo>
                  <a:cubicBezTo>
                    <a:pt x="4318" y="6937375"/>
                    <a:pt x="0" y="6933057"/>
                    <a:pt x="0" y="692785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6927850"/>
                  </a:lnTo>
                  <a:lnTo>
                    <a:pt x="9525" y="6927850"/>
                  </a:lnTo>
                  <a:lnTo>
                    <a:pt x="9525" y="6918325"/>
                  </a:lnTo>
                  <a:lnTo>
                    <a:pt x="18000726" y="6918325"/>
                  </a:lnTo>
                  <a:lnTo>
                    <a:pt x="18000726" y="6927850"/>
                  </a:lnTo>
                  <a:lnTo>
                    <a:pt x="17991201" y="6927850"/>
                  </a:lnTo>
                  <a:lnTo>
                    <a:pt x="17991201" y="9525"/>
                  </a:lnTo>
                  <a:lnTo>
                    <a:pt x="18000726" y="9525"/>
                  </a:lnTo>
                  <a:lnTo>
                    <a:pt x="18000726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2658342" y="804891"/>
            <a:ext cx="12981051" cy="477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Frequency of use : Real-time — Continuous updates from 150,000+ partner stores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Functional description:</a:t>
            </a:r>
          </a:p>
          <a:p>
            <a:pPr algn="l">
              <a:lnSpc>
                <a:spcPts val="1621"/>
              </a:lnSpc>
            </a:pPr>
            <a:r>
              <a:rPr lang="en-US" sz="1351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Manages each Surprise Bag listing: creation by partner staff, real-time quantity tracking, automatic deactivation when sold out, and synchronisation across all consumer-facing channels.</a:t>
            </a:r>
          </a:p>
        </p:txBody>
      </p:sp>
      <p:sp>
        <p:nvSpPr>
          <p:cNvPr name="AutoShape 72" id="72"/>
          <p:cNvSpPr/>
          <p:nvPr/>
        </p:nvSpPr>
        <p:spPr>
          <a:xfrm rot="357840">
            <a:off x="2183644" y="942384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3" id="73"/>
          <p:cNvSpPr/>
          <p:nvPr/>
        </p:nvSpPr>
        <p:spPr>
          <a:xfrm rot="357840">
            <a:off x="2183644" y="1683629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4" id="74"/>
          <p:cNvSpPr/>
          <p:nvPr/>
        </p:nvSpPr>
        <p:spPr>
          <a:xfrm rot="357840">
            <a:off x="2183644" y="242486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5" id="75"/>
          <p:cNvSpPr/>
          <p:nvPr/>
        </p:nvSpPr>
        <p:spPr>
          <a:xfrm rot="357840">
            <a:off x="2183644" y="3166110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" id="76"/>
          <p:cNvSpPr/>
          <p:nvPr/>
        </p:nvSpPr>
        <p:spPr>
          <a:xfrm rot="357840">
            <a:off x="2183644" y="390735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" id="77"/>
          <p:cNvSpPr/>
          <p:nvPr/>
        </p:nvSpPr>
        <p:spPr>
          <a:xfrm rot="357840">
            <a:off x="15677007" y="942384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8" id="78"/>
          <p:cNvSpPr/>
          <p:nvPr/>
        </p:nvSpPr>
        <p:spPr>
          <a:xfrm rot="357840">
            <a:off x="15677007" y="1683629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9" id="79"/>
          <p:cNvSpPr/>
          <p:nvPr/>
        </p:nvSpPr>
        <p:spPr>
          <a:xfrm rot="357840">
            <a:off x="15677007" y="242486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0" id="80"/>
          <p:cNvSpPr/>
          <p:nvPr/>
        </p:nvSpPr>
        <p:spPr>
          <a:xfrm rot="357840">
            <a:off x="15677007" y="3166110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1" id="81"/>
          <p:cNvSpPr/>
          <p:nvPr/>
        </p:nvSpPr>
        <p:spPr>
          <a:xfrm rot="357840">
            <a:off x="15677007" y="390735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2" id="82"/>
          <p:cNvGrpSpPr/>
          <p:nvPr/>
        </p:nvGrpSpPr>
        <p:grpSpPr>
          <a:xfrm rot="0">
            <a:off x="0" y="5765225"/>
            <a:ext cx="2402176" cy="1619755"/>
            <a:chOff x="0" y="0"/>
            <a:chExt cx="3202902" cy="215967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202940" cy="2159635"/>
            </a:xfrm>
            <a:custGeom>
              <a:avLst/>
              <a:gdLst/>
              <a:ahLst/>
              <a:cxnLst/>
              <a:rect r="r" b="b" t="t" l="l"/>
              <a:pathLst>
                <a:path h="2159635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202902" cy="2159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1"/>
                </a:lnSpc>
              </a:pPr>
              <a:r>
                <a:rPr lang="en-US" sz="112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Creation Date: 2024</a:t>
              </a:r>
            </a:p>
            <a:p>
              <a:pPr algn="l">
                <a:lnSpc>
                  <a:spcPts val="1351"/>
                </a:lnSpc>
              </a:pPr>
            </a:p>
            <a:p>
              <a:pPr algn="l">
                <a:lnSpc>
                  <a:spcPts val="1351"/>
                </a:lnSpc>
              </a:pPr>
              <a:r>
                <a:rPr lang="en-US" sz="112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Leader: VP Operations</a:t>
              </a:r>
            </a:p>
            <a:p>
              <a:pPr algn="l">
                <a:lnSpc>
                  <a:spcPts val="1351"/>
                </a:lnSpc>
              </a:pPr>
            </a:p>
            <a:p>
              <a:pPr algn="l">
                <a:lnSpc>
                  <a:spcPts val="1351"/>
                </a:lnSpc>
              </a:pPr>
              <a:r>
                <a:rPr lang="en-US" sz="112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Users: Partner Store Managers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402176" y="5765225"/>
            <a:ext cx="13493372" cy="1619755"/>
            <a:chOff x="0" y="0"/>
            <a:chExt cx="17991163" cy="215967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7991201" cy="2159635"/>
            </a:xfrm>
            <a:custGeom>
              <a:avLst/>
              <a:gdLst/>
              <a:ahLst/>
              <a:cxnLst/>
              <a:rect r="r" b="b" t="t" l="l"/>
              <a:pathLst>
                <a:path h="2159635" w="17991201">
                  <a:moveTo>
                    <a:pt x="0" y="0"/>
                  </a:moveTo>
                  <a:lnTo>
                    <a:pt x="17991201" y="0"/>
                  </a:lnTo>
                  <a:lnTo>
                    <a:pt x="17991201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17991163" cy="2169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Short term goals: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Sync latency &lt; 500ms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Reduce stock-outs by 30%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Medium term objectives: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ML-based demand forecasting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Integrate all POS systems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895549" y="5765225"/>
            <a:ext cx="2402176" cy="615506"/>
            <a:chOff x="0" y="0"/>
            <a:chExt cx="3202902" cy="82067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202940" cy="820674"/>
            </a:xfrm>
            <a:custGeom>
              <a:avLst/>
              <a:gdLst/>
              <a:ahLst/>
              <a:cxnLst/>
              <a:rect r="r" b="b" t="t" l="l"/>
              <a:pathLst>
                <a:path h="82067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820674"/>
                  </a:lnTo>
                  <a:lnTo>
                    <a:pt x="0" y="820674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202902" cy="830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1"/>
                </a:lnSpc>
              </a:pPr>
              <a:r>
                <a:rPr lang="en-US" b="true" sz="1275" spc="-1">
                  <a:solidFill>
                    <a:srgbClr val="E1EFD8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Significance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5895549" y="6380731"/>
            <a:ext cx="2402176" cy="1004249"/>
            <a:chOff x="0" y="0"/>
            <a:chExt cx="3202902" cy="133899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02940" cy="1338961"/>
            </a:xfrm>
            <a:custGeom>
              <a:avLst/>
              <a:gdLst/>
              <a:ahLst/>
              <a:cxnLst/>
              <a:rect r="r" b="b" t="t" l="l"/>
              <a:pathLst>
                <a:path h="133896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1338961"/>
                  </a:lnTo>
                  <a:lnTo>
                    <a:pt x="0" y="1338961"/>
                  </a:lnTo>
                  <a:close/>
                </a:path>
              </a:pathLst>
            </a:custGeom>
            <a:solidFill>
              <a:srgbClr val="2C168A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6128616" y="6567954"/>
            <a:ext cx="343738" cy="343738"/>
            <a:chOff x="0" y="0"/>
            <a:chExt cx="458318" cy="45831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6526694" y="6567954"/>
            <a:ext cx="343738" cy="343738"/>
            <a:chOff x="0" y="0"/>
            <a:chExt cx="458318" cy="45831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6924763" y="6567954"/>
            <a:ext cx="343738" cy="343738"/>
            <a:chOff x="0" y="0"/>
            <a:chExt cx="458318" cy="45831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7322841" y="6567954"/>
            <a:ext cx="343738" cy="343738"/>
            <a:chOff x="0" y="0"/>
            <a:chExt cx="458318" cy="45831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7720910" y="6567954"/>
            <a:ext cx="343738" cy="343738"/>
            <a:chOff x="0" y="0"/>
            <a:chExt cx="458318" cy="45831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16069351" y="7041956"/>
            <a:ext cx="89810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i="true" spc="-1">
                <a:solidFill>
                  <a:srgbClr val="E1EFD8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- less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7067962" y="7041956"/>
            <a:ext cx="970169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70"/>
              </a:lnSpc>
            </a:pPr>
            <a:r>
              <a:rPr lang="en-US" sz="975" i="true" spc="-1">
                <a:solidFill>
                  <a:srgbClr val="E1EFD8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+ more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28705" y="10066230"/>
            <a:ext cx="17840306" cy="15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Copyright OPT2A © - Antoine Jeanjean 2025 - All rights reserved - www.opt2a.com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416473" cy="590817"/>
            <a:chOff x="0" y="0"/>
            <a:chExt cx="3221965" cy="787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9525" y="9525"/>
              <a:ext cx="3202940" cy="768731"/>
            </a:xfrm>
            <a:custGeom>
              <a:avLst/>
              <a:gdLst/>
              <a:ahLst/>
              <a:cxnLst/>
              <a:rect r="r" b="b" t="t" l="l"/>
              <a:pathLst>
                <a:path h="76873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21990" cy="787781"/>
            </a:xfrm>
            <a:custGeom>
              <a:avLst/>
              <a:gdLst/>
              <a:ahLst/>
              <a:cxnLst/>
              <a:rect r="r" b="b" t="t" l="l"/>
              <a:pathLst>
                <a:path h="787781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778256"/>
                  </a:lnTo>
                  <a:cubicBezTo>
                    <a:pt x="3221990" y="783463"/>
                    <a:pt x="3217672" y="787781"/>
                    <a:pt x="3212465" y="787781"/>
                  </a:cubicBezTo>
                  <a:lnTo>
                    <a:pt x="9525" y="787781"/>
                  </a:lnTo>
                  <a:cubicBezTo>
                    <a:pt x="4318" y="787781"/>
                    <a:pt x="0" y="783463"/>
                    <a:pt x="0" y="77825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78256"/>
                  </a:lnTo>
                  <a:lnTo>
                    <a:pt x="9525" y="778256"/>
                  </a:lnTo>
                  <a:lnTo>
                    <a:pt x="9525" y="768731"/>
                  </a:lnTo>
                  <a:lnTo>
                    <a:pt x="3212465" y="768731"/>
                  </a:lnTo>
                  <a:lnTo>
                    <a:pt x="3212465" y="778256"/>
                  </a:lnTo>
                  <a:lnTo>
                    <a:pt x="3202940" y="778256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221965" cy="797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Input</a:t>
              </a:r>
            </a:p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(people or tools)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95023" y="-7153"/>
            <a:ext cx="13507669" cy="590817"/>
            <a:chOff x="0" y="0"/>
            <a:chExt cx="18010226" cy="78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25" y="9525"/>
              <a:ext cx="17991201" cy="768731"/>
            </a:xfrm>
            <a:custGeom>
              <a:avLst/>
              <a:gdLst/>
              <a:ahLst/>
              <a:cxnLst/>
              <a:rect r="r" b="b" t="t" l="l"/>
              <a:pathLst>
                <a:path h="768731" w="17991201">
                  <a:moveTo>
                    <a:pt x="0" y="0"/>
                  </a:moveTo>
                  <a:lnTo>
                    <a:pt x="17991201" y="0"/>
                  </a:lnTo>
                  <a:lnTo>
                    <a:pt x="1799120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10251" cy="787781"/>
            </a:xfrm>
            <a:custGeom>
              <a:avLst/>
              <a:gdLst/>
              <a:ahLst/>
              <a:cxnLst/>
              <a:rect r="r" b="b" t="t" l="l"/>
              <a:pathLst>
                <a:path h="787781" w="18010251">
                  <a:moveTo>
                    <a:pt x="9525" y="0"/>
                  </a:moveTo>
                  <a:lnTo>
                    <a:pt x="18000726" y="0"/>
                  </a:lnTo>
                  <a:cubicBezTo>
                    <a:pt x="18005933" y="0"/>
                    <a:pt x="18010251" y="4318"/>
                    <a:pt x="18010251" y="9525"/>
                  </a:cubicBezTo>
                  <a:lnTo>
                    <a:pt x="18010251" y="778256"/>
                  </a:lnTo>
                  <a:cubicBezTo>
                    <a:pt x="18010251" y="783463"/>
                    <a:pt x="18005933" y="787781"/>
                    <a:pt x="18000726" y="787781"/>
                  </a:cubicBezTo>
                  <a:lnTo>
                    <a:pt x="9525" y="787781"/>
                  </a:lnTo>
                  <a:cubicBezTo>
                    <a:pt x="4318" y="787781"/>
                    <a:pt x="0" y="783463"/>
                    <a:pt x="0" y="77825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78256"/>
                  </a:lnTo>
                  <a:lnTo>
                    <a:pt x="9525" y="778256"/>
                  </a:lnTo>
                  <a:lnTo>
                    <a:pt x="9525" y="768731"/>
                  </a:lnTo>
                  <a:lnTo>
                    <a:pt x="18000726" y="768731"/>
                  </a:lnTo>
                  <a:lnTo>
                    <a:pt x="18000726" y="778256"/>
                  </a:lnTo>
                  <a:lnTo>
                    <a:pt x="17991201" y="778256"/>
                  </a:lnTo>
                  <a:lnTo>
                    <a:pt x="17991201" y="9525"/>
                  </a:lnTo>
                  <a:lnTo>
                    <a:pt x="18000726" y="9525"/>
                  </a:lnTo>
                  <a:lnTo>
                    <a:pt x="18000726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010226" cy="78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b="true" sz="1651" spc="-2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Module #10 : Impact &amp; CO₂ Tracker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888395" y="-7153"/>
            <a:ext cx="2416473" cy="590817"/>
            <a:chOff x="0" y="0"/>
            <a:chExt cx="3221965" cy="7877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525" y="9525"/>
              <a:ext cx="3202940" cy="768731"/>
            </a:xfrm>
            <a:custGeom>
              <a:avLst/>
              <a:gdLst/>
              <a:ahLst/>
              <a:cxnLst/>
              <a:rect r="r" b="b" t="t" l="l"/>
              <a:pathLst>
                <a:path h="76873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21990" cy="787781"/>
            </a:xfrm>
            <a:custGeom>
              <a:avLst/>
              <a:gdLst/>
              <a:ahLst/>
              <a:cxnLst/>
              <a:rect r="r" b="b" t="t" l="l"/>
              <a:pathLst>
                <a:path h="787781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778256"/>
                  </a:lnTo>
                  <a:cubicBezTo>
                    <a:pt x="3221990" y="783463"/>
                    <a:pt x="3217672" y="787781"/>
                    <a:pt x="3212465" y="787781"/>
                  </a:cubicBezTo>
                  <a:lnTo>
                    <a:pt x="9525" y="787781"/>
                  </a:lnTo>
                  <a:cubicBezTo>
                    <a:pt x="4318" y="787781"/>
                    <a:pt x="0" y="783463"/>
                    <a:pt x="0" y="778256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778256"/>
                  </a:lnTo>
                  <a:lnTo>
                    <a:pt x="9525" y="778256"/>
                  </a:lnTo>
                  <a:lnTo>
                    <a:pt x="9525" y="768731"/>
                  </a:lnTo>
                  <a:lnTo>
                    <a:pt x="3212465" y="768731"/>
                  </a:lnTo>
                  <a:lnTo>
                    <a:pt x="3212465" y="778256"/>
                  </a:lnTo>
                  <a:lnTo>
                    <a:pt x="3202940" y="778256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221965" cy="797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Output</a:t>
              </a:r>
            </a:p>
            <a:p>
              <a:pPr algn="ctr">
                <a:lnSpc>
                  <a:spcPts val="1621"/>
                </a:lnSpc>
              </a:pPr>
              <a:r>
                <a:rPr lang="en-US" b="true" sz="1351" spc="-1">
                  <a:solidFill>
                    <a:srgbClr val="FFFFFF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(people or tools)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7153" y="569376"/>
            <a:ext cx="2416473" cy="755542"/>
            <a:chOff x="0" y="0"/>
            <a:chExt cx="3221965" cy="10073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1254" y="74998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Completed Transaction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7153" y="1310611"/>
            <a:ext cx="2416473" cy="755542"/>
            <a:chOff x="0" y="0"/>
            <a:chExt cx="3221965" cy="10073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01254" y="1491224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Food Category DB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7153" y="2051856"/>
            <a:ext cx="2416473" cy="755542"/>
            <a:chOff x="0" y="0"/>
            <a:chExt cx="3221965" cy="10073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01254" y="223246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Weight / Quantity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-7153" y="2793101"/>
            <a:ext cx="2416473" cy="755542"/>
            <a:chOff x="0" y="0"/>
            <a:chExt cx="3221965" cy="10073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01254" y="2973715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Carbon Reference DB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-7153" y="3534346"/>
            <a:ext cx="2416473" cy="755542"/>
            <a:chOff x="0" y="0"/>
            <a:chExt cx="3221965" cy="10073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01254" y="3714960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Partner Location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-7153" y="4275592"/>
            <a:ext cx="2416473" cy="755542"/>
            <a:chOff x="0" y="0"/>
            <a:chExt cx="3221965" cy="10073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-7153" y="5016827"/>
            <a:ext cx="2416473" cy="755542"/>
            <a:chOff x="0" y="0"/>
            <a:chExt cx="3221965" cy="100738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888395" y="569376"/>
            <a:ext cx="2416473" cy="755542"/>
            <a:chOff x="0" y="0"/>
            <a:chExt cx="3221965" cy="100738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6096802" y="74998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CO₂ Saved per Meal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5888395" y="1310611"/>
            <a:ext cx="2416473" cy="755542"/>
            <a:chOff x="0" y="0"/>
            <a:chExt cx="3221965" cy="100738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6096802" y="1491224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Cumulative Impact Score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5888395" y="2051856"/>
            <a:ext cx="2416473" cy="755542"/>
            <a:chOff x="0" y="0"/>
            <a:chExt cx="3221965" cy="10073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6096802" y="2232469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User Impact Badge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5888395" y="2793101"/>
            <a:ext cx="2416473" cy="755542"/>
            <a:chOff x="0" y="0"/>
            <a:chExt cx="3221965" cy="10073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6096802" y="2973715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ESG / B-Corp Report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5888395" y="3534346"/>
            <a:ext cx="2416473" cy="755542"/>
            <a:chOff x="0" y="0"/>
            <a:chExt cx="3221965" cy="100738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6096802" y="3714960"/>
            <a:ext cx="2054581" cy="49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City-level Dashboard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888395" y="4275592"/>
            <a:ext cx="2416473" cy="755542"/>
            <a:chOff x="0" y="0"/>
            <a:chExt cx="3221965" cy="10073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888395" y="5016827"/>
            <a:ext cx="2416473" cy="755542"/>
            <a:chOff x="0" y="0"/>
            <a:chExt cx="3221965" cy="100738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9525" y="9525"/>
              <a:ext cx="3202940" cy="988314"/>
            </a:xfrm>
            <a:custGeom>
              <a:avLst/>
              <a:gdLst/>
              <a:ahLst/>
              <a:cxnLst/>
              <a:rect r="r" b="b" t="t" l="l"/>
              <a:pathLst>
                <a:path h="98831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988314"/>
                  </a:lnTo>
                  <a:lnTo>
                    <a:pt x="0" y="9883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21990" cy="1007364"/>
            </a:xfrm>
            <a:custGeom>
              <a:avLst/>
              <a:gdLst/>
              <a:ahLst/>
              <a:cxnLst/>
              <a:rect r="r" b="b" t="t" l="l"/>
              <a:pathLst>
                <a:path h="1007364" w="3221990">
                  <a:moveTo>
                    <a:pt x="9525" y="0"/>
                  </a:moveTo>
                  <a:lnTo>
                    <a:pt x="3212465" y="0"/>
                  </a:lnTo>
                  <a:cubicBezTo>
                    <a:pt x="3217672" y="0"/>
                    <a:pt x="3221990" y="4318"/>
                    <a:pt x="3221990" y="9525"/>
                  </a:cubicBezTo>
                  <a:lnTo>
                    <a:pt x="3221990" y="997839"/>
                  </a:lnTo>
                  <a:cubicBezTo>
                    <a:pt x="3221990" y="1003046"/>
                    <a:pt x="3217672" y="1007364"/>
                    <a:pt x="3212465" y="1007364"/>
                  </a:cubicBezTo>
                  <a:lnTo>
                    <a:pt x="9525" y="1007364"/>
                  </a:lnTo>
                  <a:cubicBezTo>
                    <a:pt x="4318" y="1007364"/>
                    <a:pt x="0" y="1003046"/>
                    <a:pt x="0" y="997839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997839"/>
                  </a:lnTo>
                  <a:lnTo>
                    <a:pt x="9525" y="997839"/>
                  </a:lnTo>
                  <a:lnTo>
                    <a:pt x="9525" y="988314"/>
                  </a:lnTo>
                  <a:lnTo>
                    <a:pt x="3212465" y="988314"/>
                  </a:lnTo>
                  <a:lnTo>
                    <a:pt x="3212465" y="997839"/>
                  </a:lnTo>
                  <a:lnTo>
                    <a:pt x="3202940" y="997839"/>
                  </a:lnTo>
                  <a:lnTo>
                    <a:pt x="3202940" y="9525"/>
                  </a:lnTo>
                  <a:lnTo>
                    <a:pt x="3212465" y="9525"/>
                  </a:lnTo>
                  <a:lnTo>
                    <a:pt x="321246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395023" y="569376"/>
            <a:ext cx="13507669" cy="5203003"/>
            <a:chOff x="0" y="0"/>
            <a:chExt cx="18010226" cy="693733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9525" y="9525"/>
              <a:ext cx="17991201" cy="6918325"/>
            </a:xfrm>
            <a:custGeom>
              <a:avLst/>
              <a:gdLst/>
              <a:ahLst/>
              <a:cxnLst/>
              <a:rect r="r" b="b" t="t" l="l"/>
              <a:pathLst>
                <a:path h="6918325" w="17991201">
                  <a:moveTo>
                    <a:pt x="0" y="0"/>
                  </a:moveTo>
                  <a:lnTo>
                    <a:pt x="17991201" y="0"/>
                  </a:lnTo>
                  <a:lnTo>
                    <a:pt x="17991201" y="6918325"/>
                  </a:lnTo>
                  <a:lnTo>
                    <a:pt x="0" y="69183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10251" cy="6937375"/>
            </a:xfrm>
            <a:custGeom>
              <a:avLst/>
              <a:gdLst/>
              <a:ahLst/>
              <a:cxnLst/>
              <a:rect r="r" b="b" t="t" l="l"/>
              <a:pathLst>
                <a:path h="6937375" w="18010251">
                  <a:moveTo>
                    <a:pt x="9525" y="0"/>
                  </a:moveTo>
                  <a:lnTo>
                    <a:pt x="18000726" y="0"/>
                  </a:lnTo>
                  <a:cubicBezTo>
                    <a:pt x="18005933" y="0"/>
                    <a:pt x="18010251" y="4318"/>
                    <a:pt x="18010251" y="9525"/>
                  </a:cubicBezTo>
                  <a:lnTo>
                    <a:pt x="18010251" y="6927850"/>
                  </a:lnTo>
                  <a:cubicBezTo>
                    <a:pt x="18010251" y="6933057"/>
                    <a:pt x="18005933" y="6937375"/>
                    <a:pt x="18000726" y="6937375"/>
                  </a:cubicBezTo>
                  <a:lnTo>
                    <a:pt x="9525" y="6937375"/>
                  </a:lnTo>
                  <a:cubicBezTo>
                    <a:pt x="4318" y="6937375"/>
                    <a:pt x="0" y="6933057"/>
                    <a:pt x="0" y="6927850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6927850"/>
                  </a:lnTo>
                  <a:lnTo>
                    <a:pt x="9525" y="6927850"/>
                  </a:lnTo>
                  <a:lnTo>
                    <a:pt x="9525" y="6918325"/>
                  </a:lnTo>
                  <a:lnTo>
                    <a:pt x="18000726" y="6918325"/>
                  </a:lnTo>
                  <a:lnTo>
                    <a:pt x="18000726" y="6927850"/>
                  </a:lnTo>
                  <a:lnTo>
                    <a:pt x="17991201" y="6927850"/>
                  </a:lnTo>
                  <a:lnTo>
                    <a:pt x="17991201" y="9525"/>
                  </a:lnTo>
                  <a:lnTo>
                    <a:pt x="18000726" y="9525"/>
                  </a:lnTo>
                  <a:lnTo>
                    <a:pt x="18000726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072621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2658342" y="804891"/>
            <a:ext cx="12981051" cy="477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Frequency of use : Per transaction + Monthly reporting cycles</a:t>
            </a:r>
          </a:p>
          <a:p>
            <a:pPr algn="l">
              <a:lnSpc>
                <a:spcPts val="1621"/>
              </a:lnSpc>
            </a:pPr>
          </a:p>
          <a:p>
            <a:pPr algn="l">
              <a:lnSpc>
                <a:spcPts val="1621"/>
              </a:lnSpc>
            </a:pPr>
            <a:r>
              <a:rPr lang="en-US" sz="1351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Functional description:</a:t>
            </a:r>
          </a:p>
          <a:p>
            <a:pPr algn="l">
              <a:lnSpc>
                <a:spcPts val="1621"/>
              </a:lnSpc>
            </a:pPr>
            <a:r>
              <a:rPr lang="en-US" sz="1351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Calculates and records the environmental impact of every rescued meal: CO₂ equivalent saved, water saved, and waste diverted from landfill. Powers user impact badges, partner ESG reports, and B-Corp disclosures.</a:t>
            </a:r>
          </a:p>
        </p:txBody>
      </p:sp>
      <p:sp>
        <p:nvSpPr>
          <p:cNvPr name="AutoShape 72" id="72"/>
          <p:cNvSpPr/>
          <p:nvPr/>
        </p:nvSpPr>
        <p:spPr>
          <a:xfrm rot="357840">
            <a:off x="2183644" y="942384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3" id="73"/>
          <p:cNvSpPr/>
          <p:nvPr/>
        </p:nvSpPr>
        <p:spPr>
          <a:xfrm rot="357840">
            <a:off x="2183644" y="1683629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4" id="74"/>
          <p:cNvSpPr/>
          <p:nvPr/>
        </p:nvSpPr>
        <p:spPr>
          <a:xfrm rot="357840">
            <a:off x="2183644" y="242486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5" id="75"/>
          <p:cNvSpPr/>
          <p:nvPr/>
        </p:nvSpPr>
        <p:spPr>
          <a:xfrm rot="357840">
            <a:off x="2183644" y="3166110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" id="76"/>
          <p:cNvSpPr/>
          <p:nvPr/>
        </p:nvSpPr>
        <p:spPr>
          <a:xfrm rot="357840">
            <a:off x="2183644" y="390735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" id="77"/>
          <p:cNvSpPr/>
          <p:nvPr/>
        </p:nvSpPr>
        <p:spPr>
          <a:xfrm rot="357840">
            <a:off x="15677007" y="942384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8" id="78"/>
          <p:cNvSpPr/>
          <p:nvPr/>
        </p:nvSpPr>
        <p:spPr>
          <a:xfrm rot="357840">
            <a:off x="15677007" y="1683629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9" id="79"/>
          <p:cNvSpPr/>
          <p:nvPr/>
        </p:nvSpPr>
        <p:spPr>
          <a:xfrm rot="357840">
            <a:off x="15677007" y="242486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0" id="80"/>
          <p:cNvSpPr/>
          <p:nvPr/>
        </p:nvSpPr>
        <p:spPr>
          <a:xfrm rot="357840">
            <a:off x="15677007" y="3166110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1" id="81"/>
          <p:cNvSpPr/>
          <p:nvPr/>
        </p:nvSpPr>
        <p:spPr>
          <a:xfrm rot="357840">
            <a:off x="15677007" y="3907355"/>
            <a:ext cx="231172" cy="0"/>
          </a:xfrm>
          <a:prstGeom prst="line">
            <a:avLst/>
          </a:prstGeom>
          <a:ln cap="rnd" w="9525">
            <a:solidFill>
              <a:srgbClr val="2C168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2" id="82"/>
          <p:cNvGrpSpPr/>
          <p:nvPr/>
        </p:nvGrpSpPr>
        <p:grpSpPr>
          <a:xfrm rot="0">
            <a:off x="0" y="5765225"/>
            <a:ext cx="2402176" cy="1619755"/>
            <a:chOff x="0" y="0"/>
            <a:chExt cx="3202902" cy="215967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202940" cy="2159635"/>
            </a:xfrm>
            <a:custGeom>
              <a:avLst/>
              <a:gdLst/>
              <a:ahLst/>
              <a:cxnLst/>
              <a:rect r="r" b="b" t="t" l="l"/>
              <a:pathLst>
                <a:path h="2159635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202902" cy="2159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1"/>
                </a:lnSpc>
              </a:pPr>
              <a:r>
                <a:rPr lang="en-US" sz="112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Creation Date: 2024</a:t>
              </a:r>
            </a:p>
            <a:p>
              <a:pPr algn="l">
                <a:lnSpc>
                  <a:spcPts val="1351"/>
                </a:lnSpc>
              </a:pPr>
            </a:p>
            <a:p>
              <a:pPr algn="l">
                <a:lnSpc>
                  <a:spcPts val="1351"/>
                </a:lnSpc>
              </a:pPr>
              <a:r>
                <a:rPr lang="en-US" sz="112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Leader: Head of Sustainability</a:t>
              </a:r>
            </a:p>
            <a:p>
              <a:pPr algn="l">
                <a:lnSpc>
                  <a:spcPts val="1351"/>
                </a:lnSpc>
              </a:pPr>
            </a:p>
            <a:p>
              <a:pPr algn="l">
                <a:lnSpc>
                  <a:spcPts val="1351"/>
                </a:lnSpc>
              </a:pPr>
              <a:r>
                <a:rPr lang="en-US" sz="1125" spc="-1">
                  <a:solidFill>
                    <a:srgbClr val="E1EFD8"/>
                  </a:solidFill>
                  <a:latin typeface="PT Sans"/>
                  <a:ea typeface="PT Sans"/>
                  <a:cs typeface="PT Sans"/>
                  <a:sym typeface="PT Sans"/>
                </a:rPr>
                <a:t>Users: Internal / Public / Partners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402176" y="5765225"/>
            <a:ext cx="13493372" cy="1619755"/>
            <a:chOff x="0" y="0"/>
            <a:chExt cx="17991163" cy="215967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7991201" cy="2159635"/>
            </a:xfrm>
            <a:custGeom>
              <a:avLst/>
              <a:gdLst/>
              <a:ahLst/>
              <a:cxnLst/>
              <a:rect r="r" b="b" t="t" l="l"/>
              <a:pathLst>
                <a:path h="2159635" w="17991201">
                  <a:moveTo>
                    <a:pt x="0" y="0"/>
                  </a:moveTo>
                  <a:lnTo>
                    <a:pt x="17991201" y="0"/>
                  </a:lnTo>
                  <a:lnTo>
                    <a:pt x="17991201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17991163" cy="2169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Short term goals: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Certify CO₂ methodology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Real-time public counter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Medium term objectives: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Partner-level ESG reports</a:t>
              </a:r>
            </a:p>
            <a:p>
              <a:pPr algn="l">
                <a:lnSpc>
                  <a:spcPts val="1531"/>
                </a:lnSpc>
              </a:pPr>
              <a:r>
                <a:rPr lang="en-US" sz="1275" spc="-1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rPr>
                <a:t>  ● Integration with B-Corp audit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895549" y="5765225"/>
            <a:ext cx="2402176" cy="615506"/>
            <a:chOff x="0" y="0"/>
            <a:chExt cx="3202902" cy="82067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202940" cy="820674"/>
            </a:xfrm>
            <a:custGeom>
              <a:avLst/>
              <a:gdLst/>
              <a:ahLst/>
              <a:cxnLst/>
              <a:rect r="r" b="b" t="t" l="l"/>
              <a:pathLst>
                <a:path h="820674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820674"/>
                  </a:lnTo>
                  <a:lnTo>
                    <a:pt x="0" y="820674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202902" cy="830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1"/>
                </a:lnSpc>
              </a:pPr>
              <a:r>
                <a:rPr lang="en-US" b="true" sz="1275" spc="-1">
                  <a:solidFill>
                    <a:srgbClr val="E1EFD8"/>
                  </a:solidFill>
                  <a:latin typeface="PT Sans Bold"/>
                  <a:ea typeface="PT Sans Bold"/>
                  <a:cs typeface="PT Sans Bold"/>
                  <a:sym typeface="PT Sans Bold"/>
                </a:rPr>
                <a:t>Significance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5895549" y="6380731"/>
            <a:ext cx="2402176" cy="1004249"/>
            <a:chOff x="0" y="0"/>
            <a:chExt cx="3202902" cy="133899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02940" cy="1338961"/>
            </a:xfrm>
            <a:custGeom>
              <a:avLst/>
              <a:gdLst/>
              <a:ahLst/>
              <a:cxnLst/>
              <a:rect r="r" b="b" t="t" l="l"/>
              <a:pathLst>
                <a:path h="1338961" w="3202940">
                  <a:moveTo>
                    <a:pt x="0" y="0"/>
                  </a:moveTo>
                  <a:lnTo>
                    <a:pt x="3202940" y="0"/>
                  </a:lnTo>
                  <a:lnTo>
                    <a:pt x="3202940" y="1338961"/>
                  </a:lnTo>
                  <a:lnTo>
                    <a:pt x="0" y="1338961"/>
                  </a:lnTo>
                  <a:close/>
                </a:path>
              </a:pathLst>
            </a:custGeom>
            <a:solidFill>
              <a:srgbClr val="2C168A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6128616" y="6567954"/>
            <a:ext cx="343738" cy="343738"/>
            <a:chOff x="0" y="0"/>
            <a:chExt cx="458318" cy="45831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6526694" y="6567954"/>
            <a:ext cx="343738" cy="343738"/>
            <a:chOff x="0" y="0"/>
            <a:chExt cx="458318" cy="45831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6924763" y="6567954"/>
            <a:ext cx="343738" cy="343738"/>
            <a:chOff x="0" y="0"/>
            <a:chExt cx="458318" cy="45831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7322841" y="6567954"/>
            <a:ext cx="343738" cy="343738"/>
            <a:chOff x="0" y="0"/>
            <a:chExt cx="458318" cy="45831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7720910" y="6567954"/>
            <a:ext cx="343738" cy="343738"/>
            <a:chOff x="0" y="0"/>
            <a:chExt cx="458318" cy="45831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9525" y="9525"/>
              <a:ext cx="439293" cy="439293"/>
            </a:xfrm>
            <a:custGeom>
              <a:avLst/>
              <a:gdLst/>
              <a:ahLst/>
              <a:cxnLst/>
              <a:rect r="r" b="b" t="t" l="l"/>
              <a:pathLst>
                <a:path h="439293" w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995" y="439293"/>
                    <a:pt x="219583" y="439293"/>
                  </a:cubicBezTo>
                  <a:cubicBezTo>
                    <a:pt x="98171" y="439293"/>
                    <a:pt x="0" y="340995"/>
                    <a:pt x="0" y="219583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58216" cy="458216"/>
            </a:xfrm>
            <a:custGeom>
              <a:avLst/>
              <a:gdLst/>
              <a:ahLst/>
              <a:cxnLst/>
              <a:rect r="r" b="b" t="t" l="l"/>
              <a:pathLst>
                <a:path h="458216" w="458216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29108" y="9525"/>
                  </a:lnTo>
                  <a:lnTo>
                    <a:pt x="229108" y="0"/>
                  </a:lnTo>
                  <a:cubicBezTo>
                    <a:pt x="355727" y="0"/>
                    <a:pt x="458216" y="102616"/>
                    <a:pt x="458216" y="229108"/>
                  </a:cubicBezTo>
                  <a:lnTo>
                    <a:pt x="448691" y="229108"/>
                  </a:lnTo>
                  <a:lnTo>
                    <a:pt x="458216" y="229108"/>
                  </a:lnTo>
                  <a:cubicBezTo>
                    <a:pt x="458216" y="355727"/>
                    <a:pt x="355600" y="458216"/>
                    <a:pt x="229108" y="458216"/>
                  </a:cubicBezTo>
                  <a:lnTo>
                    <a:pt x="229108" y="448691"/>
                  </a:lnTo>
                  <a:lnTo>
                    <a:pt x="229108" y="458216"/>
                  </a:lnTo>
                  <a:cubicBezTo>
                    <a:pt x="102616" y="458343"/>
                    <a:pt x="0" y="355727"/>
                    <a:pt x="0" y="229108"/>
                  </a:cubicBezTo>
                  <a:lnTo>
                    <a:pt x="9525" y="229108"/>
                  </a:lnTo>
                  <a:lnTo>
                    <a:pt x="17653" y="234188"/>
                  </a:lnTo>
                  <a:cubicBezTo>
                    <a:pt x="15367" y="237744"/>
                    <a:pt x="11049" y="239522"/>
                    <a:pt x="6985" y="238252"/>
                  </a:cubicBezTo>
                  <a:cubicBezTo>
                    <a:pt x="2921" y="236982"/>
                    <a:pt x="0" y="233426"/>
                    <a:pt x="0" y="229108"/>
                  </a:cubicBezTo>
                  <a:moveTo>
                    <a:pt x="19050" y="229108"/>
                  </a:moveTo>
                  <a:lnTo>
                    <a:pt x="9525" y="229108"/>
                  </a:lnTo>
                  <a:lnTo>
                    <a:pt x="1397" y="224028"/>
                  </a:lnTo>
                  <a:cubicBezTo>
                    <a:pt x="3683" y="220472"/>
                    <a:pt x="8001" y="218694"/>
                    <a:pt x="12065" y="219964"/>
                  </a:cubicBezTo>
                  <a:cubicBezTo>
                    <a:pt x="16129" y="221234"/>
                    <a:pt x="18923" y="224917"/>
                    <a:pt x="18923" y="229108"/>
                  </a:cubicBezTo>
                  <a:cubicBezTo>
                    <a:pt x="18923" y="345186"/>
                    <a:pt x="113030" y="439166"/>
                    <a:pt x="228981" y="439166"/>
                  </a:cubicBezTo>
                  <a:cubicBezTo>
                    <a:pt x="344932" y="439166"/>
                    <a:pt x="439039" y="345059"/>
                    <a:pt x="439039" y="229108"/>
                  </a:cubicBezTo>
                  <a:cubicBezTo>
                    <a:pt x="439039" y="113157"/>
                    <a:pt x="345186" y="19050"/>
                    <a:pt x="229108" y="19050"/>
                  </a:cubicBezTo>
                  <a:lnTo>
                    <a:pt x="229108" y="9525"/>
                  </a:lnTo>
                  <a:lnTo>
                    <a:pt x="229108" y="19050"/>
                  </a:lnTo>
                  <a:cubicBezTo>
                    <a:pt x="113157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16069351" y="7041956"/>
            <a:ext cx="898103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i="true" spc="-1">
                <a:solidFill>
                  <a:srgbClr val="E1EFD8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- less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7067962" y="7041956"/>
            <a:ext cx="970169" cy="21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70"/>
              </a:lnSpc>
            </a:pPr>
            <a:r>
              <a:rPr lang="en-US" sz="975" i="true" spc="-1">
                <a:solidFill>
                  <a:srgbClr val="E1EFD8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+ more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28705" y="10066230"/>
            <a:ext cx="17840306" cy="15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spc="-1">
                <a:solidFill>
                  <a:srgbClr val="072621"/>
                </a:solidFill>
                <a:latin typeface="PT Sans"/>
                <a:ea typeface="PT Sans"/>
                <a:cs typeface="PT Sans"/>
                <a:sym typeface="PT Sans"/>
              </a:rPr>
              <a:t>Copyright OPT2A © - Antoine Jeanjean 2025 - All rights reserved - www.opt2a.com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603980"/>
            <a:chOff x="0" y="0"/>
            <a:chExt cx="24396967" cy="8053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805307"/>
            </a:xfrm>
            <a:custGeom>
              <a:avLst/>
              <a:gdLst/>
              <a:ahLst/>
              <a:cxnLst/>
              <a:rect r="r" b="b" t="t" l="l"/>
              <a:pathLst>
                <a:path h="805307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2C168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54912"/>
            <a:ext cx="18297725" cy="494167"/>
            <a:chOff x="0" y="0"/>
            <a:chExt cx="24396967" cy="6588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96954" cy="658876"/>
            </a:xfrm>
            <a:custGeom>
              <a:avLst/>
              <a:gdLst/>
              <a:ahLst/>
              <a:cxnLst/>
              <a:rect r="r" b="b" t="t" l="l"/>
              <a:pathLst>
                <a:path h="658876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658876"/>
                  </a:lnTo>
                  <a:lnTo>
                    <a:pt x="0" y="658876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4396967" cy="668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Too Good To Go  —  Conceptual Data Model (Star Schema)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910696"/>
            <a:ext cx="18297725" cy="384353"/>
            <a:chOff x="0" y="0"/>
            <a:chExt cx="24396967" cy="5124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96954" cy="512445"/>
            </a:xfrm>
            <a:custGeom>
              <a:avLst/>
              <a:gdLst/>
              <a:ahLst/>
              <a:cxnLst/>
              <a:rect r="r" b="b" t="t" l="l"/>
              <a:pathLst>
                <a:path h="51244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2C168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1804" y="9945014"/>
            <a:ext cx="9608706" cy="301990"/>
            <a:chOff x="0" y="0"/>
            <a:chExt cx="12811608" cy="4026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11633" cy="402590"/>
            </a:xfrm>
            <a:custGeom>
              <a:avLst/>
              <a:gdLst/>
              <a:ahLst/>
              <a:cxnLst/>
              <a:rect r="r" b="b" t="t" l="l"/>
              <a:pathLst>
                <a:path h="402590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2811608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E1EFD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Too Good To Go  |  Data Strategy Presentation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83245" y="9945014"/>
            <a:ext cx="8098765" cy="301990"/>
            <a:chOff x="0" y="0"/>
            <a:chExt cx="10798353" cy="4026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8302" cy="402590"/>
            </a:xfrm>
            <a:custGeom>
              <a:avLst/>
              <a:gdLst/>
              <a:ahLst/>
              <a:cxnLst/>
              <a:rect r="r" b="b" t="t" l="l"/>
              <a:pathLst>
                <a:path h="402590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C168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798353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1441"/>
                </a:lnSpc>
              </a:pPr>
              <a:r>
                <a:rPr lang="en-US" sz="1200">
                  <a:solidFill>
                    <a:srgbClr val="E1EFD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PK = Primary Key   |   FK = Foreign Key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27039" y="82363"/>
            <a:ext cx="768696" cy="411804"/>
            <a:chOff x="0" y="0"/>
            <a:chExt cx="1024928" cy="549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890" cy="549021"/>
            </a:xfrm>
            <a:custGeom>
              <a:avLst/>
              <a:gdLst/>
              <a:ahLst/>
              <a:cxnLst/>
              <a:rect r="r" b="b" t="t" l="l"/>
              <a:pathLst>
                <a:path h="549021" w="1024890">
                  <a:moveTo>
                    <a:pt x="0" y="0"/>
                  </a:moveTo>
                  <a:lnTo>
                    <a:pt x="1024890" y="0"/>
                  </a:lnTo>
                  <a:lnTo>
                    <a:pt x="1024890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24928" cy="558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09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82608" y="713794"/>
            <a:ext cx="576520" cy="8840010"/>
            <a:chOff x="0" y="0"/>
            <a:chExt cx="768693" cy="11786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8731" cy="11786743"/>
            </a:xfrm>
            <a:custGeom>
              <a:avLst/>
              <a:gdLst/>
              <a:ahLst/>
              <a:cxnLst/>
              <a:rect r="r" b="b" t="t" l="l"/>
              <a:pathLst>
                <a:path h="11786743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11786743"/>
                  </a:lnTo>
                  <a:lnTo>
                    <a:pt x="0" y="11786743"/>
                  </a:lnTo>
                  <a:close/>
                </a:path>
              </a:pathLst>
            </a:custGeom>
            <a:solidFill>
              <a:srgbClr val="EAECF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314294" y="713794"/>
            <a:ext cx="576520" cy="8840010"/>
            <a:chOff x="0" y="0"/>
            <a:chExt cx="768693" cy="11786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731" cy="11786743"/>
            </a:xfrm>
            <a:custGeom>
              <a:avLst/>
              <a:gdLst/>
              <a:ahLst/>
              <a:cxnLst/>
              <a:rect r="r" b="b" t="t" l="l"/>
              <a:pathLst>
                <a:path h="11786743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11786743"/>
                  </a:lnTo>
                  <a:lnTo>
                    <a:pt x="0" y="11786743"/>
                  </a:lnTo>
                  <a:close/>
                </a:path>
              </a:pathLst>
            </a:custGeom>
            <a:solidFill>
              <a:srgbClr val="EAEC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745970" y="713794"/>
            <a:ext cx="576520" cy="8840010"/>
            <a:chOff x="0" y="0"/>
            <a:chExt cx="768693" cy="11786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8731" cy="11786743"/>
            </a:xfrm>
            <a:custGeom>
              <a:avLst/>
              <a:gdLst/>
              <a:ahLst/>
              <a:cxnLst/>
              <a:rect r="r" b="b" t="t" l="l"/>
              <a:pathLst>
                <a:path h="11786743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11786743"/>
                  </a:lnTo>
                  <a:lnTo>
                    <a:pt x="0" y="11786743"/>
                  </a:lnTo>
                  <a:close/>
                </a:path>
              </a:pathLst>
            </a:custGeom>
            <a:solidFill>
              <a:srgbClr val="EAECF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38820" y="732987"/>
            <a:ext cx="2652046" cy="2350056"/>
            <a:chOff x="0" y="0"/>
            <a:chExt cx="3536061" cy="31334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1049" y="11049"/>
              <a:ext cx="3514090" cy="3111373"/>
            </a:xfrm>
            <a:custGeom>
              <a:avLst/>
              <a:gdLst/>
              <a:ahLst/>
              <a:cxnLst/>
              <a:rect r="r" b="b" t="t" l="l"/>
              <a:pathLst>
                <a:path h="3111373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36188" cy="3133471"/>
            </a:xfrm>
            <a:custGeom>
              <a:avLst/>
              <a:gdLst/>
              <a:ahLst/>
              <a:cxnLst/>
              <a:rect r="r" b="b" t="t" l="l"/>
              <a:pathLst>
                <a:path h="3133471" w="3536188">
                  <a:moveTo>
                    <a:pt x="11049" y="0"/>
                  </a:moveTo>
                  <a:lnTo>
                    <a:pt x="3525139" y="0"/>
                  </a:lnTo>
                  <a:cubicBezTo>
                    <a:pt x="3531235" y="0"/>
                    <a:pt x="3536188" y="4953"/>
                    <a:pt x="3536188" y="11049"/>
                  </a:cubicBezTo>
                  <a:lnTo>
                    <a:pt x="3536188" y="3122422"/>
                  </a:lnTo>
                  <a:cubicBezTo>
                    <a:pt x="3536188" y="3128518"/>
                    <a:pt x="3531235" y="3133471"/>
                    <a:pt x="3525139" y="3133471"/>
                  </a:cubicBezTo>
                  <a:lnTo>
                    <a:pt x="11049" y="3133471"/>
                  </a:lnTo>
                  <a:cubicBezTo>
                    <a:pt x="4953" y="3133471"/>
                    <a:pt x="0" y="3128518"/>
                    <a:pt x="0" y="3122422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3122422"/>
                  </a:lnTo>
                  <a:lnTo>
                    <a:pt x="11049" y="3122422"/>
                  </a:lnTo>
                  <a:lnTo>
                    <a:pt x="11049" y="3111373"/>
                  </a:lnTo>
                  <a:lnTo>
                    <a:pt x="3525139" y="3111373"/>
                  </a:lnTo>
                  <a:lnTo>
                    <a:pt x="3525139" y="3122422"/>
                  </a:lnTo>
                  <a:lnTo>
                    <a:pt x="3514090" y="3122422"/>
                  </a:lnTo>
                  <a:lnTo>
                    <a:pt x="3514090" y="11049"/>
                  </a:lnTo>
                  <a:lnTo>
                    <a:pt x="3525139" y="11049"/>
                  </a:lnTo>
                  <a:lnTo>
                    <a:pt x="3525139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47079" y="741245"/>
            <a:ext cx="2635529" cy="301990"/>
            <a:chOff x="0" y="0"/>
            <a:chExt cx="3514039" cy="4026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514039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dim_customer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43326" y="1039482"/>
            <a:ext cx="2643035" cy="210664"/>
            <a:chOff x="0" y="0"/>
            <a:chExt cx="3524047" cy="2808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47079" y="1043235"/>
            <a:ext cx="329441" cy="203159"/>
            <a:chOff x="0" y="0"/>
            <a:chExt cx="439255" cy="27087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90245" y="1043235"/>
            <a:ext cx="2292363" cy="203159"/>
            <a:chOff x="0" y="0"/>
            <a:chExt cx="3056484" cy="27087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56509" cy="270891"/>
            </a:xfrm>
            <a:custGeom>
              <a:avLst/>
              <a:gdLst/>
              <a:ahLst/>
              <a:cxnLst/>
              <a:rect r="r" b="b" t="t" l="l"/>
              <a:pathLst>
                <a:path h="270891" w="3056509">
                  <a:moveTo>
                    <a:pt x="0" y="0"/>
                  </a:moveTo>
                  <a:lnTo>
                    <a:pt x="3056509" y="0"/>
                  </a:lnTo>
                  <a:lnTo>
                    <a:pt x="3056509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056484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customer_id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3326" y="1242632"/>
            <a:ext cx="2643035" cy="210664"/>
            <a:chOff x="0" y="0"/>
            <a:chExt cx="3524047" cy="2808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47079" y="1246384"/>
            <a:ext cx="2635529" cy="203159"/>
            <a:chOff x="0" y="0"/>
            <a:chExt cx="3514039" cy="27087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email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43326" y="1445790"/>
            <a:ext cx="2643035" cy="210664"/>
            <a:chOff x="0" y="0"/>
            <a:chExt cx="3524047" cy="28088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47079" y="1449543"/>
            <a:ext cx="2635529" cy="203159"/>
            <a:chOff x="0" y="0"/>
            <a:chExt cx="3514039" cy="27087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first_name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43326" y="1648939"/>
            <a:ext cx="2643035" cy="210664"/>
            <a:chOff x="0" y="0"/>
            <a:chExt cx="3524047" cy="28088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47079" y="1652692"/>
            <a:ext cx="2635529" cy="203159"/>
            <a:chOff x="0" y="0"/>
            <a:chExt cx="3514039" cy="27087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last_name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43326" y="1852098"/>
            <a:ext cx="2643035" cy="210664"/>
            <a:chOff x="0" y="0"/>
            <a:chExt cx="3524047" cy="28088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47079" y="1855851"/>
            <a:ext cx="2635529" cy="203159"/>
            <a:chOff x="0" y="0"/>
            <a:chExt cx="3514039" cy="2708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phone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43326" y="2055257"/>
            <a:ext cx="2643035" cy="210664"/>
            <a:chOff x="0" y="0"/>
            <a:chExt cx="3524047" cy="28088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47079" y="2059010"/>
            <a:ext cx="2635529" cy="203159"/>
            <a:chOff x="0" y="0"/>
            <a:chExt cx="3514039" cy="27087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registration_date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43326" y="2258416"/>
            <a:ext cx="2643035" cy="210664"/>
            <a:chOff x="0" y="0"/>
            <a:chExt cx="3524047" cy="28088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247079" y="2262168"/>
            <a:ext cx="2635529" cy="203159"/>
            <a:chOff x="0" y="0"/>
            <a:chExt cx="3514039" cy="27087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country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43326" y="2461565"/>
            <a:ext cx="2643035" cy="210664"/>
            <a:chOff x="0" y="0"/>
            <a:chExt cx="3524047" cy="28088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247079" y="2465318"/>
            <a:ext cx="2635529" cy="203159"/>
            <a:chOff x="0" y="0"/>
            <a:chExt cx="3514039" cy="27087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city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43326" y="2664724"/>
            <a:ext cx="2643035" cy="210664"/>
            <a:chOff x="0" y="0"/>
            <a:chExt cx="3524047" cy="28088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247079" y="2668476"/>
            <a:ext cx="2635529" cy="203159"/>
            <a:chOff x="0" y="0"/>
            <a:chExt cx="3514039" cy="27087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user_type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43326" y="2867873"/>
            <a:ext cx="2643035" cy="210664"/>
            <a:chOff x="0" y="0"/>
            <a:chExt cx="3524047" cy="28088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247079" y="2871626"/>
            <a:ext cx="2635529" cy="203159"/>
            <a:chOff x="0" y="0"/>
            <a:chExt cx="3514039" cy="27087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is_active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238820" y="6586061"/>
            <a:ext cx="2652046" cy="2756364"/>
            <a:chOff x="0" y="0"/>
            <a:chExt cx="3536061" cy="36751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1049" y="11049"/>
              <a:ext cx="3514090" cy="3653155"/>
            </a:xfrm>
            <a:custGeom>
              <a:avLst/>
              <a:gdLst/>
              <a:ahLst/>
              <a:cxnLst/>
              <a:rect r="r" b="b" t="t" l="l"/>
              <a:pathLst>
                <a:path h="3653155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3653155"/>
                  </a:lnTo>
                  <a:lnTo>
                    <a:pt x="0" y="36531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536188" cy="3675253"/>
            </a:xfrm>
            <a:custGeom>
              <a:avLst/>
              <a:gdLst/>
              <a:ahLst/>
              <a:cxnLst/>
              <a:rect r="r" b="b" t="t" l="l"/>
              <a:pathLst>
                <a:path h="3675253" w="3536188">
                  <a:moveTo>
                    <a:pt x="11049" y="0"/>
                  </a:moveTo>
                  <a:lnTo>
                    <a:pt x="3525139" y="0"/>
                  </a:lnTo>
                  <a:cubicBezTo>
                    <a:pt x="3531235" y="0"/>
                    <a:pt x="3536188" y="4953"/>
                    <a:pt x="3536188" y="11049"/>
                  </a:cubicBezTo>
                  <a:lnTo>
                    <a:pt x="3536188" y="3664204"/>
                  </a:lnTo>
                  <a:cubicBezTo>
                    <a:pt x="3536188" y="3670300"/>
                    <a:pt x="3531235" y="3675253"/>
                    <a:pt x="3525139" y="3675253"/>
                  </a:cubicBezTo>
                  <a:lnTo>
                    <a:pt x="11049" y="3675253"/>
                  </a:lnTo>
                  <a:cubicBezTo>
                    <a:pt x="4953" y="3675253"/>
                    <a:pt x="0" y="3670300"/>
                    <a:pt x="0" y="3664204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3664204"/>
                  </a:lnTo>
                  <a:lnTo>
                    <a:pt x="11049" y="3664204"/>
                  </a:lnTo>
                  <a:lnTo>
                    <a:pt x="11049" y="3653155"/>
                  </a:lnTo>
                  <a:lnTo>
                    <a:pt x="3525139" y="3653155"/>
                  </a:lnTo>
                  <a:lnTo>
                    <a:pt x="3525139" y="3664204"/>
                  </a:lnTo>
                  <a:lnTo>
                    <a:pt x="3514090" y="3664204"/>
                  </a:lnTo>
                  <a:lnTo>
                    <a:pt x="3514090" y="11049"/>
                  </a:lnTo>
                  <a:lnTo>
                    <a:pt x="3525139" y="11049"/>
                  </a:lnTo>
                  <a:lnTo>
                    <a:pt x="3525139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247079" y="6594319"/>
            <a:ext cx="2635529" cy="301990"/>
            <a:chOff x="0" y="0"/>
            <a:chExt cx="3514039" cy="40265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3514039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dim_partner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43326" y="6892557"/>
            <a:ext cx="2643035" cy="210664"/>
            <a:chOff x="0" y="0"/>
            <a:chExt cx="3524047" cy="28088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247079" y="6896310"/>
            <a:ext cx="329441" cy="203159"/>
            <a:chOff x="0" y="0"/>
            <a:chExt cx="439255" cy="27087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90245" y="6896310"/>
            <a:ext cx="2292363" cy="203159"/>
            <a:chOff x="0" y="0"/>
            <a:chExt cx="3056484" cy="27087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056509" cy="270891"/>
            </a:xfrm>
            <a:custGeom>
              <a:avLst/>
              <a:gdLst/>
              <a:ahLst/>
              <a:cxnLst/>
              <a:rect r="r" b="b" t="t" l="l"/>
              <a:pathLst>
                <a:path h="270891" w="3056509">
                  <a:moveTo>
                    <a:pt x="0" y="0"/>
                  </a:moveTo>
                  <a:lnTo>
                    <a:pt x="3056509" y="0"/>
                  </a:lnTo>
                  <a:lnTo>
                    <a:pt x="3056509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056484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partner_id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243326" y="7095706"/>
            <a:ext cx="2643035" cy="210664"/>
            <a:chOff x="0" y="0"/>
            <a:chExt cx="3524047" cy="28088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247079" y="7099459"/>
            <a:ext cx="2635529" cy="203159"/>
            <a:chOff x="0" y="0"/>
            <a:chExt cx="3514039" cy="27087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business_name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243326" y="7298865"/>
            <a:ext cx="2643035" cy="210664"/>
            <a:chOff x="0" y="0"/>
            <a:chExt cx="3524047" cy="28088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247079" y="7302617"/>
            <a:ext cx="2635529" cy="203159"/>
            <a:chOff x="0" y="0"/>
            <a:chExt cx="3514039" cy="27087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business_type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243326" y="7502023"/>
            <a:ext cx="2643035" cy="210664"/>
            <a:chOff x="0" y="0"/>
            <a:chExt cx="3524047" cy="28088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247079" y="7505776"/>
            <a:ext cx="2635529" cy="203159"/>
            <a:chOff x="0" y="0"/>
            <a:chExt cx="3514039" cy="27087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email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243326" y="7705173"/>
            <a:ext cx="2643035" cy="210664"/>
            <a:chOff x="0" y="0"/>
            <a:chExt cx="3524047" cy="28088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247079" y="7708925"/>
            <a:ext cx="2635529" cy="203159"/>
            <a:chOff x="0" y="0"/>
            <a:chExt cx="3514039" cy="27087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phone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243326" y="7908331"/>
            <a:ext cx="2643035" cy="210664"/>
            <a:chOff x="0" y="0"/>
            <a:chExt cx="3524047" cy="28088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247079" y="7912084"/>
            <a:ext cx="2635529" cy="203159"/>
            <a:chOff x="0" y="0"/>
            <a:chExt cx="3514039" cy="27087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address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243326" y="8111480"/>
            <a:ext cx="2643035" cy="210664"/>
            <a:chOff x="0" y="0"/>
            <a:chExt cx="3524047" cy="28088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247079" y="8115233"/>
            <a:ext cx="2635529" cy="203159"/>
            <a:chOff x="0" y="0"/>
            <a:chExt cx="3514039" cy="27087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city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243326" y="8314639"/>
            <a:ext cx="2643035" cy="210664"/>
            <a:chOff x="0" y="0"/>
            <a:chExt cx="3524047" cy="280886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247079" y="8318392"/>
            <a:ext cx="2635529" cy="203159"/>
            <a:chOff x="0" y="0"/>
            <a:chExt cx="3514039" cy="27087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country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243326" y="8517798"/>
            <a:ext cx="2643035" cy="210664"/>
            <a:chOff x="0" y="0"/>
            <a:chExt cx="3524047" cy="280886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247079" y="8521551"/>
            <a:ext cx="2635529" cy="203159"/>
            <a:chOff x="0" y="0"/>
            <a:chExt cx="3514039" cy="27087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latitude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243326" y="8720957"/>
            <a:ext cx="2643035" cy="210664"/>
            <a:chOff x="0" y="0"/>
            <a:chExt cx="3524047" cy="28088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247079" y="8724710"/>
            <a:ext cx="2635529" cy="203159"/>
            <a:chOff x="0" y="0"/>
            <a:chExt cx="3514039" cy="27087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longitude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243326" y="8924106"/>
            <a:ext cx="2643035" cy="210664"/>
            <a:chOff x="0" y="0"/>
            <a:chExt cx="3524047" cy="28088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247079" y="8927859"/>
            <a:ext cx="2635529" cy="203159"/>
            <a:chOff x="0" y="0"/>
            <a:chExt cx="3514039" cy="27087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registration_date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243326" y="9127265"/>
            <a:ext cx="2643035" cy="210664"/>
            <a:chOff x="0" y="0"/>
            <a:chExt cx="3524047" cy="28088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247079" y="9131017"/>
            <a:ext cx="2635529" cy="203159"/>
            <a:chOff x="0" y="0"/>
            <a:chExt cx="3514039" cy="27087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is_active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3450879" y="732987"/>
            <a:ext cx="2871673" cy="2959522"/>
            <a:chOff x="0" y="0"/>
            <a:chExt cx="3828898" cy="394603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1049" y="11049"/>
              <a:ext cx="3806825" cy="3923919"/>
            </a:xfrm>
            <a:custGeom>
              <a:avLst/>
              <a:gdLst/>
              <a:ahLst/>
              <a:cxnLst/>
              <a:rect r="r" b="b" t="t" l="l"/>
              <a:pathLst>
                <a:path h="3923919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3923919"/>
                  </a:lnTo>
                  <a:lnTo>
                    <a:pt x="0" y="39239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828923" cy="3946017"/>
            </a:xfrm>
            <a:custGeom>
              <a:avLst/>
              <a:gdLst/>
              <a:ahLst/>
              <a:cxnLst/>
              <a:rect r="r" b="b" t="t" l="l"/>
              <a:pathLst>
                <a:path h="3946017" w="3828923">
                  <a:moveTo>
                    <a:pt x="11049" y="0"/>
                  </a:moveTo>
                  <a:lnTo>
                    <a:pt x="3817874" y="0"/>
                  </a:lnTo>
                  <a:cubicBezTo>
                    <a:pt x="3823970" y="0"/>
                    <a:pt x="3828923" y="4953"/>
                    <a:pt x="3828923" y="11049"/>
                  </a:cubicBezTo>
                  <a:lnTo>
                    <a:pt x="3828923" y="3934968"/>
                  </a:lnTo>
                  <a:cubicBezTo>
                    <a:pt x="3828923" y="3941064"/>
                    <a:pt x="3823970" y="3946017"/>
                    <a:pt x="3817874" y="3946017"/>
                  </a:cubicBezTo>
                  <a:lnTo>
                    <a:pt x="11049" y="3946017"/>
                  </a:lnTo>
                  <a:cubicBezTo>
                    <a:pt x="4953" y="3946017"/>
                    <a:pt x="0" y="3941064"/>
                    <a:pt x="0" y="3934968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3934968"/>
                  </a:lnTo>
                  <a:lnTo>
                    <a:pt x="11049" y="3934968"/>
                  </a:lnTo>
                  <a:lnTo>
                    <a:pt x="11049" y="3923919"/>
                  </a:lnTo>
                  <a:lnTo>
                    <a:pt x="3817874" y="3923919"/>
                  </a:lnTo>
                  <a:lnTo>
                    <a:pt x="3817874" y="3934968"/>
                  </a:lnTo>
                  <a:lnTo>
                    <a:pt x="3806825" y="3934968"/>
                  </a:lnTo>
                  <a:lnTo>
                    <a:pt x="3806825" y="11049"/>
                  </a:lnTo>
                  <a:lnTo>
                    <a:pt x="3817874" y="11049"/>
                  </a:lnTo>
                  <a:lnTo>
                    <a:pt x="3817874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3459137" y="741245"/>
            <a:ext cx="2855157" cy="301990"/>
            <a:chOff x="0" y="0"/>
            <a:chExt cx="3806876" cy="402654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806825" cy="402590"/>
            </a:xfrm>
            <a:custGeom>
              <a:avLst/>
              <a:gdLst/>
              <a:ahLst/>
              <a:cxnLst/>
              <a:rect r="r" b="b" t="t" l="l"/>
              <a:pathLst>
                <a:path h="402590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5488C"/>
            </a:solid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9525"/>
              <a:ext cx="3806876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fact_orders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3455384" y="1039482"/>
            <a:ext cx="2862663" cy="210664"/>
            <a:chOff x="0" y="0"/>
            <a:chExt cx="3816883" cy="280886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3459137" y="1043235"/>
            <a:ext cx="329441" cy="203159"/>
            <a:chOff x="0" y="0"/>
            <a:chExt cx="439255" cy="2708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3802304" y="1043235"/>
            <a:ext cx="2511990" cy="203159"/>
            <a:chOff x="0" y="0"/>
            <a:chExt cx="3349320" cy="270878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order_id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3455384" y="1242632"/>
            <a:ext cx="2862663" cy="210664"/>
            <a:chOff x="0" y="0"/>
            <a:chExt cx="3816883" cy="28088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3459137" y="1246384"/>
            <a:ext cx="329441" cy="203159"/>
            <a:chOff x="0" y="0"/>
            <a:chExt cx="439255" cy="2708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3802304" y="1246384"/>
            <a:ext cx="2511990" cy="203159"/>
            <a:chOff x="0" y="0"/>
            <a:chExt cx="3349320" cy="2708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customer_id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3455384" y="1445790"/>
            <a:ext cx="2862663" cy="210664"/>
            <a:chOff x="0" y="0"/>
            <a:chExt cx="3816883" cy="28088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3459137" y="1449543"/>
            <a:ext cx="329441" cy="203159"/>
            <a:chOff x="0" y="0"/>
            <a:chExt cx="439255" cy="270878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3802304" y="1449543"/>
            <a:ext cx="2511990" cy="203159"/>
            <a:chOff x="0" y="0"/>
            <a:chExt cx="3349320" cy="2708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partner_id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3455384" y="1648939"/>
            <a:ext cx="2862663" cy="210664"/>
            <a:chOff x="0" y="0"/>
            <a:chExt cx="3816883" cy="28088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3459137" y="1652692"/>
            <a:ext cx="329441" cy="203159"/>
            <a:chOff x="0" y="0"/>
            <a:chExt cx="439255" cy="270878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3802304" y="1652692"/>
            <a:ext cx="2511990" cy="203159"/>
            <a:chOff x="0" y="0"/>
            <a:chExt cx="3349320" cy="270878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product_id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3455384" y="1852098"/>
            <a:ext cx="2862663" cy="210664"/>
            <a:chOff x="0" y="0"/>
            <a:chExt cx="3816883" cy="280886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3459137" y="1855851"/>
            <a:ext cx="329441" cy="203159"/>
            <a:chOff x="0" y="0"/>
            <a:chExt cx="439255" cy="270878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3802304" y="1855851"/>
            <a:ext cx="2511990" cy="203159"/>
            <a:chOff x="0" y="0"/>
            <a:chExt cx="3349320" cy="270878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order_date_id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3455384" y="2055257"/>
            <a:ext cx="2862663" cy="210664"/>
            <a:chOff x="0" y="0"/>
            <a:chExt cx="3816883" cy="280886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3459137" y="2059010"/>
            <a:ext cx="329441" cy="203159"/>
            <a:chOff x="0" y="0"/>
            <a:chExt cx="439255" cy="270878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3802304" y="2059010"/>
            <a:ext cx="2511990" cy="203159"/>
            <a:chOff x="0" y="0"/>
            <a:chExt cx="3349320" cy="270878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pickup_date_id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3455384" y="2258416"/>
            <a:ext cx="2862663" cy="210664"/>
            <a:chOff x="0" y="0"/>
            <a:chExt cx="3816883" cy="28088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3459137" y="2262168"/>
            <a:ext cx="329441" cy="203159"/>
            <a:chOff x="0" y="0"/>
            <a:chExt cx="439255" cy="270878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3802304" y="2262168"/>
            <a:ext cx="2511990" cy="203159"/>
            <a:chOff x="0" y="0"/>
            <a:chExt cx="3349320" cy="270878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time_slot_id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3455384" y="2461565"/>
            <a:ext cx="2862663" cy="210664"/>
            <a:chOff x="0" y="0"/>
            <a:chExt cx="3816883" cy="280886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3459137" y="2465318"/>
            <a:ext cx="2855157" cy="203159"/>
            <a:chOff x="0" y="0"/>
            <a:chExt cx="3806876" cy="270878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quantity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3455384" y="2664724"/>
            <a:ext cx="2862663" cy="210664"/>
            <a:chOff x="0" y="0"/>
            <a:chExt cx="3816883" cy="280886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3459137" y="2668476"/>
            <a:ext cx="2855157" cy="203159"/>
            <a:chOff x="0" y="0"/>
            <a:chExt cx="3806876" cy="270878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56" id="256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order_value_eur</a:t>
              </a:r>
            </a:p>
          </p:txBody>
        </p:sp>
      </p:grpSp>
      <p:grpSp>
        <p:nvGrpSpPr>
          <p:cNvPr name="Group 257" id="257"/>
          <p:cNvGrpSpPr/>
          <p:nvPr/>
        </p:nvGrpSpPr>
        <p:grpSpPr>
          <a:xfrm rot="0">
            <a:off x="3455384" y="2867873"/>
            <a:ext cx="2862663" cy="210664"/>
            <a:chOff x="0" y="0"/>
            <a:chExt cx="3816883" cy="280886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3459137" y="2871626"/>
            <a:ext cx="2855157" cy="203159"/>
            <a:chOff x="0" y="0"/>
            <a:chExt cx="3806876" cy="270878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2" id="262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original_value_eur</a:t>
              </a:r>
            </a:p>
          </p:txBody>
        </p:sp>
      </p:grpSp>
      <p:grpSp>
        <p:nvGrpSpPr>
          <p:cNvPr name="Group 263" id="263"/>
          <p:cNvGrpSpPr/>
          <p:nvPr/>
        </p:nvGrpSpPr>
        <p:grpSpPr>
          <a:xfrm rot="0">
            <a:off x="3455384" y="3071031"/>
            <a:ext cx="2862663" cy="210664"/>
            <a:chOff x="0" y="0"/>
            <a:chExt cx="3816883" cy="280886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66" id="266"/>
          <p:cNvGrpSpPr/>
          <p:nvPr/>
        </p:nvGrpSpPr>
        <p:grpSpPr>
          <a:xfrm rot="0">
            <a:off x="3459137" y="3074784"/>
            <a:ext cx="2855157" cy="203159"/>
            <a:chOff x="0" y="0"/>
            <a:chExt cx="3806876" cy="270878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68" id="268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discount_%</a:t>
              </a:r>
            </a:p>
          </p:txBody>
        </p:sp>
      </p:grpSp>
      <p:grpSp>
        <p:nvGrpSpPr>
          <p:cNvPr name="Group 269" id="269"/>
          <p:cNvGrpSpPr/>
          <p:nvPr/>
        </p:nvGrpSpPr>
        <p:grpSpPr>
          <a:xfrm rot="0">
            <a:off x="3455384" y="3274190"/>
            <a:ext cx="2862663" cy="210664"/>
            <a:chOff x="0" y="0"/>
            <a:chExt cx="3816883" cy="280886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1" id="271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3459137" y="3277943"/>
            <a:ext cx="2855157" cy="203159"/>
            <a:chOff x="0" y="0"/>
            <a:chExt cx="3806876" cy="270878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order_status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3455384" y="3477339"/>
            <a:ext cx="2862663" cy="210664"/>
            <a:chOff x="0" y="0"/>
            <a:chExt cx="3816883" cy="28088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277" id="277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78" id="278"/>
          <p:cNvGrpSpPr/>
          <p:nvPr/>
        </p:nvGrpSpPr>
        <p:grpSpPr>
          <a:xfrm rot="0">
            <a:off x="3459137" y="3481092"/>
            <a:ext cx="2855157" cy="203159"/>
            <a:chOff x="0" y="0"/>
            <a:chExt cx="3806876" cy="270878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payment_method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3450879" y="7195528"/>
            <a:ext cx="2871673" cy="2146897"/>
            <a:chOff x="0" y="0"/>
            <a:chExt cx="3828898" cy="2862529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11049" y="11049"/>
              <a:ext cx="3806825" cy="2840482"/>
            </a:xfrm>
            <a:custGeom>
              <a:avLst/>
              <a:gdLst/>
              <a:ahLst/>
              <a:cxnLst/>
              <a:rect r="r" b="b" t="t" l="l"/>
              <a:pathLst>
                <a:path h="2840482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840482"/>
                  </a:lnTo>
                  <a:lnTo>
                    <a:pt x="0" y="28404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3" id="283"/>
            <p:cNvSpPr/>
            <p:nvPr/>
          </p:nvSpPr>
          <p:spPr>
            <a:xfrm flipH="false" flipV="false" rot="0">
              <a:off x="0" y="0"/>
              <a:ext cx="3828923" cy="2862580"/>
            </a:xfrm>
            <a:custGeom>
              <a:avLst/>
              <a:gdLst/>
              <a:ahLst/>
              <a:cxnLst/>
              <a:rect r="r" b="b" t="t" l="l"/>
              <a:pathLst>
                <a:path h="2862580" w="3828923">
                  <a:moveTo>
                    <a:pt x="11049" y="0"/>
                  </a:moveTo>
                  <a:lnTo>
                    <a:pt x="3817874" y="0"/>
                  </a:lnTo>
                  <a:cubicBezTo>
                    <a:pt x="3823970" y="0"/>
                    <a:pt x="3828923" y="4953"/>
                    <a:pt x="3828923" y="11049"/>
                  </a:cubicBezTo>
                  <a:lnTo>
                    <a:pt x="3828923" y="2851531"/>
                  </a:lnTo>
                  <a:cubicBezTo>
                    <a:pt x="3828923" y="2857627"/>
                    <a:pt x="3823970" y="2862580"/>
                    <a:pt x="3817874" y="2862580"/>
                  </a:cubicBezTo>
                  <a:lnTo>
                    <a:pt x="11049" y="2862580"/>
                  </a:lnTo>
                  <a:cubicBezTo>
                    <a:pt x="4953" y="2862580"/>
                    <a:pt x="0" y="2857627"/>
                    <a:pt x="0" y="2851531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2851531"/>
                  </a:lnTo>
                  <a:lnTo>
                    <a:pt x="11049" y="2851531"/>
                  </a:lnTo>
                  <a:lnTo>
                    <a:pt x="11049" y="2840482"/>
                  </a:lnTo>
                  <a:lnTo>
                    <a:pt x="3817874" y="2840482"/>
                  </a:lnTo>
                  <a:lnTo>
                    <a:pt x="3817874" y="2851531"/>
                  </a:lnTo>
                  <a:lnTo>
                    <a:pt x="3806825" y="2851531"/>
                  </a:lnTo>
                  <a:lnTo>
                    <a:pt x="3806825" y="11049"/>
                  </a:lnTo>
                  <a:lnTo>
                    <a:pt x="3817874" y="11049"/>
                  </a:lnTo>
                  <a:lnTo>
                    <a:pt x="3817874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84" id="284"/>
          <p:cNvGrpSpPr/>
          <p:nvPr/>
        </p:nvGrpSpPr>
        <p:grpSpPr>
          <a:xfrm rot="0">
            <a:off x="3459137" y="7203786"/>
            <a:ext cx="2855157" cy="301990"/>
            <a:chOff x="0" y="0"/>
            <a:chExt cx="3806876" cy="402654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3806825" cy="402590"/>
            </a:xfrm>
            <a:custGeom>
              <a:avLst/>
              <a:gdLst/>
              <a:ahLst/>
              <a:cxnLst/>
              <a:rect r="r" b="b" t="t" l="l"/>
              <a:pathLst>
                <a:path h="402590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5488C"/>
            </a:solidFill>
          </p:spPr>
        </p:sp>
        <p:sp>
          <p:nvSpPr>
            <p:cNvPr name="TextBox 286" id="286"/>
            <p:cNvSpPr txBox="true"/>
            <p:nvPr/>
          </p:nvSpPr>
          <p:spPr>
            <a:xfrm>
              <a:off x="0" y="-9525"/>
              <a:ext cx="3806876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fact_inventory</a:t>
              </a:r>
            </a:p>
          </p:txBody>
        </p:sp>
      </p:grpSp>
      <p:grpSp>
        <p:nvGrpSpPr>
          <p:cNvPr name="Group 287" id="287"/>
          <p:cNvGrpSpPr/>
          <p:nvPr/>
        </p:nvGrpSpPr>
        <p:grpSpPr>
          <a:xfrm rot="0">
            <a:off x="3455384" y="7502023"/>
            <a:ext cx="2862663" cy="210664"/>
            <a:chOff x="0" y="0"/>
            <a:chExt cx="3816883" cy="280886"/>
          </a:xfrm>
        </p:grpSpPr>
        <p:sp>
          <p:nvSpPr>
            <p:cNvPr name="Freeform 288" id="288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90" id="290"/>
          <p:cNvGrpSpPr/>
          <p:nvPr/>
        </p:nvGrpSpPr>
        <p:grpSpPr>
          <a:xfrm rot="0">
            <a:off x="3459137" y="7505776"/>
            <a:ext cx="329441" cy="203159"/>
            <a:chOff x="0" y="0"/>
            <a:chExt cx="439255" cy="270878"/>
          </a:xfrm>
        </p:grpSpPr>
        <p:sp>
          <p:nvSpPr>
            <p:cNvPr name="Freeform 291" id="291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292" id="292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293" id="293"/>
          <p:cNvGrpSpPr/>
          <p:nvPr/>
        </p:nvGrpSpPr>
        <p:grpSpPr>
          <a:xfrm rot="0">
            <a:off x="3802304" y="7505776"/>
            <a:ext cx="2511990" cy="203159"/>
            <a:chOff x="0" y="0"/>
            <a:chExt cx="3349320" cy="270878"/>
          </a:xfrm>
        </p:grpSpPr>
        <p:sp>
          <p:nvSpPr>
            <p:cNvPr name="Freeform 294" id="294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295" id="295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inventory_id</a:t>
              </a:r>
            </a:p>
          </p:txBody>
        </p:sp>
      </p:grpSp>
      <p:grpSp>
        <p:nvGrpSpPr>
          <p:cNvPr name="Group 296" id="296"/>
          <p:cNvGrpSpPr/>
          <p:nvPr/>
        </p:nvGrpSpPr>
        <p:grpSpPr>
          <a:xfrm rot="0">
            <a:off x="3455384" y="7705173"/>
            <a:ext cx="2862663" cy="210664"/>
            <a:chOff x="0" y="0"/>
            <a:chExt cx="3816883" cy="280886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3459137" y="7708925"/>
            <a:ext cx="329441" cy="203159"/>
            <a:chOff x="0" y="0"/>
            <a:chExt cx="439255" cy="270878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01" id="301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302" id="302"/>
          <p:cNvGrpSpPr/>
          <p:nvPr/>
        </p:nvGrpSpPr>
        <p:grpSpPr>
          <a:xfrm rot="0">
            <a:off x="3802304" y="7708925"/>
            <a:ext cx="2511990" cy="203159"/>
            <a:chOff x="0" y="0"/>
            <a:chExt cx="3349320" cy="270878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partner_id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3455384" y="7908331"/>
            <a:ext cx="2862663" cy="210664"/>
            <a:chOff x="0" y="0"/>
            <a:chExt cx="3816883" cy="28088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307" id="307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08" id="308"/>
          <p:cNvGrpSpPr/>
          <p:nvPr/>
        </p:nvGrpSpPr>
        <p:grpSpPr>
          <a:xfrm rot="0">
            <a:off x="3459137" y="7912084"/>
            <a:ext cx="329441" cy="203159"/>
            <a:chOff x="0" y="0"/>
            <a:chExt cx="439255" cy="270878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3802304" y="7912084"/>
            <a:ext cx="2511990" cy="203159"/>
            <a:chOff x="0" y="0"/>
            <a:chExt cx="3349320" cy="270878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product_id</a:t>
              </a:r>
            </a:p>
          </p:txBody>
        </p:sp>
      </p:grpSp>
      <p:grpSp>
        <p:nvGrpSpPr>
          <p:cNvPr name="Group 314" id="314"/>
          <p:cNvGrpSpPr/>
          <p:nvPr/>
        </p:nvGrpSpPr>
        <p:grpSpPr>
          <a:xfrm rot="0">
            <a:off x="3455384" y="8111480"/>
            <a:ext cx="2862663" cy="210664"/>
            <a:chOff x="0" y="0"/>
            <a:chExt cx="3816883" cy="280886"/>
          </a:xfrm>
        </p:grpSpPr>
        <p:sp>
          <p:nvSpPr>
            <p:cNvPr name="Freeform 315" id="315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316" id="316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17" id="317"/>
          <p:cNvGrpSpPr/>
          <p:nvPr/>
        </p:nvGrpSpPr>
        <p:grpSpPr>
          <a:xfrm rot="0">
            <a:off x="3459137" y="8115233"/>
            <a:ext cx="329441" cy="203159"/>
            <a:chOff x="0" y="0"/>
            <a:chExt cx="439255" cy="270878"/>
          </a:xfrm>
        </p:grpSpPr>
        <p:sp>
          <p:nvSpPr>
            <p:cNvPr name="Freeform 318" id="318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19" id="319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320" id="320"/>
          <p:cNvGrpSpPr/>
          <p:nvPr/>
        </p:nvGrpSpPr>
        <p:grpSpPr>
          <a:xfrm rot="0">
            <a:off x="3802304" y="8115233"/>
            <a:ext cx="2511990" cy="203159"/>
            <a:chOff x="0" y="0"/>
            <a:chExt cx="3349320" cy="270878"/>
          </a:xfrm>
        </p:grpSpPr>
        <p:sp>
          <p:nvSpPr>
            <p:cNvPr name="Freeform 321" id="321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22" id="322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date_id</a:t>
              </a:r>
            </a:p>
          </p:txBody>
        </p:sp>
      </p:grpSp>
      <p:grpSp>
        <p:nvGrpSpPr>
          <p:cNvPr name="Group 323" id="323"/>
          <p:cNvGrpSpPr/>
          <p:nvPr/>
        </p:nvGrpSpPr>
        <p:grpSpPr>
          <a:xfrm rot="0">
            <a:off x="3455384" y="8314639"/>
            <a:ext cx="2862663" cy="210664"/>
            <a:chOff x="0" y="0"/>
            <a:chExt cx="3816883" cy="280886"/>
          </a:xfrm>
        </p:grpSpPr>
        <p:sp>
          <p:nvSpPr>
            <p:cNvPr name="Freeform 324" id="324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325" id="325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26" id="326"/>
          <p:cNvGrpSpPr/>
          <p:nvPr/>
        </p:nvGrpSpPr>
        <p:grpSpPr>
          <a:xfrm rot="0">
            <a:off x="3459137" y="8318392"/>
            <a:ext cx="329441" cy="203159"/>
            <a:chOff x="0" y="0"/>
            <a:chExt cx="439255" cy="270878"/>
          </a:xfrm>
        </p:grpSpPr>
        <p:sp>
          <p:nvSpPr>
            <p:cNvPr name="Freeform 327" id="327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28" id="328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329" id="329"/>
          <p:cNvGrpSpPr/>
          <p:nvPr/>
        </p:nvGrpSpPr>
        <p:grpSpPr>
          <a:xfrm rot="0">
            <a:off x="3802304" y="8318392"/>
            <a:ext cx="2511990" cy="203159"/>
            <a:chOff x="0" y="0"/>
            <a:chExt cx="3349320" cy="270878"/>
          </a:xfrm>
        </p:grpSpPr>
        <p:sp>
          <p:nvSpPr>
            <p:cNvPr name="Freeform 330" id="330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31" id="331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time_slot_id</a:t>
              </a:r>
            </a:p>
          </p:txBody>
        </p:sp>
      </p:grpSp>
      <p:grpSp>
        <p:nvGrpSpPr>
          <p:cNvPr name="Group 332" id="332"/>
          <p:cNvGrpSpPr/>
          <p:nvPr/>
        </p:nvGrpSpPr>
        <p:grpSpPr>
          <a:xfrm rot="0">
            <a:off x="3455384" y="8517798"/>
            <a:ext cx="2862663" cy="210664"/>
            <a:chOff x="0" y="0"/>
            <a:chExt cx="3816883" cy="280886"/>
          </a:xfrm>
        </p:grpSpPr>
        <p:sp>
          <p:nvSpPr>
            <p:cNvPr name="Freeform 333" id="333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4" id="334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35" id="335"/>
          <p:cNvGrpSpPr/>
          <p:nvPr/>
        </p:nvGrpSpPr>
        <p:grpSpPr>
          <a:xfrm rot="0">
            <a:off x="3459137" y="8521551"/>
            <a:ext cx="2855157" cy="203159"/>
            <a:chOff x="0" y="0"/>
            <a:chExt cx="3806876" cy="270878"/>
          </a:xfrm>
        </p:grpSpPr>
        <p:sp>
          <p:nvSpPr>
            <p:cNvPr name="Freeform 336" id="336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7" id="337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available_qty</a:t>
              </a:r>
            </a:p>
          </p:txBody>
        </p:sp>
      </p:grpSp>
      <p:grpSp>
        <p:nvGrpSpPr>
          <p:cNvPr name="Group 338" id="338"/>
          <p:cNvGrpSpPr/>
          <p:nvPr/>
        </p:nvGrpSpPr>
        <p:grpSpPr>
          <a:xfrm rot="0">
            <a:off x="3455384" y="8720957"/>
            <a:ext cx="2862663" cy="210664"/>
            <a:chOff x="0" y="0"/>
            <a:chExt cx="3816883" cy="280886"/>
          </a:xfrm>
        </p:grpSpPr>
        <p:sp>
          <p:nvSpPr>
            <p:cNvPr name="Freeform 339" id="339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340" id="340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41" id="341"/>
          <p:cNvGrpSpPr/>
          <p:nvPr/>
        </p:nvGrpSpPr>
        <p:grpSpPr>
          <a:xfrm rot="0">
            <a:off x="3459137" y="8724710"/>
            <a:ext cx="2855157" cy="203159"/>
            <a:chOff x="0" y="0"/>
            <a:chExt cx="3806876" cy="270878"/>
          </a:xfrm>
        </p:grpSpPr>
        <p:sp>
          <p:nvSpPr>
            <p:cNvPr name="Freeform 342" id="342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343" id="343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sold_qty</a:t>
              </a:r>
            </a:p>
          </p:txBody>
        </p:sp>
      </p:grpSp>
      <p:grpSp>
        <p:nvGrpSpPr>
          <p:cNvPr name="Group 344" id="344"/>
          <p:cNvGrpSpPr/>
          <p:nvPr/>
        </p:nvGrpSpPr>
        <p:grpSpPr>
          <a:xfrm rot="0">
            <a:off x="3455384" y="8924106"/>
            <a:ext cx="2862663" cy="210664"/>
            <a:chOff x="0" y="0"/>
            <a:chExt cx="3816883" cy="280886"/>
          </a:xfrm>
        </p:grpSpPr>
        <p:sp>
          <p:nvSpPr>
            <p:cNvPr name="Freeform 345" id="345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6" id="346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47" id="347"/>
          <p:cNvGrpSpPr/>
          <p:nvPr/>
        </p:nvGrpSpPr>
        <p:grpSpPr>
          <a:xfrm rot="0">
            <a:off x="3459137" y="8927859"/>
            <a:ext cx="2855157" cy="203159"/>
            <a:chOff x="0" y="0"/>
            <a:chExt cx="3806876" cy="270878"/>
          </a:xfrm>
        </p:grpSpPr>
        <p:sp>
          <p:nvSpPr>
            <p:cNvPr name="Freeform 348" id="348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9" id="349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reserved_qty</a:t>
              </a:r>
            </a:p>
          </p:txBody>
        </p:sp>
      </p:grpSp>
      <p:grpSp>
        <p:nvGrpSpPr>
          <p:cNvPr name="Group 350" id="350"/>
          <p:cNvGrpSpPr/>
          <p:nvPr/>
        </p:nvGrpSpPr>
        <p:grpSpPr>
          <a:xfrm rot="0">
            <a:off x="3455384" y="9127265"/>
            <a:ext cx="2862663" cy="210664"/>
            <a:chOff x="0" y="0"/>
            <a:chExt cx="3816883" cy="280886"/>
          </a:xfrm>
        </p:grpSpPr>
        <p:sp>
          <p:nvSpPr>
            <p:cNvPr name="Freeform 351" id="351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352" id="352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53" id="353"/>
          <p:cNvGrpSpPr/>
          <p:nvPr/>
        </p:nvGrpSpPr>
        <p:grpSpPr>
          <a:xfrm rot="0">
            <a:off x="3459137" y="9131017"/>
            <a:ext cx="2855157" cy="203159"/>
            <a:chOff x="0" y="0"/>
            <a:chExt cx="3806876" cy="270878"/>
          </a:xfrm>
        </p:grpSpPr>
        <p:sp>
          <p:nvSpPr>
            <p:cNvPr name="Freeform 354" id="354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355" id="355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wasted_qty</a:t>
              </a:r>
            </a:p>
          </p:txBody>
        </p:sp>
      </p:grpSp>
      <p:grpSp>
        <p:nvGrpSpPr>
          <p:cNvPr name="Group 356" id="356"/>
          <p:cNvGrpSpPr/>
          <p:nvPr/>
        </p:nvGrpSpPr>
        <p:grpSpPr>
          <a:xfrm rot="0">
            <a:off x="6882555" y="732987"/>
            <a:ext cx="2871673" cy="2146897"/>
            <a:chOff x="0" y="0"/>
            <a:chExt cx="3828898" cy="2862529"/>
          </a:xfrm>
        </p:grpSpPr>
        <p:sp>
          <p:nvSpPr>
            <p:cNvPr name="Freeform 357" id="357"/>
            <p:cNvSpPr/>
            <p:nvPr/>
          </p:nvSpPr>
          <p:spPr>
            <a:xfrm flipH="false" flipV="false" rot="0">
              <a:off x="11049" y="11049"/>
              <a:ext cx="3806825" cy="2840482"/>
            </a:xfrm>
            <a:custGeom>
              <a:avLst/>
              <a:gdLst/>
              <a:ahLst/>
              <a:cxnLst/>
              <a:rect r="r" b="b" t="t" l="l"/>
              <a:pathLst>
                <a:path h="2840482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840482"/>
                  </a:lnTo>
                  <a:lnTo>
                    <a:pt x="0" y="28404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8" id="358"/>
            <p:cNvSpPr/>
            <p:nvPr/>
          </p:nvSpPr>
          <p:spPr>
            <a:xfrm flipH="false" flipV="false" rot="0">
              <a:off x="0" y="0"/>
              <a:ext cx="3828923" cy="2862580"/>
            </a:xfrm>
            <a:custGeom>
              <a:avLst/>
              <a:gdLst/>
              <a:ahLst/>
              <a:cxnLst/>
              <a:rect r="r" b="b" t="t" l="l"/>
              <a:pathLst>
                <a:path h="2862580" w="3828923">
                  <a:moveTo>
                    <a:pt x="11049" y="0"/>
                  </a:moveTo>
                  <a:lnTo>
                    <a:pt x="3817874" y="0"/>
                  </a:lnTo>
                  <a:cubicBezTo>
                    <a:pt x="3823970" y="0"/>
                    <a:pt x="3828923" y="4953"/>
                    <a:pt x="3828923" y="11049"/>
                  </a:cubicBezTo>
                  <a:lnTo>
                    <a:pt x="3828923" y="2851531"/>
                  </a:lnTo>
                  <a:cubicBezTo>
                    <a:pt x="3828923" y="2857627"/>
                    <a:pt x="3823970" y="2862580"/>
                    <a:pt x="3817874" y="2862580"/>
                  </a:cubicBezTo>
                  <a:lnTo>
                    <a:pt x="11049" y="2862580"/>
                  </a:lnTo>
                  <a:cubicBezTo>
                    <a:pt x="4953" y="2862580"/>
                    <a:pt x="0" y="2857627"/>
                    <a:pt x="0" y="2851531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2851531"/>
                  </a:lnTo>
                  <a:lnTo>
                    <a:pt x="11049" y="2851531"/>
                  </a:lnTo>
                  <a:lnTo>
                    <a:pt x="11049" y="2840482"/>
                  </a:lnTo>
                  <a:lnTo>
                    <a:pt x="3817874" y="2840482"/>
                  </a:lnTo>
                  <a:lnTo>
                    <a:pt x="3817874" y="2851531"/>
                  </a:lnTo>
                  <a:lnTo>
                    <a:pt x="3806825" y="2851531"/>
                  </a:lnTo>
                  <a:lnTo>
                    <a:pt x="3806825" y="11049"/>
                  </a:lnTo>
                  <a:lnTo>
                    <a:pt x="3817874" y="11049"/>
                  </a:lnTo>
                  <a:lnTo>
                    <a:pt x="3817874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59" id="359"/>
          <p:cNvGrpSpPr/>
          <p:nvPr/>
        </p:nvGrpSpPr>
        <p:grpSpPr>
          <a:xfrm rot="0">
            <a:off x="6890814" y="741245"/>
            <a:ext cx="2855157" cy="301990"/>
            <a:chOff x="0" y="0"/>
            <a:chExt cx="3806876" cy="402654"/>
          </a:xfrm>
        </p:grpSpPr>
        <p:sp>
          <p:nvSpPr>
            <p:cNvPr name="Freeform 360" id="360"/>
            <p:cNvSpPr/>
            <p:nvPr/>
          </p:nvSpPr>
          <p:spPr>
            <a:xfrm flipH="false" flipV="false" rot="0">
              <a:off x="0" y="0"/>
              <a:ext cx="3806825" cy="402590"/>
            </a:xfrm>
            <a:custGeom>
              <a:avLst/>
              <a:gdLst/>
              <a:ahLst/>
              <a:cxnLst/>
              <a:rect r="r" b="b" t="t" l="l"/>
              <a:pathLst>
                <a:path h="402590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5488C"/>
            </a:solidFill>
          </p:spPr>
        </p:sp>
        <p:sp>
          <p:nvSpPr>
            <p:cNvPr name="TextBox 361" id="361"/>
            <p:cNvSpPr txBox="true"/>
            <p:nvPr/>
          </p:nvSpPr>
          <p:spPr>
            <a:xfrm>
              <a:off x="0" y="-9525"/>
              <a:ext cx="3806876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fact_reviews</a:t>
              </a:r>
            </a:p>
          </p:txBody>
        </p:sp>
      </p:grpSp>
      <p:grpSp>
        <p:nvGrpSpPr>
          <p:cNvPr name="Group 362" id="362"/>
          <p:cNvGrpSpPr/>
          <p:nvPr/>
        </p:nvGrpSpPr>
        <p:grpSpPr>
          <a:xfrm rot="0">
            <a:off x="6887061" y="1039482"/>
            <a:ext cx="2862663" cy="210664"/>
            <a:chOff x="0" y="0"/>
            <a:chExt cx="3816883" cy="280886"/>
          </a:xfrm>
        </p:grpSpPr>
        <p:sp>
          <p:nvSpPr>
            <p:cNvPr name="Freeform 363" id="363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364" id="364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65" id="365"/>
          <p:cNvGrpSpPr/>
          <p:nvPr/>
        </p:nvGrpSpPr>
        <p:grpSpPr>
          <a:xfrm rot="0">
            <a:off x="6890814" y="1043235"/>
            <a:ext cx="329441" cy="203159"/>
            <a:chOff x="0" y="0"/>
            <a:chExt cx="439255" cy="270878"/>
          </a:xfrm>
        </p:grpSpPr>
        <p:sp>
          <p:nvSpPr>
            <p:cNvPr name="Freeform 366" id="366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367" id="367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368" id="368"/>
          <p:cNvGrpSpPr/>
          <p:nvPr/>
        </p:nvGrpSpPr>
        <p:grpSpPr>
          <a:xfrm rot="0">
            <a:off x="7233980" y="1043235"/>
            <a:ext cx="2511990" cy="203159"/>
            <a:chOff x="0" y="0"/>
            <a:chExt cx="3349320" cy="270878"/>
          </a:xfrm>
        </p:grpSpPr>
        <p:sp>
          <p:nvSpPr>
            <p:cNvPr name="Freeform 369" id="369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370" id="370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review_id</a:t>
              </a:r>
            </a:p>
          </p:txBody>
        </p:sp>
      </p:grpSp>
      <p:grpSp>
        <p:nvGrpSpPr>
          <p:cNvPr name="Group 371" id="371"/>
          <p:cNvGrpSpPr/>
          <p:nvPr/>
        </p:nvGrpSpPr>
        <p:grpSpPr>
          <a:xfrm rot="0">
            <a:off x="6887061" y="1242632"/>
            <a:ext cx="2862663" cy="210664"/>
            <a:chOff x="0" y="0"/>
            <a:chExt cx="3816883" cy="280886"/>
          </a:xfrm>
        </p:grpSpPr>
        <p:sp>
          <p:nvSpPr>
            <p:cNvPr name="Freeform 372" id="372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373" id="373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74" id="374"/>
          <p:cNvGrpSpPr/>
          <p:nvPr/>
        </p:nvGrpSpPr>
        <p:grpSpPr>
          <a:xfrm rot="0">
            <a:off x="6890814" y="1246384"/>
            <a:ext cx="329441" cy="203159"/>
            <a:chOff x="0" y="0"/>
            <a:chExt cx="439255" cy="270878"/>
          </a:xfrm>
        </p:grpSpPr>
        <p:sp>
          <p:nvSpPr>
            <p:cNvPr name="Freeform 375" id="375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76" id="376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377" id="377"/>
          <p:cNvGrpSpPr/>
          <p:nvPr/>
        </p:nvGrpSpPr>
        <p:grpSpPr>
          <a:xfrm rot="0">
            <a:off x="7233980" y="1246384"/>
            <a:ext cx="2511990" cy="203159"/>
            <a:chOff x="0" y="0"/>
            <a:chExt cx="3349320" cy="270878"/>
          </a:xfrm>
        </p:grpSpPr>
        <p:sp>
          <p:nvSpPr>
            <p:cNvPr name="Freeform 378" id="378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79" id="379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order_id</a:t>
              </a:r>
            </a:p>
          </p:txBody>
        </p:sp>
      </p:grpSp>
      <p:grpSp>
        <p:nvGrpSpPr>
          <p:cNvPr name="Group 380" id="380"/>
          <p:cNvGrpSpPr/>
          <p:nvPr/>
        </p:nvGrpSpPr>
        <p:grpSpPr>
          <a:xfrm rot="0">
            <a:off x="6887061" y="1445790"/>
            <a:ext cx="2862663" cy="210664"/>
            <a:chOff x="0" y="0"/>
            <a:chExt cx="3816883" cy="280886"/>
          </a:xfrm>
        </p:grpSpPr>
        <p:sp>
          <p:nvSpPr>
            <p:cNvPr name="Freeform 381" id="381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382" id="382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83" id="383"/>
          <p:cNvGrpSpPr/>
          <p:nvPr/>
        </p:nvGrpSpPr>
        <p:grpSpPr>
          <a:xfrm rot="0">
            <a:off x="6890814" y="1449543"/>
            <a:ext cx="329441" cy="203159"/>
            <a:chOff x="0" y="0"/>
            <a:chExt cx="439255" cy="270878"/>
          </a:xfrm>
        </p:grpSpPr>
        <p:sp>
          <p:nvSpPr>
            <p:cNvPr name="Freeform 384" id="384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85" id="385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386" id="386"/>
          <p:cNvGrpSpPr/>
          <p:nvPr/>
        </p:nvGrpSpPr>
        <p:grpSpPr>
          <a:xfrm rot="0">
            <a:off x="7233980" y="1449543"/>
            <a:ext cx="2511990" cy="203159"/>
            <a:chOff x="0" y="0"/>
            <a:chExt cx="3349320" cy="270878"/>
          </a:xfrm>
        </p:grpSpPr>
        <p:sp>
          <p:nvSpPr>
            <p:cNvPr name="Freeform 387" id="387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88" id="388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customer_id</a:t>
              </a:r>
            </a:p>
          </p:txBody>
        </p:sp>
      </p:grpSp>
      <p:grpSp>
        <p:nvGrpSpPr>
          <p:cNvPr name="Group 389" id="389"/>
          <p:cNvGrpSpPr/>
          <p:nvPr/>
        </p:nvGrpSpPr>
        <p:grpSpPr>
          <a:xfrm rot="0">
            <a:off x="6887061" y="1648939"/>
            <a:ext cx="2862663" cy="210664"/>
            <a:chOff x="0" y="0"/>
            <a:chExt cx="3816883" cy="280886"/>
          </a:xfrm>
        </p:grpSpPr>
        <p:sp>
          <p:nvSpPr>
            <p:cNvPr name="Freeform 390" id="390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391" id="391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392" id="392"/>
          <p:cNvGrpSpPr/>
          <p:nvPr/>
        </p:nvGrpSpPr>
        <p:grpSpPr>
          <a:xfrm rot="0">
            <a:off x="6890814" y="1652692"/>
            <a:ext cx="329441" cy="203159"/>
            <a:chOff x="0" y="0"/>
            <a:chExt cx="439255" cy="270878"/>
          </a:xfrm>
        </p:grpSpPr>
        <p:sp>
          <p:nvSpPr>
            <p:cNvPr name="Freeform 393" id="393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94" id="394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395" id="395"/>
          <p:cNvGrpSpPr/>
          <p:nvPr/>
        </p:nvGrpSpPr>
        <p:grpSpPr>
          <a:xfrm rot="0">
            <a:off x="7233980" y="1652692"/>
            <a:ext cx="2511990" cy="203159"/>
            <a:chOff x="0" y="0"/>
            <a:chExt cx="3349320" cy="270878"/>
          </a:xfrm>
        </p:grpSpPr>
        <p:sp>
          <p:nvSpPr>
            <p:cNvPr name="Freeform 396" id="396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397" id="397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partner_id</a:t>
              </a:r>
            </a:p>
          </p:txBody>
        </p:sp>
      </p:grpSp>
      <p:grpSp>
        <p:nvGrpSpPr>
          <p:cNvPr name="Group 398" id="398"/>
          <p:cNvGrpSpPr/>
          <p:nvPr/>
        </p:nvGrpSpPr>
        <p:grpSpPr>
          <a:xfrm rot="0">
            <a:off x="6887061" y="1852098"/>
            <a:ext cx="2862663" cy="210664"/>
            <a:chOff x="0" y="0"/>
            <a:chExt cx="3816883" cy="280886"/>
          </a:xfrm>
        </p:grpSpPr>
        <p:sp>
          <p:nvSpPr>
            <p:cNvPr name="Freeform 399" id="399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400" id="400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01" id="401"/>
          <p:cNvGrpSpPr/>
          <p:nvPr/>
        </p:nvGrpSpPr>
        <p:grpSpPr>
          <a:xfrm rot="0">
            <a:off x="6890814" y="1855851"/>
            <a:ext cx="329441" cy="203159"/>
            <a:chOff x="0" y="0"/>
            <a:chExt cx="439255" cy="270878"/>
          </a:xfrm>
        </p:grpSpPr>
        <p:sp>
          <p:nvSpPr>
            <p:cNvPr name="Freeform 402" id="402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403" id="403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404" id="404"/>
          <p:cNvGrpSpPr/>
          <p:nvPr/>
        </p:nvGrpSpPr>
        <p:grpSpPr>
          <a:xfrm rot="0">
            <a:off x="7233980" y="1855851"/>
            <a:ext cx="2511990" cy="203159"/>
            <a:chOff x="0" y="0"/>
            <a:chExt cx="3349320" cy="270878"/>
          </a:xfrm>
        </p:grpSpPr>
        <p:sp>
          <p:nvSpPr>
            <p:cNvPr name="Freeform 405" id="405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406" id="406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review_date_id</a:t>
              </a:r>
            </a:p>
          </p:txBody>
        </p:sp>
      </p:grpSp>
      <p:grpSp>
        <p:nvGrpSpPr>
          <p:cNvPr name="Group 407" id="407"/>
          <p:cNvGrpSpPr/>
          <p:nvPr/>
        </p:nvGrpSpPr>
        <p:grpSpPr>
          <a:xfrm rot="0">
            <a:off x="6887061" y="2055257"/>
            <a:ext cx="2862663" cy="210664"/>
            <a:chOff x="0" y="0"/>
            <a:chExt cx="3816883" cy="280886"/>
          </a:xfrm>
        </p:grpSpPr>
        <p:sp>
          <p:nvSpPr>
            <p:cNvPr name="Freeform 408" id="408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9" id="409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10" id="410"/>
          <p:cNvGrpSpPr/>
          <p:nvPr/>
        </p:nvGrpSpPr>
        <p:grpSpPr>
          <a:xfrm rot="0">
            <a:off x="6890814" y="2059010"/>
            <a:ext cx="2855157" cy="203159"/>
            <a:chOff x="0" y="0"/>
            <a:chExt cx="3806876" cy="270878"/>
          </a:xfrm>
        </p:grpSpPr>
        <p:sp>
          <p:nvSpPr>
            <p:cNvPr name="Freeform 411" id="411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2" id="412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rating</a:t>
              </a:r>
            </a:p>
          </p:txBody>
        </p:sp>
      </p:grpSp>
      <p:grpSp>
        <p:nvGrpSpPr>
          <p:cNvPr name="Group 413" id="413"/>
          <p:cNvGrpSpPr/>
          <p:nvPr/>
        </p:nvGrpSpPr>
        <p:grpSpPr>
          <a:xfrm rot="0">
            <a:off x="6887061" y="2258416"/>
            <a:ext cx="2862663" cy="210664"/>
            <a:chOff x="0" y="0"/>
            <a:chExt cx="3816883" cy="280886"/>
          </a:xfrm>
        </p:grpSpPr>
        <p:sp>
          <p:nvSpPr>
            <p:cNvPr name="Freeform 414" id="414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415" id="415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16" id="416"/>
          <p:cNvGrpSpPr/>
          <p:nvPr/>
        </p:nvGrpSpPr>
        <p:grpSpPr>
          <a:xfrm rot="0">
            <a:off x="6890814" y="2262168"/>
            <a:ext cx="2855157" cy="203159"/>
            <a:chOff x="0" y="0"/>
            <a:chExt cx="3806876" cy="270878"/>
          </a:xfrm>
        </p:grpSpPr>
        <p:sp>
          <p:nvSpPr>
            <p:cNvPr name="Freeform 417" id="417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18" id="418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comment</a:t>
              </a:r>
            </a:p>
          </p:txBody>
        </p:sp>
      </p:grpSp>
      <p:grpSp>
        <p:nvGrpSpPr>
          <p:cNvPr name="Group 419" id="419"/>
          <p:cNvGrpSpPr/>
          <p:nvPr/>
        </p:nvGrpSpPr>
        <p:grpSpPr>
          <a:xfrm rot="0">
            <a:off x="6887061" y="2461565"/>
            <a:ext cx="2862663" cy="210664"/>
            <a:chOff x="0" y="0"/>
            <a:chExt cx="3816883" cy="280886"/>
          </a:xfrm>
        </p:grpSpPr>
        <p:sp>
          <p:nvSpPr>
            <p:cNvPr name="Freeform 420" id="420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1" id="421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22" id="422"/>
          <p:cNvGrpSpPr/>
          <p:nvPr/>
        </p:nvGrpSpPr>
        <p:grpSpPr>
          <a:xfrm rot="0">
            <a:off x="6890814" y="2465318"/>
            <a:ext cx="2855157" cy="203159"/>
            <a:chOff x="0" y="0"/>
            <a:chExt cx="3806876" cy="270878"/>
          </a:xfrm>
        </p:grpSpPr>
        <p:sp>
          <p:nvSpPr>
            <p:cNvPr name="Freeform 423" id="423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4" id="424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food_quality_rating</a:t>
              </a:r>
            </a:p>
          </p:txBody>
        </p:sp>
      </p:grpSp>
      <p:grpSp>
        <p:nvGrpSpPr>
          <p:cNvPr name="Group 425" id="425"/>
          <p:cNvGrpSpPr/>
          <p:nvPr/>
        </p:nvGrpSpPr>
        <p:grpSpPr>
          <a:xfrm rot="0">
            <a:off x="6887061" y="2664724"/>
            <a:ext cx="2862663" cy="210664"/>
            <a:chOff x="0" y="0"/>
            <a:chExt cx="3816883" cy="280886"/>
          </a:xfrm>
        </p:grpSpPr>
        <p:sp>
          <p:nvSpPr>
            <p:cNvPr name="Freeform 426" id="426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427" id="427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28" id="428"/>
          <p:cNvGrpSpPr/>
          <p:nvPr/>
        </p:nvGrpSpPr>
        <p:grpSpPr>
          <a:xfrm rot="0">
            <a:off x="6890814" y="2668476"/>
            <a:ext cx="2855157" cy="203159"/>
            <a:chOff x="0" y="0"/>
            <a:chExt cx="3806876" cy="270878"/>
          </a:xfrm>
        </p:grpSpPr>
        <p:sp>
          <p:nvSpPr>
            <p:cNvPr name="Freeform 429" id="429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30" id="430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value_rating</a:t>
              </a:r>
            </a:p>
          </p:txBody>
        </p:sp>
      </p:grpSp>
      <p:grpSp>
        <p:nvGrpSpPr>
          <p:cNvPr name="Group 431" id="431"/>
          <p:cNvGrpSpPr/>
          <p:nvPr/>
        </p:nvGrpSpPr>
        <p:grpSpPr>
          <a:xfrm rot="0">
            <a:off x="6882555" y="4268991"/>
            <a:ext cx="2871673" cy="1740589"/>
            <a:chOff x="0" y="0"/>
            <a:chExt cx="3828898" cy="2320785"/>
          </a:xfrm>
        </p:grpSpPr>
        <p:sp>
          <p:nvSpPr>
            <p:cNvPr name="Freeform 432" id="432"/>
            <p:cNvSpPr/>
            <p:nvPr/>
          </p:nvSpPr>
          <p:spPr>
            <a:xfrm flipH="false" flipV="false" rot="0">
              <a:off x="11049" y="11049"/>
              <a:ext cx="3806825" cy="2298700"/>
            </a:xfrm>
            <a:custGeom>
              <a:avLst/>
              <a:gdLst/>
              <a:ahLst/>
              <a:cxnLst/>
              <a:rect r="r" b="b" t="t" l="l"/>
              <a:pathLst>
                <a:path h="2298700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298700"/>
                  </a:lnTo>
                  <a:lnTo>
                    <a:pt x="0" y="22987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3" id="433"/>
            <p:cNvSpPr/>
            <p:nvPr/>
          </p:nvSpPr>
          <p:spPr>
            <a:xfrm flipH="false" flipV="false" rot="0">
              <a:off x="0" y="0"/>
              <a:ext cx="3828923" cy="2320798"/>
            </a:xfrm>
            <a:custGeom>
              <a:avLst/>
              <a:gdLst/>
              <a:ahLst/>
              <a:cxnLst/>
              <a:rect r="r" b="b" t="t" l="l"/>
              <a:pathLst>
                <a:path h="2320798" w="3828923">
                  <a:moveTo>
                    <a:pt x="11049" y="0"/>
                  </a:moveTo>
                  <a:lnTo>
                    <a:pt x="3817874" y="0"/>
                  </a:lnTo>
                  <a:cubicBezTo>
                    <a:pt x="3823970" y="0"/>
                    <a:pt x="3828923" y="4953"/>
                    <a:pt x="3828923" y="11049"/>
                  </a:cubicBezTo>
                  <a:lnTo>
                    <a:pt x="3828923" y="2309749"/>
                  </a:lnTo>
                  <a:cubicBezTo>
                    <a:pt x="3828923" y="2315845"/>
                    <a:pt x="3823970" y="2320798"/>
                    <a:pt x="3817874" y="2320798"/>
                  </a:cubicBezTo>
                  <a:lnTo>
                    <a:pt x="11049" y="2320798"/>
                  </a:lnTo>
                  <a:cubicBezTo>
                    <a:pt x="4953" y="2320798"/>
                    <a:pt x="0" y="2315845"/>
                    <a:pt x="0" y="2309749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2309749"/>
                  </a:lnTo>
                  <a:lnTo>
                    <a:pt x="11049" y="2309749"/>
                  </a:lnTo>
                  <a:lnTo>
                    <a:pt x="11049" y="2298700"/>
                  </a:lnTo>
                  <a:lnTo>
                    <a:pt x="3817874" y="2298700"/>
                  </a:lnTo>
                  <a:lnTo>
                    <a:pt x="3817874" y="2309749"/>
                  </a:lnTo>
                  <a:lnTo>
                    <a:pt x="3806825" y="2309749"/>
                  </a:lnTo>
                  <a:lnTo>
                    <a:pt x="3806825" y="11049"/>
                  </a:lnTo>
                  <a:lnTo>
                    <a:pt x="3817874" y="11049"/>
                  </a:lnTo>
                  <a:lnTo>
                    <a:pt x="3817874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34" id="434"/>
          <p:cNvGrpSpPr/>
          <p:nvPr/>
        </p:nvGrpSpPr>
        <p:grpSpPr>
          <a:xfrm rot="0">
            <a:off x="6890814" y="4277249"/>
            <a:ext cx="2855157" cy="301990"/>
            <a:chOff x="0" y="0"/>
            <a:chExt cx="3806876" cy="402654"/>
          </a:xfrm>
        </p:grpSpPr>
        <p:sp>
          <p:nvSpPr>
            <p:cNvPr name="Freeform 435" id="435"/>
            <p:cNvSpPr/>
            <p:nvPr/>
          </p:nvSpPr>
          <p:spPr>
            <a:xfrm flipH="false" flipV="false" rot="0">
              <a:off x="0" y="0"/>
              <a:ext cx="3806825" cy="402590"/>
            </a:xfrm>
            <a:custGeom>
              <a:avLst/>
              <a:gdLst/>
              <a:ahLst/>
              <a:cxnLst/>
              <a:rect r="r" b="b" t="t" l="l"/>
              <a:pathLst>
                <a:path h="402590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5488C"/>
            </a:solidFill>
          </p:spPr>
        </p:sp>
        <p:sp>
          <p:nvSpPr>
            <p:cNvPr name="TextBox 436" id="436"/>
            <p:cNvSpPr txBox="true"/>
            <p:nvPr/>
          </p:nvSpPr>
          <p:spPr>
            <a:xfrm>
              <a:off x="0" y="-9525"/>
              <a:ext cx="3806876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fact_food_waste_saved</a:t>
              </a:r>
            </a:p>
          </p:txBody>
        </p:sp>
      </p:grpSp>
      <p:grpSp>
        <p:nvGrpSpPr>
          <p:cNvPr name="Group 437" id="437"/>
          <p:cNvGrpSpPr/>
          <p:nvPr/>
        </p:nvGrpSpPr>
        <p:grpSpPr>
          <a:xfrm rot="0">
            <a:off x="6887061" y="4575486"/>
            <a:ext cx="2862663" cy="210664"/>
            <a:chOff x="0" y="0"/>
            <a:chExt cx="3816883" cy="280886"/>
          </a:xfrm>
        </p:grpSpPr>
        <p:sp>
          <p:nvSpPr>
            <p:cNvPr name="Freeform 438" id="438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439" id="439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40" id="440"/>
          <p:cNvGrpSpPr/>
          <p:nvPr/>
        </p:nvGrpSpPr>
        <p:grpSpPr>
          <a:xfrm rot="0">
            <a:off x="6890814" y="4579239"/>
            <a:ext cx="329441" cy="203159"/>
            <a:chOff x="0" y="0"/>
            <a:chExt cx="439255" cy="270878"/>
          </a:xfrm>
        </p:grpSpPr>
        <p:sp>
          <p:nvSpPr>
            <p:cNvPr name="Freeform 441" id="441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442" id="442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443" id="443"/>
          <p:cNvGrpSpPr/>
          <p:nvPr/>
        </p:nvGrpSpPr>
        <p:grpSpPr>
          <a:xfrm rot="0">
            <a:off x="7233980" y="4579239"/>
            <a:ext cx="2511990" cy="203159"/>
            <a:chOff x="0" y="0"/>
            <a:chExt cx="3349320" cy="270878"/>
          </a:xfrm>
        </p:grpSpPr>
        <p:sp>
          <p:nvSpPr>
            <p:cNvPr name="Freeform 444" id="444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445" id="445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waste_saved_id</a:t>
              </a:r>
            </a:p>
          </p:txBody>
        </p:sp>
      </p:grpSp>
      <p:grpSp>
        <p:nvGrpSpPr>
          <p:cNvPr name="Group 446" id="446"/>
          <p:cNvGrpSpPr/>
          <p:nvPr/>
        </p:nvGrpSpPr>
        <p:grpSpPr>
          <a:xfrm rot="0">
            <a:off x="6887061" y="4778635"/>
            <a:ext cx="2862663" cy="210664"/>
            <a:chOff x="0" y="0"/>
            <a:chExt cx="3816883" cy="280886"/>
          </a:xfrm>
        </p:grpSpPr>
        <p:sp>
          <p:nvSpPr>
            <p:cNvPr name="Freeform 447" id="447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448" id="448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49" id="449"/>
          <p:cNvGrpSpPr/>
          <p:nvPr/>
        </p:nvGrpSpPr>
        <p:grpSpPr>
          <a:xfrm rot="0">
            <a:off x="6890814" y="4782388"/>
            <a:ext cx="329441" cy="203159"/>
            <a:chOff x="0" y="0"/>
            <a:chExt cx="439255" cy="270878"/>
          </a:xfrm>
        </p:grpSpPr>
        <p:sp>
          <p:nvSpPr>
            <p:cNvPr name="Freeform 450" id="450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451" id="451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452" id="452"/>
          <p:cNvGrpSpPr/>
          <p:nvPr/>
        </p:nvGrpSpPr>
        <p:grpSpPr>
          <a:xfrm rot="0">
            <a:off x="7233980" y="4782388"/>
            <a:ext cx="2511990" cy="203159"/>
            <a:chOff x="0" y="0"/>
            <a:chExt cx="3349320" cy="270878"/>
          </a:xfrm>
        </p:grpSpPr>
        <p:sp>
          <p:nvSpPr>
            <p:cNvPr name="Freeform 453" id="453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454" id="454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partner_id</a:t>
              </a:r>
            </a:p>
          </p:txBody>
        </p:sp>
      </p:grpSp>
      <p:grpSp>
        <p:nvGrpSpPr>
          <p:cNvPr name="Group 455" id="455"/>
          <p:cNvGrpSpPr/>
          <p:nvPr/>
        </p:nvGrpSpPr>
        <p:grpSpPr>
          <a:xfrm rot="0">
            <a:off x="6887061" y="4981794"/>
            <a:ext cx="2862663" cy="210664"/>
            <a:chOff x="0" y="0"/>
            <a:chExt cx="3816883" cy="280886"/>
          </a:xfrm>
        </p:grpSpPr>
        <p:sp>
          <p:nvSpPr>
            <p:cNvPr name="Freeform 456" id="456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457" id="457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58" id="458"/>
          <p:cNvGrpSpPr/>
          <p:nvPr/>
        </p:nvGrpSpPr>
        <p:grpSpPr>
          <a:xfrm rot="0">
            <a:off x="6890814" y="4985547"/>
            <a:ext cx="329441" cy="203159"/>
            <a:chOff x="0" y="0"/>
            <a:chExt cx="439255" cy="270878"/>
          </a:xfrm>
        </p:grpSpPr>
        <p:sp>
          <p:nvSpPr>
            <p:cNvPr name="Freeform 459" id="459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460" id="460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461" id="461"/>
          <p:cNvGrpSpPr/>
          <p:nvPr/>
        </p:nvGrpSpPr>
        <p:grpSpPr>
          <a:xfrm rot="0">
            <a:off x="7233980" y="4985547"/>
            <a:ext cx="2511990" cy="203159"/>
            <a:chOff x="0" y="0"/>
            <a:chExt cx="3349320" cy="270878"/>
          </a:xfrm>
        </p:grpSpPr>
        <p:sp>
          <p:nvSpPr>
            <p:cNvPr name="Freeform 462" id="462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463" id="463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date_id</a:t>
              </a:r>
            </a:p>
          </p:txBody>
        </p:sp>
      </p:grpSp>
      <p:grpSp>
        <p:nvGrpSpPr>
          <p:cNvPr name="Group 464" id="464"/>
          <p:cNvGrpSpPr/>
          <p:nvPr/>
        </p:nvGrpSpPr>
        <p:grpSpPr>
          <a:xfrm rot="0">
            <a:off x="6887061" y="5184953"/>
            <a:ext cx="2862663" cy="210664"/>
            <a:chOff x="0" y="0"/>
            <a:chExt cx="3816883" cy="280886"/>
          </a:xfrm>
        </p:grpSpPr>
        <p:sp>
          <p:nvSpPr>
            <p:cNvPr name="Freeform 465" id="465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6" id="466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67" id="467"/>
          <p:cNvGrpSpPr/>
          <p:nvPr/>
        </p:nvGrpSpPr>
        <p:grpSpPr>
          <a:xfrm rot="0">
            <a:off x="6890814" y="5188706"/>
            <a:ext cx="2855157" cy="203159"/>
            <a:chOff x="0" y="0"/>
            <a:chExt cx="3806876" cy="270878"/>
          </a:xfrm>
        </p:grpSpPr>
        <p:sp>
          <p:nvSpPr>
            <p:cNvPr name="Freeform 468" id="468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9" id="469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meals_saved_count</a:t>
              </a:r>
            </a:p>
          </p:txBody>
        </p:sp>
      </p:grpSp>
      <p:grpSp>
        <p:nvGrpSpPr>
          <p:cNvPr name="Group 470" id="470"/>
          <p:cNvGrpSpPr/>
          <p:nvPr/>
        </p:nvGrpSpPr>
        <p:grpSpPr>
          <a:xfrm rot="0">
            <a:off x="6887061" y="5388102"/>
            <a:ext cx="2862663" cy="210664"/>
            <a:chOff x="0" y="0"/>
            <a:chExt cx="3816883" cy="280886"/>
          </a:xfrm>
        </p:grpSpPr>
        <p:sp>
          <p:nvSpPr>
            <p:cNvPr name="Freeform 471" id="471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472" id="472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73" id="473"/>
          <p:cNvGrpSpPr/>
          <p:nvPr/>
        </p:nvGrpSpPr>
        <p:grpSpPr>
          <a:xfrm rot="0">
            <a:off x="6890814" y="5391855"/>
            <a:ext cx="2855157" cy="203159"/>
            <a:chOff x="0" y="0"/>
            <a:chExt cx="3806876" cy="270878"/>
          </a:xfrm>
        </p:grpSpPr>
        <p:sp>
          <p:nvSpPr>
            <p:cNvPr name="Freeform 474" id="474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75" id="475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co2_saved_kg</a:t>
              </a:r>
            </a:p>
          </p:txBody>
        </p:sp>
      </p:grpSp>
      <p:grpSp>
        <p:nvGrpSpPr>
          <p:cNvPr name="Group 476" id="476"/>
          <p:cNvGrpSpPr/>
          <p:nvPr/>
        </p:nvGrpSpPr>
        <p:grpSpPr>
          <a:xfrm rot="0">
            <a:off x="6887061" y="5591261"/>
            <a:ext cx="2862663" cy="210664"/>
            <a:chOff x="0" y="0"/>
            <a:chExt cx="3816883" cy="280886"/>
          </a:xfrm>
        </p:grpSpPr>
        <p:sp>
          <p:nvSpPr>
            <p:cNvPr name="Freeform 477" id="477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8" id="478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79" id="479"/>
          <p:cNvGrpSpPr/>
          <p:nvPr/>
        </p:nvGrpSpPr>
        <p:grpSpPr>
          <a:xfrm rot="0">
            <a:off x="6890814" y="5595014"/>
            <a:ext cx="2855157" cy="203159"/>
            <a:chOff x="0" y="0"/>
            <a:chExt cx="3806876" cy="270878"/>
          </a:xfrm>
        </p:grpSpPr>
        <p:sp>
          <p:nvSpPr>
            <p:cNvPr name="Freeform 480" id="480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1" id="481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water_saved_liters</a:t>
              </a:r>
            </a:p>
          </p:txBody>
        </p:sp>
      </p:grpSp>
      <p:grpSp>
        <p:nvGrpSpPr>
          <p:cNvPr name="Group 482" id="482"/>
          <p:cNvGrpSpPr/>
          <p:nvPr/>
        </p:nvGrpSpPr>
        <p:grpSpPr>
          <a:xfrm rot="0">
            <a:off x="6887061" y="5794410"/>
            <a:ext cx="2862663" cy="210664"/>
            <a:chOff x="0" y="0"/>
            <a:chExt cx="3816883" cy="280886"/>
          </a:xfrm>
        </p:grpSpPr>
        <p:sp>
          <p:nvSpPr>
            <p:cNvPr name="Freeform 483" id="483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484" id="484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85" id="485"/>
          <p:cNvGrpSpPr/>
          <p:nvPr/>
        </p:nvGrpSpPr>
        <p:grpSpPr>
          <a:xfrm rot="0">
            <a:off x="6890814" y="5798163"/>
            <a:ext cx="2855157" cy="203159"/>
            <a:chOff x="0" y="0"/>
            <a:chExt cx="3806876" cy="270878"/>
          </a:xfrm>
        </p:grpSpPr>
        <p:sp>
          <p:nvSpPr>
            <p:cNvPr name="Freeform 486" id="486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87" id="487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food_weight_kg</a:t>
              </a:r>
            </a:p>
          </p:txBody>
        </p:sp>
      </p:grpSp>
      <p:grpSp>
        <p:nvGrpSpPr>
          <p:cNvPr name="Group 488" id="488"/>
          <p:cNvGrpSpPr/>
          <p:nvPr/>
        </p:nvGrpSpPr>
        <p:grpSpPr>
          <a:xfrm rot="0">
            <a:off x="6882555" y="7398687"/>
            <a:ext cx="2871673" cy="1943748"/>
            <a:chOff x="0" y="0"/>
            <a:chExt cx="3828898" cy="2591664"/>
          </a:xfrm>
        </p:grpSpPr>
        <p:sp>
          <p:nvSpPr>
            <p:cNvPr name="Freeform 489" id="489"/>
            <p:cNvSpPr/>
            <p:nvPr/>
          </p:nvSpPr>
          <p:spPr>
            <a:xfrm flipH="false" flipV="false" rot="0">
              <a:off x="11049" y="11049"/>
              <a:ext cx="3806825" cy="2569591"/>
            </a:xfrm>
            <a:custGeom>
              <a:avLst/>
              <a:gdLst/>
              <a:ahLst/>
              <a:cxnLst/>
              <a:rect r="r" b="b" t="t" l="l"/>
              <a:pathLst>
                <a:path h="25695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569591"/>
                  </a:lnTo>
                  <a:lnTo>
                    <a:pt x="0" y="25695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0" id="490"/>
            <p:cNvSpPr/>
            <p:nvPr/>
          </p:nvSpPr>
          <p:spPr>
            <a:xfrm flipH="false" flipV="false" rot="0">
              <a:off x="0" y="0"/>
              <a:ext cx="3828923" cy="2591689"/>
            </a:xfrm>
            <a:custGeom>
              <a:avLst/>
              <a:gdLst/>
              <a:ahLst/>
              <a:cxnLst/>
              <a:rect r="r" b="b" t="t" l="l"/>
              <a:pathLst>
                <a:path h="2591689" w="3828923">
                  <a:moveTo>
                    <a:pt x="11049" y="0"/>
                  </a:moveTo>
                  <a:lnTo>
                    <a:pt x="3817874" y="0"/>
                  </a:lnTo>
                  <a:cubicBezTo>
                    <a:pt x="3823970" y="0"/>
                    <a:pt x="3828923" y="4953"/>
                    <a:pt x="3828923" y="11049"/>
                  </a:cubicBezTo>
                  <a:lnTo>
                    <a:pt x="3828923" y="2580640"/>
                  </a:lnTo>
                  <a:cubicBezTo>
                    <a:pt x="3828923" y="2586736"/>
                    <a:pt x="3823970" y="2591689"/>
                    <a:pt x="3817874" y="2591689"/>
                  </a:cubicBezTo>
                  <a:lnTo>
                    <a:pt x="11049" y="2591689"/>
                  </a:lnTo>
                  <a:cubicBezTo>
                    <a:pt x="4953" y="2591689"/>
                    <a:pt x="0" y="2586736"/>
                    <a:pt x="0" y="2580640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2580640"/>
                  </a:lnTo>
                  <a:lnTo>
                    <a:pt x="11049" y="2580640"/>
                  </a:lnTo>
                  <a:lnTo>
                    <a:pt x="11049" y="2569591"/>
                  </a:lnTo>
                  <a:lnTo>
                    <a:pt x="3817874" y="2569591"/>
                  </a:lnTo>
                  <a:lnTo>
                    <a:pt x="3817874" y="2580640"/>
                  </a:lnTo>
                  <a:lnTo>
                    <a:pt x="3806825" y="2580640"/>
                  </a:lnTo>
                  <a:lnTo>
                    <a:pt x="3806825" y="11049"/>
                  </a:lnTo>
                  <a:lnTo>
                    <a:pt x="3817874" y="11049"/>
                  </a:lnTo>
                  <a:lnTo>
                    <a:pt x="3817874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91" id="491"/>
          <p:cNvGrpSpPr/>
          <p:nvPr/>
        </p:nvGrpSpPr>
        <p:grpSpPr>
          <a:xfrm rot="0">
            <a:off x="6890814" y="7406935"/>
            <a:ext cx="2855157" cy="301990"/>
            <a:chOff x="0" y="0"/>
            <a:chExt cx="3806876" cy="402654"/>
          </a:xfrm>
        </p:grpSpPr>
        <p:sp>
          <p:nvSpPr>
            <p:cNvPr name="Freeform 492" id="492"/>
            <p:cNvSpPr/>
            <p:nvPr/>
          </p:nvSpPr>
          <p:spPr>
            <a:xfrm flipH="false" flipV="false" rot="0">
              <a:off x="0" y="0"/>
              <a:ext cx="3806825" cy="402590"/>
            </a:xfrm>
            <a:custGeom>
              <a:avLst/>
              <a:gdLst/>
              <a:ahLst/>
              <a:cxnLst/>
              <a:rect r="r" b="b" t="t" l="l"/>
              <a:pathLst>
                <a:path h="402590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5488C"/>
            </a:solidFill>
          </p:spPr>
        </p:sp>
        <p:sp>
          <p:nvSpPr>
            <p:cNvPr name="TextBox 493" id="493"/>
            <p:cNvSpPr txBox="true"/>
            <p:nvPr/>
          </p:nvSpPr>
          <p:spPr>
            <a:xfrm>
              <a:off x="0" y="-9525"/>
              <a:ext cx="3806876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fact_partner_revenue</a:t>
              </a:r>
            </a:p>
          </p:txBody>
        </p:sp>
      </p:grpSp>
      <p:grpSp>
        <p:nvGrpSpPr>
          <p:cNvPr name="Group 494" id="494"/>
          <p:cNvGrpSpPr/>
          <p:nvPr/>
        </p:nvGrpSpPr>
        <p:grpSpPr>
          <a:xfrm rot="0">
            <a:off x="6887061" y="7705173"/>
            <a:ext cx="2862663" cy="210664"/>
            <a:chOff x="0" y="0"/>
            <a:chExt cx="3816883" cy="280886"/>
          </a:xfrm>
        </p:grpSpPr>
        <p:sp>
          <p:nvSpPr>
            <p:cNvPr name="Freeform 495" id="495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496" id="496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497" id="497"/>
          <p:cNvGrpSpPr/>
          <p:nvPr/>
        </p:nvGrpSpPr>
        <p:grpSpPr>
          <a:xfrm rot="0">
            <a:off x="6890814" y="7708925"/>
            <a:ext cx="329441" cy="203159"/>
            <a:chOff x="0" y="0"/>
            <a:chExt cx="439255" cy="270878"/>
          </a:xfrm>
        </p:grpSpPr>
        <p:sp>
          <p:nvSpPr>
            <p:cNvPr name="Freeform 498" id="498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499" id="499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500" id="500"/>
          <p:cNvGrpSpPr/>
          <p:nvPr/>
        </p:nvGrpSpPr>
        <p:grpSpPr>
          <a:xfrm rot="0">
            <a:off x="7233980" y="7708925"/>
            <a:ext cx="2511990" cy="203159"/>
            <a:chOff x="0" y="0"/>
            <a:chExt cx="3349320" cy="270878"/>
          </a:xfrm>
        </p:grpSpPr>
        <p:sp>
          <p:nvSpPr>
            <p:cNvPr name="Freeform 501" id="501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502" id="502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revenue_id</a:t>
              </a:r>
            </a:p>
          </p:txBody>
        </p:sp>
      </p:grpSp>
      <p:grpSp>
        <p:nvGrpSpPr>
          <p:cNvPr name="Group 503" id="503"/>
          <p:cNvGrpSpPr/>
          <p:nvPr/>
        </p:nvGrpSpPr>
        <p:grpSpPr>
          <a:xfrm rot="0">
            <a:off x="6887061" y="7908331"/>
            <a:ext cx="2862663" cy="210664"/>
            <a:chOff x="0" y="0"/>
            <a:chExt cx="3816883" cy="280886"/>
          </a:xfrm>
        </p:grpSpPr>
        <p:sp>
          <p:nvSpPr>
            <p:cNvPr name="Freeform 504" id="504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505" id="505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06" id="506"/>
          <p:cNvGrpSpPr/>
          <p:nvPr/>
        </p:nvGrpSpPr>
        <p:grpSpPr>
          <a:xfrm rot="0">
            <a:off x="6890814" y="7912084"/>
            <a:ext cx="329441" cy="203159"/>
            <a:chOff x="0" y="0"/>
            <a:chExt cx="439255" cy="270878"/>
          </a:xfrm>
        </p:grpSpPr>
        <p:sp>
          <p:nvSpPr>
            <p:cNvPr name="Freeform 507" id="507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508" id="508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509" id="509"/>
          <p:cNvGrpSpPr/>
          <p:nvPr/>
        </p:nvGrpSpPr>
        <p:grpSpPr>
          <a:xfrm rot="0">
            <a:off x="7233980" y="7912084"/>
            <a:ext cx="2511990" cy="203159"/>
            <a:chOff x="0" y="0"/>
            <a:chExt cx="3349320" cy="270878"/>
          </a:xfrm>
        </p:grpSpPr>
        <p:sp>
          <p:nvSpPr>
            <p:cNvPr name="Freeform 510" id="510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511" id="511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partner_id</a:t>
              </a:r>
            </a:p>
          </p:txBody>
        </p:sp>
      </p:grpSp>
      <p:grpSp>
        <p:nvGrpSpPr>
          <p:cNvPr name="Group 512" id="512"/>
          <p:cNvGrpSpPr/>
          <p:nvPr/>
        </p:nvGrpSpPr>
        <p:grpSpPr>
          <a:xfrm rot="0">
            <a:off x="6887061" y="8111480"/>
            <a:ext cx="2862663" cy="210664"/>
            <a:chOff x="0" y="0"/>
            <a:chExt cx="3816883" cy="280886"/>
          </a:xfrm>
        </p:grpSpPr>
        <p:sp>
          <p:nvSpPr>
            <p:cNvPr name="Freeform 513" id="513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514" id="514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15" id="515"/>
          <p:cNvGrpSpPr/>
          <p:nvPr/>
        </p:nvGrpSpPr>
        <p:grpSpPr>
          <a:xfrm rot="0">
            <a:off x="6890814" y="8115233"/>
            <a:ext cx="329441" cy="203159"/>
            <a:chOff x="0" y="0"/>
            <a:chExt cx="439255" cy="270878"/>
          </a:xfrm>
        </p:grpSpPr>
        <p:sp>
          <p:nvSpPr>
            <p:cNvPr name="Freeform 516" id="516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517" id="517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3A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FK</a:t>
              </a:r>
            </a:p>
          </p:txBody>
        </p:sp>
      </p:grpSp>
      <p:grpSp>
        <p:nvGrpSpPr>
          <p:cNvPr name="Group 518" id="518"/>
          <p:cNvGrpSpPr/>
          <p:nvPr/>
        </p:nvGrpSpPr>
        <p:grpSpPr>
          <a:xfrm rot="0">
            <a:off x="7233980" y="8115233"/>
            <a:ext cx="2511990" cy="203159"/>
            <a:chOff x="0" y="0"/>
            <a:chExt cx="3349320" cy="270878"/>
          </a:xfrm>
        </p:grpSpPr>
        <p:sp>
          <p:nvSpPr>
            <p:cNvPr name="Freeform 519" id="519"/>
            <p:cNvSpPr/>
            <p:nvPr/>
          </p:nvSpPr>
          <p:spPr>
            <a:xfrm flipH="false" flipV="false" rot="0">
              <a:off x="0" y="0"/>
              <a:ext cx="3349371" cy="270891"/>
            </a:xfrm>
            <a:custGeom>
              <a:avLst/>
              <a:gdLst/>
              <a:ahLst/>
              <a:cxnLst/>
              <a:rect r="r" b="b" t="t" l="l"/>
              <a:pathLst>
                <a:path h="270891" w="3349371">
                  <a:moveTo>
                    <a:pt x="0" y="0"/>
                  </a:moveTo>
                  <a:lnTo>
                    <a:pt x="3349371" y="0"/>
                  </a:lnTo>
                  <a:lnTo>
                    <a:pt x="3349371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TextBox 520" id="520"/>
            <p:cNvSpPr txBox="true"/>
            <p:nvPr/>
          </p:nvSpPr>
          <p:spPr>
            <a:xfrm>
              <a:off x="0" y="-9525"/>
              <a:ext cx="3349320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date_id</a:t>
              </a:r>
            </a:p>
          </p:txBody>
        </p:sp>
      </p:grpSp>
      <p:grpSp>
        <p:nvGrpSpPr>
          <p:cNvPr name="Group 521" id="521"/>
          <p:cNvGrpSpPr/>
          <p:nvPr/>
        </p:nvGrpSpPr>
        <p:grpSpPr>
          <a:xfrm rot="0">
            <a:off x="6887061" y="8314639"/>
            <a:ext cx="2862663" cy="210664"/>
            <a:chOff x="0" y="0"/>
            <a:chExt cx="3816883" cy="280886"/>
          </a:xfrm>
        </p:grpSpPr>
        <p:sp>
          <p:nvSpPr>
            <p:cNvPr name="Freeform 522" id="522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3" id="523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24" id="524"/>
          <p:cNvGrpSpPr/>
          <p:nvPr/>
        </p:nvGrpSpPr>
        <p:grpSpPr>
          <a:xfrm rot="0">
            <a:off x="6890814" y="8318392"/>
            <a:ext cx="2855157" cy="203159"/>
            <a:chOff x="0" y="0"/>
            <a:chExt cx="3806876" cy="270878"/>
          </a:xfrm>
        </p:grpSpPr>
        <p:sp>
          <p:nvSpPr>
            <p:cNvPr name="Freeform 525" id="525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6" id="526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gross_revenue_eur</a:t>
              </a:r>
            </a:p>
          </p:txBody>
        </p:sp>
      </p:grpSp>
      <p:grpSp>
        <p:nvGrpSpPr>
          <p:cNvPr name="Group 527" id="527"/>
          <p:cNvGrpSpPr/>
          <p:nvPr/>
        </p:nvGrpSpPr>
        <p:grpSpPr>
          <a:xfrm rot="0">
            <a:off x="6887061" y="8517798"/>
            <a:ext cx="2862663" cy="210664"/>
            <a:chOff x="0" y="0"/>
            <a:chExt cx="3816883" cy="280886"/>
          </a:xfrm>
        </p:grpSpPr>
        <p:sp>
          <p:nvSpPr>
            <p:cNvPr name="Freeform 528" id="528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29" id="529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30" id="530"/>
          <p:cNvGrpSpPr/>
          <p:nvPr/>
        </p:nvGrpSpPr>
        <p:grpSpPr>
          <a:xfrm rot="0">
            <a:off x="6890814" y="8521551"/>
            <a:ext cx="2855157" cy="203159"/>
            <a:chOff x="0" y="0"/>
            <a:chExt cx="3806876" cy="270878"/>
          </a:xfrm>
        </p:grpSpPr>
        <p:sp>
          <p:nvSpPr>
            <p:cNvPr name="Freeform 531" id="531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532" id="532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tgtg_commission_eur</a:t>
              </a:r>
            </a:p>
          </p:txBody>
        </p:sp>
      </p:grpSp>
      <p:grpSp>
        <p:nvGrpSpPr>
          <p:cNvPr name="Group 533" id="533"/>
          <p:cNvGrpSpPr/>
          <p:nvPr/>
        </p:nvGrpSpPr>
        <p:grpSpPr>
          <a:xfrm rot="0">
            <a:off x="6887061" y="8720957"/>
            <a:ext cx="2862663" cy="210664"/>
            <a:chOff x="0" y="0"/>
            <a:chExt cx="3816883" cy="280886"/>
          </a:xfrm>
        </p:grpSpPr>
        <p:sp>
          <p:nvSpPr>
            <p:cNvPr name="Freeform 534" id="534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5" id="535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36" id="536"/>
          <p:cNvGrpSpPr/>
          <p:nvPr/>
        </p:nvGrpSpPr>
        <p:grpSpPr>
          <a:xfrm rot="0">
            <a:off x="6890814" y="8724710"/>
            <a:ext cx="2855157" cy="203159"/>
            <a:chOff x="0" y="0"/>
            <a:chExt cx="3806876" cy="270878"/>
          </a:xfrm>
        </p:grpSpPr>
        <p:sp>
          <p:nvSpPr>
            <p:cNvPr name="Freeform 537" id="537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8" id="538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net_revenue_eur</a:t>
              </a:r>
            </a:p>
          </p:txBody>
        </p:sp>
      </p:grpSp>
      <p:grpSp>
        <p:nvGrpSpPr>
          <p:cNvPr name="Group 539" id="539"/>
          <p:cNvGrpSpPr/>
          <p:nvPr/>
        </p:nvGrpSpPr>
        <p:grpSpPr>
          <a:xfrm rot="0">
            <a:off x="6887061" y="8924106"/>
            <a:ext cx="2862663" cy="210664"/>
            <a:chOff x="0" y="0"/>
            <a:chExt cx="3816883" cy="280886"/>
          </a:xfrm>
        </p:grpSpPr>
        <p:sp>
          <p:nvSpPr>
            <p:cNvPr name="Freeform 540" id="540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41" id="541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42" id="542"/>
          <p:cNvGrpSpPr/>
          <p:nvPr/>
        </p:nvGrpSpPr>
        <p:grpSpPr>
          <a:xfrm rot="0">
            <a:off x="6890814" y="8927859"/>
            <a:ext cx="2855157" cy="203159"/>
            <a:chOff x="0" y="0"/>
            <a:chExt cx="3806876" cy="270878"/>
          </a:xfrm>
        </p:grpSpPr>
        <p:sp>
          <p:nvSpPr>
            <p:cNvPr name="Freeform 543" id="543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544" id="544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number_of_orders</a:t>
              </a:r>
            </a:p>
          </p:txBody>
        </p:sp>
      </p:grpSp>
      <p:grpSp>
        <p:nvGrpSpPr>
          <p:cNvPr name="Group 545" id="545"/>
          <p:cNvGrpSpPr/>
          <p:nvPr/>
        </p:nvGrpSpPr>
        <p:grpSpPr>
          <a:xfrm rot="0">
            <a:off x="6887061" y="9127265"/>
            <a:ext cx="2862663" cy="210664"/>
            <a:chOff x="0" y="0"/>
            <a:chExt cx="3816883" cy="280886"/>
          </a:xfrm>
        </p:grpSpPr>
        <p:sp>
          <p:nvSpPr>
            <p:cNvPr name="Freeform 546" id="546"/>
            <p:cNvSpPr/>
            <p:nvPr/>
          </p:nvSpPr>
          <p:spPr>
            <a:xfrm flipH="false" flipV="false" rot="0">
              <a:off x="4953" y="4953"/>
              <a:ext cx="3806952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952">
                  <a:moveTo>
                    <a:pt x="0" y="0"/>
                  </a:moveTo>
                  <a:lnTo>
                    <a:pt x="3806952" y="0"/>
                  </a:lnTo>
                  <a:lnTo>
                    <a:pt x="3806952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7" id="547"/>
            <p:cNvSpPr/>
            <p:nvPr/>
          </p:nvSpPr>
          <p:spPr>
            <a:xfrm flipH="false" flipV="false" rot="0">
              <a:off x="0" y="0"/>
              <a:ext cx="3816858" cy="280797"/>
            </a:xfrm>
            <a:custGeom>
              <a:avLst/>
              <a:gdLst/>
              <a:ahLst/>
              <a:cxnLst/>
              <a:rect r="r" b="b" t="t" l="l"/>
              <a:pathLst>
                <a:path h="280797" w="3816858">
                  <a:moveTo>
                    <a:pt x="4953" y="0"/>
                  </a:moveTo>
                  <a:lnTo>
                    <a:pt x="3811905" y="0"/>
                  </a:lnTo>
                  <a:cubicBezTo>
                    <a:pt x="3814699" y="0"/>
                    <a:pt x="3816858" y="2286"/>
                    <a:pt x="3816858" y="4953"/>
                  </a:cubicBezTo>
                  <a:lnTo>
                    <a:pt x="3816858" y="275844"/>
                  </a:lnTo>
                  <a:cubicBezTo>
                    <a:pt x="3816858" y="278638"/>
                    <a:pt x="3814572" y="280797"/>
                    <a:pt x="3811905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811905" y="270891"/>
                  </a:lnTo>
                  <a:lnTo>
                    <a:pt x="3811905" y="275844"/>
                  </a:lnTo>
                  <a:lnTo>
                    <a:pt x="3806952" y="275844"/>
                  </a:lnTo>
                  <a:lnTo>
                    <a:pt x="3806952" y="4953"/>
                  </a:lnTo>
                  <a:lnTo>
                    <a:pt x="3811905" y="4953"/>
                  </a:lnTo>
                  <a:lnTo>
                    <a:pt x="3811905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48" id="548"/>
          <p:cNvGrpSpPr/>
          <p:nvPr/>
        </p:nvGrpSpPr>
        <p:grpSpPr>
          <a:xfrm rot="0">
            <a:off x="6890814" y="9131017"/>
            <a:ext cx="2855157" cy="203159"/>
            <a:chOff x="0" y="0"/>
            <a:chExt cx="3806876" cy="270878"/>
          </a:xfrm>
        </p:grpSpPr>
        <p:sp>
          <p:nvSpPr>
            <p:cNvPr name="Freeform 549" id="549"/>
            <p:cNvSpPr/>
            <p:nvPr/>
          </p:nvSpPr>
          <p:spPr>
            <a:xfrm flipH="false" flipV="false" rot="0">
              <a:off x="0" y="0"/>
              <a:ext cx="3806825" cy="270891"/>
            </a:xfrm>
            <a:custGeom>
              <a:avLst/>
              <a:gdLst/>
              <a:ahLst/>
              <a:cxnLst/>
              <a:rect r="r" b="b" t="t" l="l"/>
              <a:pathLst>
                <a:path h="270891" w="3806825">
                  <a:moveTo>
                    <a:pt x="0" y="0"/>
                  </a:moveTo>
                  <a:lnTo>
                    <a:pt x="3806825" y="0"/>
                  </a:lnTo>
                  <a:lnTo>
                    <a:pt x="3806825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0" id="550"/>
            <p:cNvSpPr txBox="true"/>
            <p:nvPr/>
          </p:nvSpPr>
          <p:spPr>
            <a:xfrm>
              <a:off x="0" y="-9525"/>
              <a:ext cx="3806876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payment_status</a:t>
              </a:r>
            </a:p>
          </p:txBody>
        </p:sp>
      </p:grpSp>
      <p:grpSp>
        <p:nvGrpSpPr>
          <p:cNvPr name="Group 551" id="551"/>
          <p:cNvGrpSpPr/>
          <p:nvPr/>
        </p:nvGrpSpPr>
        <p:grpSpPr>
          <a:xfrm rot="0">
            <a:off x="10314242" y="732987"/>
            <a:ext cx="2652046" cy="1537430"/>
            <a:chOff x="0" y="0"/>
            <a:chExt cx="3536061" cy="2049907"/>
          </a:xfrm>
        </p:grpSpPr>
        <p:sp>
          <p:nvSpPr>
            <p:cNvPr name="Freeform 552" id="552"/>
            <p:cNvSpPr/>
            <p:nvPr/>
          </p:nvSpPr>
          <p:spPr>
            <a:xfrm flipH="false" flipV="false" rot="0">
              <a:off x="11049" y="11049"/>
              <a:ext cx="3514090" cy="2027809"/>
            </a:xfrm>
            <a:custGeom>
              <a:avLst/>
              <a:gdLst/>
              <a:ahLst/>
              <a:cxnLst/>
              <a:rect r="r" b="b" t="t" l="l"/>
              <a:pathLst>
                <a:path h="2027809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027809"/>
                  </a:lnTo>
                  <a:lnTo>
                    <a:pt x="0" y="20278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3" id="553"/>
            <p:cNvSpPr/>
            <p:nvPr/>
          </p:nvSpPr>
          <p:spPr>
            <a:xfrm flipH="false" flipV="false" rot="0">
              <a:off x="0" y="0"/>
              <a:ext cx="3536188" cy="2049907"/>
            </a:xfrm>
            <a:custGeom>
              <a:avLst/>
              <a:gdLst/>
              <a:ahLst/>
              <a:cxnLst/>
              <a:rect r="r" b="b" t="t" l="l"/>
              <a:pathLst>
                <a:path h="2049907" w="3536188">
                  <a:moveTo>
                    <a:pt x="11049" y="0"/>
                  </a:moveTo>
                  <a:lnTo>
                    <a:pt x="3525139" y="0"/>
                  </a:lnTo>
                  <a:cubicBezTo>
                    <a:pt x="3531235" y="0"/>
                    <a:pt x="3536188" y="4953"/>
                    <a:pt x="3536188" y="11049"/>
                  </a:cubicBezTo>
                  <a:lnTo>
                    <a:pt x="3536188" y="2038858"/>
                  </a:lnTo>
                  <a:cubicBezTo>
                    <a:pt x="3536188" y="2044954"/>
                    <a:pt x="3531235" y="2049907"/>
                    <a:pt x="3525139" y="2049907"/>
                  </a:cubicBezTo>
                  <a:lnTo>
                    <a:pt x="11049" y="2049907"/>
                  </a:lnTo>
                  <a:cubicBezTo>
                    <a:pt x="4953" y="2049907"/>
                    <a:pt x="0" y="2044954"/>
                    <a:pt x="0" y="2038858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2038858"/>
                  </a:lnTo>
                  <a:lnTo>
                    <a:pt x="11049" y="2038858"/>
                  </a:lnTo>
                  <a:lnTo>
                    <a:pt x="11049" y="2027809"/>
                  </a:lnTo>
                  <a:lnTo>
                    <a:pt x="3525139" y="2027809"/>
                  </a:lnTo>
                  <a:lnTo>
                    <a:pt x="3525139" y="2038858"/>
                  </a:lnTo>
                  <a:lnTo>
                    <a:pt x="3514090" y="2038858"/>
                  </a:lnTo>
                  <a:lnTo>
                    <a:pt x="3514090" y="11049"/>
                  </a:lnTo>
                  <a:lnTo>
                    <a:pt x="3525139" y="11049"/>
                  </a:lnTo>
                  <a:lnTo>
                    <a:pt x="3525139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54" id="554"/>
          <p:cNvGrpSpPr/>
          <p:nvPr/>
        </p:nvGrpSpPr>
        <p:grpSpPr>
          <a:xfrm rot="0">
            <a:off x="10322500" y="741245"/>
            <a:ext cx="2635529" cy="301990"/>
            <a:chOff x="0" y="0"/>
            <a:chExt cx="3514039" cy="402654"/>
          </a:xfrm>
        </p:grpSpPr>
        <p:sp>
          <p:nvSpPr>
            <p:cNvPr name="Freeform 555" id="555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TextBox 556" id="556"/>
            <p:cNvSpPr txBox="true"/>
            <p:nvPr/>
          </p:nvSpPr>
          <p:spPr>
            <a:xfrm>
              <a:off x="0" y="-9525"/>
              <a:ext cx="3514039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dim_product</a:t>
              </a:r>
            </a:p>
          </p:txBody>
        </p:sp>
      </p:grpSp>
      <p:grpSp>
        <p:nvGrpSpPr>
          <p:cNvPr name="Group 557" id="557"/>
          <p:cNvGrpSpPr/>
          <p:nvPr/>
        </p:nvGrpSpPr>
        <p:grpSpPr>
          <a:xfrm rot="0">
            <a:off x="10318747" y="1039482"/>
            <a:ext cx="2643035" cy="210664"/>
            <a:chOff x="0" y="0"/>
            <a:chExt cx="3524047" cy="280886"/>
          </a:xfrm>
        </p:grpSpPr>
        <p:sp>
          <p:nvSpPr>
            <p:cNvPr name="Freeform 558" id="558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559" id="559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60" id="560"/>
          <p:cNvGrpSpPr/>
          <p:nvPr/>
        </p:nvGrpSpPr>
        <p:grpSpPr>
          <a:xfrm rot="0">
            <a:off x="10322500" y="1043235"/>
            <a:ext cx="329441" cy="203159"/>
            <a:chOff x="0" y="0"/>
            <a:chExt cx="439255" cy="270878"/>
          </a:xfrm>
        </p:grpSpPr>
        <p:sp>
          <p:nvSpPr>
            <p:cNvPr name="Freeform 561" id="561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562" id="562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563" id="563"/>
          <p:cNvGrpSpPr/>
          <p:nvPr/>
        </p:nvGrpSpPr>
        <p:grpSpPr>
          <a:xfrm rot="0">
            <a:off x="10665666" y="1043235"/>
            <a:ext cx="2292363" cy="203159"/>
            <a:chOff x="0" y="0"/>
            <a:chExt cx="3056484" cy="270878"/>
          </a:xfrm>
        </p:grpSpPr>
        <p:sp>
          <p:nvSpPr>
            <p:cNvPr name="Freeform 564" id="564"/>
            <p:cNvSpPr/>
            <p:nvPr/>
          </p:nvSpPr>
          <p:spPr>
            <a:xfrm flipH="false" flipV="false" rot="0">
              <a:off x="0" y="0"/>
              <a:ext cx="3056509" cy="270891"/>
            </a:xfrm>
            <a:custGeom>
              <a:avLst/>
              <a:gdLst/>
              <a:ahLst/>
              <a:cxnLst/>
              <a:rect r="r" b="b" t="t" l="l"/>
              <a:pathLst>
                <a:path h="270891" w="3056509">
                  <a:moveTo>
                    <a:pt x="0" y="0"/>
                  </a:moveTo>
                  <a:lnTo>
                    <a:pt x="3056509" y="0"/>
                  </a:lnTo>
                  <a:lnTo>
                    <a:pt x="3056509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565" id="565"/>
            <p:cNvSpPr txBox="true"/>
            <p:nvPr/>
          </p:nvSpPr>
          <p:spPr>
            <a:xfrm>
              <a:off x="0" y="-9525"/>
              <a:ext cx="3056484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product_id</a:t>
              </a:r>
            </a:p>
          </p:txBody>
        </p:sp>
      </p:grpSp>
      <p:grpSp>
        <p:nvGrpSpPr>
          <p:cNvPr name="Group 566" id="566"/>
          <p:cNvGrpSpPr/>
          <p:nvPr/>
        </p:nvGrpSpPr>
        <p:grpSpPr>
          <a:xfrm rot="0">
            <a:off x="10318747" y="1242632"/>
            <a:ext cx="2643035" cy="210664"/>
            <a:chOff x="0" y="0"/>
            <a:chExt cx="3524047" cy="280886"/>
          </a:xfrm>
        </p:grpSpPr>
        <p:sp>
          <p:nvSpPr>
            <p:cNvPr name="Freeform 567" id="567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8" id="568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69" id="569"/>
          <p:cNvGrpSpPr/>
          <p:nvPr/>
        </p:nvGrpSpPr>
        <p:grpSpPr>
          <a:xfrm rot="0">
            <a:off x="10322500" y="1246384"/>
            <a:ext cx="2635529" cy="203159"/>
            <a:chOff x="0" y="0"/>
            <a:chExt cx="3514039" cy="270878"/>
          </a:xfrm>
        </p:grpSpPr>
        <p:sp>
          <p:nvSpPr>
            <p:cNvPr name="Freeform 570" id="570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1" id="571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product_name</a:t>
              </a:r>
            </a:p>
          </p:txBody>
        </p:sp>
      </p:grpSp>
      <p:grpSp>
        <p:nvGrpSpPr>
          <p:cNvPr name="Group 572" id="572"/>
          <p:cNvGrpSpPr/>
          <p:nvPr/>
        </p:nvGrpSpPr>
        <p:grpSpPr>
          <a:xfrm rot="0">
            <a:off x="10318747" y="1445790"/>
            <a:ext cx="2643035" cy="210664"/>
            <a:chOff x="0" y="0"/>
            <a:chExt cx="3524047" cy="280886"/>
          </a:xfrm>
        </p:grpSpPr>
        <p:sp>
          <p:nvSpPr>
            <p:cNvPr name="Freeform 573" id="573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74" id="574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75" id="575"/>
          <p:cNvGrpSpPr/>
          <p:nvPr/>
        </p:nvGrpSpPr>
        <p:grpSpPr>
          <a:xfrm rot="0">
            <a:off x="10322500" y="1449543"/>
            <a:ext cx="2635529" cy="203159"/>
            <a:chOff x="0" y="0"/>
            <a:chExt cx="3514039" cy="270878"/>
          </a:xfrm>
        </p:grpSpPr>
        <p:sp>
          <p:nvSpPr>
            <p:cNvPr name="Freeform 576" id="576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577" id="577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category</a:t>
              </a:r>
            </a:p>
          </p:txBody>
        </p:sp>
      </p:grpSp>
      <p:grpSp>
        <p:nvGrpSpPr>
          <p:cNvPr name="Group 578" id="578"/>
          <p:cNvGrpSpPr/>
          <p:nvPr/>
        </p:nvGrpSpPr>
        <p:grpSpPr>
          <a:xfrm rot="0">
            <a:off x="10318747" y="1648939"/>
            <a:ext cx="2643035" cy="210664"/>
            <a:chOff x="0" y="0"/>
            <a:chExt cx="3524047" cy="280886"/>
          </a:xfrm>
        </p:grpSpPr>
        <p:sp>
          <p:nvSpPr>
            <p:cNvPr name="Freeform 579" id="579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0" id="580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81" id="581"/>
          <p:cNvGrpSpPr/>
          <p:nvPr/>
        </p:nvGrpSpPr>
        <p:grpSpPr>
          <a:xfrm rot="0">
            <a:off x="10322500" y="1652692"/>
            <a:ext cx="2635529" cy="203159"/>
            <a:chOff x="0" y="0"/>
            <a:chExt cx="3514039" cy="270878"/>
          </a:xfrm>
        </p:grpSpPr>
        <p:sp>
          <p:nvSpPr>
            <p:cNvPr name="Freeform 582" id="582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3" id="583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original_price</a:t>
              </a:r>
            </a:p>
          </p:txBody>
        </p:sp>
      </p:grpSp>
      <p:grpSp>
        <p:nvGrpSpPr>
          <p:cNvPr name="Group 584" id="584"/>
          <p:cNvGrpSpPr/>
          <p:nvPr/>
        </p:nvGrpSpPr>
        <p:grpSpPr>
          <a:xfrm rot="0">
            <a:off x="10318747" y="1852098"/>
            <a:ext cx="2643035" cy="210664"/>
            <a:chOff x="0" y="0"/>
            <a:chExt cx="3524047" cy="280886"/>
          </a:xfrm>
        </p:grpSpPr>
        <p:sp>
          <p:nvSpPr>
            <p:cNvPr name="Freeform 585" id="585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86" id="586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87" id="587"/>
          <p:cNvGrpSpPr/>
          <p:nvPr/>
        </p:nvGrpSpPr>
        <p:grpSpPr>
          <a:xfrm rot="0">
            <a:off x="10322500" y="1855851"/>
            <a:ext cx="2635529" cy="203159"/>
            <a:chOff x="0" y="0"/>
            <a:chExt cx="3514039" cy="270878"/>
          </a:xfrm>
        </p:grpSpPr>
        <p:sp>
          <p:nvSpPr>
            <p:cNvPr name="Freeform 588" id="588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589" id="589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tgtg_price</a:t>
              </a:r>
            </a:p>
          </p:txBody>
        </p:sp>
      </p:grpSp>
      <p:grpSp>
        <p:nvGrpSpPr>
          <p:cNvPr name="Group 590" id="590"/>
          <p:cNvGrpSpPr/>
          <p:nvPr/>
        </p:nvGrpSpPr>
        <p:grpSpPr>
          <a:xfrm rot="0">
            <a:off x="10318747" y="2055257"/>
            <a:ext cx="2643035" cy="210664"/>
            <a:chOff x="0" y="0"/>
            <a:chExt cx="3524047" cy="280886"/>
          </a:xfrm>
        </p:grpSpPr>
        <p:sp>
          <p:nvSpPr>
            <p:cNvPr name="Freeform 591" id="591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2" id="592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93" id="593"/>
          <p:cNvGrpSpPr/>
          <p:nvPr/>
        </p:nvGrpSpPr>
        <p:grpSpPr>
          <a:xfrm rot="0">
            <a:off x="10322500" y="2059010"/>
            <a:ext cx="2635529" cy="203159"/>
            <a:chOff x="0" y="0"/>
            <a:chExt cx="3514039" cy="270878"/>
          </a:xfrm>
        </p:grpSpPr>
        <p:sp>
          <p:nvSpPr>
            <p:cNvPr name="Freeform 594" id="594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95" id="595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description</a:t>
              </a:r>
            </a:p>
          </p:txBody>
        </p:sp>
      </p:grpSp>
      <p:grpSp>
        <p:nvGrpSpPr>
          <p:cNvPr name="Group 596" id="596"/>
          <p:cNvGrpSpPr/>
          <p:nvPr/>
        </p:nvGrpSpPr>
        <p:grpSpPr>
          <a:xfrm rot="0">
            <a:off x="10314242" y="4065832"/>
            <a:ext cx="2652046" cy="2350056"/>
            <a:chOff x="0" y="0"/>
            <a:chExt cx="3536061" cy="3133408"/>
          </a:xfrm>
        </p:grpSpPr>
        <p:sp>
          <p:nvSpPr>
            <p:cNvPr name="Freeform 597" id="597"/>
            <p:cNvSpPr/>
            <p:nvPr/>
          </p:nvSpPr>
          <p:spPr>
            <a:xfrm flipH="false" flipV="false" rot="0">
              <a:off x="11049" y="11049"/>
              <a:ext cx="3514090" cy="3111373"/>
            </a:xfrm>
            <a:custGeom>
              <a:avLst/>
              <a:gdLst/>
              <a:ahLst/>
              <a:cxnLst/>
              <a:rect r="r" b="b" t="t" l="l"/>
              <a:pathLst>
                <a:path h="3111373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8" id="598"/>
            <p:cNvSpPr/>
            <p:nvPr/>
          </p:nvSpPr>
          <p:spPr>
            <a:xfrm flipH="false" flipV="false" rot="0">
              <a:off x="0" y="0"/>
              <a:ext cx="3536188" cy="3133471"/>
            </a:xfrm>
            <a:custGeom>
              <a:avLst/>
              <a:gdLst/>
              <a:ahLst/>
              <a:cxnLst/>
              <a:rect r="r" b="b" t="t" l="l"/>
              <a:pathLst>
                <a:path h="3133471" w="3536188">
                  <a:moveTo>
                    <a:pt x="11049" y="0"/>
                  </a:moveTo>
                  <a:lnTo>
                    <a:pt x="3525139" y="0"/>
                  </a:lnTo>
                  <a:cubicBezTo>
                    <a:pt x="3531235" y="0"/>
                    <a:pt x="3536188" y="4953"/>
                    <a:pt x="3536188" y="11049"/>
                  </a:cubicBezTo>
                  <a:lnTo>
                    <a:pt x="3536188" y="3122422"/>
                  </a:lnTo>
                  <a:cubicBezTo>
                    <a:pt x="3536188" y="3128518"/>
                    <a:pt x="3531235" y="3133471"/>
                    <a:pt x="3525139" y="3133471"/>
                  </a:cubicBezTo>
                  <a:lnTo>
                    <a:pt x="11049" y="3133471"/>
                  </a:lnTo>
                  <a:cubicBezTo>
                    <a:pt x="4953" y="3133471"/>
                    <a:pt x="0" y="3128518"/>
                    <a:pt x="0" y="3122422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3122422"/>
                  </a:lnTo>
                  <a:lnTo>
                    <a:pt x="11049" y="3122422"/>
                  </a:lnTo>
                  <a:lnTo>
                    <a:pt x="11049" y="3111373"/>
                  </a:lnTo>
                  <a:lnTo>
                    <a:pt x="3525139" y="3111373"/>
                  </a:lnTo>
                  <a:lnTo>
                    <a:pt x="3525139" y="3122422"/>
                  </a:lnTo>
                  <a:lnTo>
                    <a:pt x="3514090" y="3122422"/>
                  </a:lnTo>
                  <a:lnTo>
                    <a:pt x="3514090" y="11049"/>
                  </a:lnTo>
                  <a:lnTo>
                    <a:pt x="3525139" y="11049"/>
                  </a:lnTo>
                  <a:lnTo>
                    <a:pt x="3525139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599" id="599"/>
          <p:cNvGrpSpPr/>
          <p:nvPr/>
        </p:nvGrpSpPr>
        <p:grpSpPr>
          <a:xfrm rot="0">
            <a:off x="10322500" y="4074090"/>
            <a:ext cx="2635529" cy="301990"/>
            <a:chOff x="0" y="0"/>
            <a:chExt cx="3514039" cy="402654"/>
          </a:xfrm>
        </p:grpSpPr>
        <p:sp>
          <p:nvSpPr>
            <p:cNvPr name="Freeform 600" id="600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TextBox 601" id="601"/>
            <p:cNvSpPr txBox="true"/>
            <p:nvPr/>
          </p:nvSpPr>
          <p:spPr>
            <a:xfrm>
              <a:off x="0" y="-9525"/>
              <a:ext cx="3514039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dim_date</a:t>
              </a:r>
            </a:p>
          </p:txBody>
        </p:sp>
      </p:grpSp>
      <p:grpSp>
        <p:nvGrpSpPr>
          <p:cNvPr name="Group 602" id="602"/>
          <p:cNvGrpSpPr/>
          <p:nvPr/>
        </p:nvGrpSpPr>
        <p:grpSpPr>
          <a:xfrm rot="0">
            <a:off x="10318747" y="4372327"/>
            <a:ext cx="2643035" cy="210664"/>
            <a:chOff x="0" y="0"/>
            <a:chExt cx="3524047" cy="280886"/>
          </a:xfrm>
        </p:grpSpPr>
        <p:sp>
          <p:nvSpPr>
            <p:cNvPr name="Freeform 603" id="603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604" id="604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05" id="605"/>
          <p:cNvGrpSpPr/>
          <p:nvPr/>
        </p:nvGrpSpPr>
        <p:grpSpPr>
          <a:xfrm rot="0">
            <a:off x="10322500" y="4376080"/>
            <a:ext cx="329441" cy="203159"/>
            <a:chOff x="0" y="0"/>
            <a:chExt cx="439255" cy="270878"/>
          </a:xfrm>
        </p:grpSpPr>
        <p:sp>
          <p:nvSpPr>
            <p:cNvPr name="Freeform 606" id="606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607" id="607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608" id="608"/>
          <p:cNvGrpSpPr/>
          <p:nvPr/>
        </p:nvGrpSpPr>
        <p:grpSpPr>
          <a:xfrm rot="0">
            <a:off x="10665666" y="4376080"/>
            <a:ext cx="2292363" cy="203159"/>
            <a:chOff x="0" y="0"/>
            <a:chExt cx="3056484" cy="270878"/>
          </a:xfrm>
        </p:grpSpPr>
        <p:sp>
          <p:nvSpPr>
            <p:cNvPr name="Freeform 609" id="609"/>
            <p:cNvSpPr/>
            <p:nvPr/>
          </p:nvSpPr>
          <p:spPr>
            <a:xfrm flipH="false" flipV="false" rot="0">
              <a:off x="0" y="0"/>
              <a:ext cx="3056509" cy="270891"/>
            </a:xfrm>
            <a:custGeom>
              <a:avLst/>
              <a:gdLst/>
              <a:ahLst/>
              <a:cxnLst/>
              <a:rect r="r" b="b" t="t" l="l"/>
              <a:pathLst>
                <a:path h="270891" w="3056509">
                  <a:moveTo>
                    <a:pt x="0" y="0"/>
                  </a:moveTo>
                  <a:lnTo>
                    <a:pt x="3056509" y="0"/>
                  </a:lnTo>
                  <a:lnTo>
                    <a:pt x="3056509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610" id="610"/>
            <p:cNvSpPr txBox="true"/>
            <p:nvPr/>
          </p:nvSpPr>
          <p:spPr>
            <a:xfrm>
              <a:off x="0" y="-9525"/>
              <a:ext cx="3056484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date_id</a:t>
              </a:r>
            </a:p>
          </p:txBody>
        </p:sp>
      </p:grpSp>
      <p:grpSp>
        <p:nvGrpSpPr>
          <p:cNvPr name="Group 611" id="611"/>
          <p:cNvGrpSpPr/>
          <p:nvPr/>
        </p:nvGrpSpPr>
        <p:grpSpPr>
          <a:xfrm rot="0">
            <a:off x="10318747" y="4575486"/>
            <a:ext cx="2643035" cy="210664"/>
            <a:chOff x="0" y="0"/>
            <a:chExt cx="3524047" cy="280886"/>
          </a:xfrm>
        </p:grpSpPr>
        <p:sp>
          <p:nvSpPr>
            <p:cNvPr name="Freeform 612" id="612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3" id="613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14" id="614"/>
          <p:cNvGrpSpPr/>
          <p:nvPr/>
        </p:nvGrpSpPr>
        <p:grpSpPr>
          <a:xfrm rot="0">
            <a:off x="10322500" y="4579239"/>
            <a:ext cx="2635529" cy="203159"/>
            <a:chOff x="0" y="0"/>
            <a:chExt cx="3514039" cy="270878"/>
          </a:xfrm>
        </p:grpSpPr>
        <p:sp>
          <p:nvSpPr>
            <p:cNvPr name="Freeform 615" id="615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16" id="616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full_date</a:t>
              </a:r>
            </a:p>
          </p:txBody>
        </p:sp>
      </p:grpSp>
      <p:grpSp>
        <p:nvGrpSpPr>
          <p:cNvPr name="Group 617" id="617"/>
          <p:cNvGrpSpPr/>
          <p:nvPr/>
        </p:nvGrpSpPr>
        <p:grpSpPr>
          <a:xfrm rot="0">
            <a:off x="10318747" y="4778635"/>
            <a:ext cx="2643035" cy="210664"/>
            <a:chOff x="0" y="0"/>
            <a:chExt cx="3524047" cy="280886"/>
          </a:xfrm>
        </p:grpSpPr>
        <p:sp>
          <p:nvSpPr>
            <p:cNvPr name="Freeform 618" id="618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19" id="619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20" id="620"/>
          <p:cNvGrpSpPr/>
          <p:nvPr/>
        </p:nvGrpSpPr>
        <p:grpSpPr>
          <a:xfrm rot="0">
            <a:off x="10322500" y="4782388"/>
            <a:ext cx="2635529" cy="203159"/>
            <a:chOff x="0" y="0"/>
            <a:chExt cx="3514039" cy="270878"/>
          </a:xfrm>
        </p:grpSpPr>
        <p:sp>
          <p:nvSpPr>
            <p:cNvPr name="Freeform 621" id="621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22" id="622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day</a:t>
              </a:r>
            </a:p>
          </p:txBody>
        </p:sp>
      </p:grpSp>
      <p:grpSp>
        <p:nvGrpSpPr>
          <p:cNvPr name="Group 623" id="623"/>
          <p:cNvGrpSpPr/>
          <p:nvPr/>
        </p:nvGrpSpPr>
        <p:grpSpPr>
          <a:xfrm rot="0">
            <a:off x="10318747" y="4981794"/>
            <a:ext cx="2643035" cy="210664"/>
            <a:chOff x="0" y="0"/>
            <a:chExt cx="3524047" cy="280886"/>
          </a:xfrm>
        </p:grpSpPr>
        <p:sp>
          <p:nvSpPr>
            <p:cNvPr name="Freeform 624" id="624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5" id="625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26" id="626"/>
          <p:cNvGrpSpPr/>
          <p:nvPr/>
        </p:nvGrpSpPr>
        <p:grpSpPr>
          <a:xfrm rot="0">
            <a:off x="10322500" y="4985547"/>
            <a:ext cx="2635529" cy="203159"/>
            <a:chOff x="0" y="0"/>
            <a:chExt cx="3514039" cy="270878"/>
          </a:xfrm>
        </p:grpSpPr>
        <p:sp>
          <p:nvSpPr>
            <p:cNvPr name="Freeform 627" id="627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8" id="628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month</a:t>
              </a:r>
            </a:p>
          </p:txBody>
        </p:sp>
      </p:grpSp>
      <p:grpSp>
        <p:nvGrpSpPr>
          <p:cNvPr name="Group 629" id="629"/>
          <p:cNvGrpSpPr/>
          <p:nvPr/>
        </p:nvGrpSpPr>
        <p:grpSpPr>
          <a:xfrm rot="0">
            <a:off x="10318747" y="5184953"/>
            <a:ext cx="2643035" cy="210664"/>
            <a:chOff x="0" y="0"/>
            <a:chExt cx="3524047" cy="280886"/>
          </a:xfrm>
        </p:grpSpPr>
        <p:sp>
          <p:nvSpPr>
            <p:cNvPr name="Freeform 630" id="630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31" id="631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32" id="632"/>
          <p:cNvGrpSpPr/>
          <p:nvPr/>
        </p:nvGrpSpPr>
        <p:grpSpPr>
          <a:xfrm rot="0">
            <a:off x="10322500" y="5188706"/>
            <a:ext cx="2635529" cy="203159"/>
            <a:chOff x="0" y="0"/>
            <a:chExt cx="3514039" cy="270878"/>
          </a:xfrm>
        </p:grpSpPr>
        <p:sp>
          <p:nvSpPr>
            <p:cNvPr name="Freeform 633" id="633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34" id="634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year</a:t>
              </a:r>
            </a:p>
          </p:txBody>
        </p:sp>
      </p:grpSp>
      <p:grpSp>
        <p:nvGrpSpPr>
          <p:cNvPr name="Group 635" id="635"/>
          <p:cNvGrpSpPr/>
          <p:nvPr/>
        </p:nvGrpSpPr>
        <p:grpSpPr>
          <a:xfrm rot="0">
            <a:off x="10318747" y="5388102"/>
            <a:ext cx="2643035" cy="210664"/>
            <a:chOff x="0" y="0"/>
            <a:chExt cx="3524047" cy="280886"/>
          </a:xfrm>
        </p:grpSpPr>
        <p:sp>
          <p:nvSpPr>
            <p:cNvPr name="Freeform 636" id="636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7" id="637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38" id="638"/>
          <p:cNvGrpSpPr/>
          <p:nvPr/>
        </p:nvGrpSpPr>
        <p:grpSpPr>
          <a:xfrm rot="0">
            <a:off x="10322500" y="5391855"/>
            <a:ext cx="2635529" cy="203159"/>
            <a:chOff x="0" y="0"/>
            <a:chExt cx="3514039" cy="270878"/>
          </a:xfrm>
        </p:grpSpPr>
        <p:sp>
          <p:nvSpPr>
            <p:cNvPr name="Freeform 639" id="639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40" id="640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quarter</a:t>
              </a:r>
            </a:p>
          </p:txBody>
        </p:sp>
      </p:grpSp>
      <p:grpSp>
        <p:nvGrpSpPr>
          <p:cNvPr name="Group 641" id="641"/>
          <p:cNvGrpSpPr/>
          <p:nvPr/>
        </p:nvGrpSpPr>
        <p:grpSpPr>
          <a:xfrm rot="0">
            <a:off x="10318747" y="5591261"/>
            <a:ext cx="2643035" cy="210664"/>
            <a:chOff x="0" y="0"/>
            <a:chExt cx="3524047" cy="280886"/>
          </a:xfrm>
        </p:grpSpPr>
        <p:sp>
          <p:nvSpPr>
            <p:cNvPr name="Freeform 642" id="642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43" id="643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44" id="644"/>
          <p:cNvGrpSpPr/>
          <p:nvPr/>
        </p:nvGrpSpPr>
        <p:grpSpPr>
          <a:xfrm rot="0">
            <a:off x="10322500" y="5595014"/>
            <a:ext cx="2635529" cy="203159"/>
            <a:chOff x="0" y="0"/>
            <a:chExt cx="3514039" cy="270878"/>
          </a:xfrm>
        </p:grpSpPr>
        <p:sp>
          <p:nvSpPr>
            <p:cNvPr name="Freeform 645" id="645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46" id="646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day_of_week</a:t>
              </a:r>
            </a:p>
          </p:txBody>
        </p:sp>
      </p:grpSp>
      <p:grpSp>
        <p:nvGrpSpPr>
          <p:cNvPr name="Group 647" id="647"/>
          <p:cNvGrpSpPr/>
          <p:nvPr/>
        </p:nvGrpSpPr>
        <p:grpSpPr>
          <a:xfrm rot="0">
            <a:off x="10318747" y="5794410"/>
            <a:ext cx="2643035" cy="210664"/>
            <a:chOff x="0" y="0"/>
            <a:chExt cx="3524047" cy="280886"/>
          </a:xfrm>
        </p:grpSpPr>
        <p:sp>
          <p:nvSpPr>
            <p:cNvPr name="Freeform 648" id="648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9" id="649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50" id="650"/>
          <p:cNvGrpSpPr/>
          <p:nvPr/>
        </p:nvGrpSpPr>
        <p:grpSpPr>
          <a:xfrm rot="0">
            <a:off x="10322500" y="5798163"/>
            <a:ext cx="2635529" cy="203159"/>
            <a:chOff x="0" y="0"/>
            <a:chExt cx="3514039" cy="270878"/>
          </a:xfrm>
        </p:grpSpPr>
        <p:sp>
          <p:nvSpPr>
            <p:cNvPr name="Freeform 651" id="651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2" id="652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week_of_year</a:t>
              </a:r>
            </a:p>
          </p:txBody>
        </p:sp>
      </p:grpSp>
      <p:grpSp>
        <p:nvGrpSpPr>
          <p:cNvPr name="Group 653" id="653"/>
          <p:cNvGrpSpPr/>
          <p:nvPr/>
        </p:nvGrpSpPr>
        <p:grpSpPr>
          <a:xfrm rot="0">
            <a:off x="10318747" y="5997569"/>
            <a:ext cx="2643035" cy="210664"/>
            <a:chOff x="0" y="0"/>
            <a:chExt cx="3524047" cy="280886"/>
          </a:xfrm>
        </p:grpSpPr>
        <p:sp>
          <p:nvSpPr>
            <p:cNvPr name="Freeform 654" id="654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55" id="655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56" id="656"/>
          <p:cNvGrpSpPr/>
          <p:nvPr/>
        </p:nvGrpSpPr>
        <p:grpSpPr>
          <a:xfrm rot="0">
            <a:off x="10322500" y="6001321"/>
            <a:ext cx="2635529" cy="203159"/>
            <a:chOff x="0" y="0"/>
            <a:chExt cx="3514039" cy="270878"/>
          </a:xfrm>
        </p:grpSpPr>
        <p:sp>
          <p:nvSpPr>
            <p:cNvPr name="Freeform 657" id="657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58" id="658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is_weekend</a:t>
              </a:r>
            </a:p>
          </p:txBody>
        </p:sp>
      </p:grpSp>
      <p:grpSp>
        <p:nvGrpSpPr>
          <p:cNvPr name="Group 659" id="659"/>
          <p:cNvGrpSpPr/>
          <p:nvPr/>
        </p:nvGrpSpPr>
        <p:grpSpPr>
          <a:xfrm rot="0">
            <a:off x="10318747" y="6200727"/>
            <a:ext cx="2643035" cy="210664"/>
            <a:chOff x="0" y="0"/>
            <a:chExt cx="3524047" cy="280886"/>
          </a:xfrm>
        </p:grpSpPr>
        <p:sp>
          <p:nvSpPr>
            <p:cNvPr name="Freeform 660" id="660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1" id="661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62" id="662"/>
          <p:cNvGrpSpPr/>
          <p:nvPr/>
        </p:nvGrpSpPr>
        <p:grpSpPr>
          <a:xfrm rot="0">
            <a:off x="10322500" y="6204480"/>
            <a:ext cx="2635529" cy="203159"/>
            <a:chOff x="0" y="0"/>
            <a:chExt cx="3514039" cy="270878"/>
          </a:xfrm>
        </p:grpSpPr>
        <p:sp>
          <p:nvSpPr>
            <p:cNvPr name="Freeform 663" id="663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64" id="664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is_holiday</a:t>
              </a:r>
            </a:p>
          </p:txBody>
        </p:sp>
      </p:grpSp>
      <p:grpSp>
        <p:nvGrpSpPr>
          <p:cNvPr name="Group 665" id="665"/>
          <p:cNvGrpSpPr/>
          <p:nvPr/>
        </p:nvGrpSpPr>
        <p:grpSpPr>
          <a:xfrm rot="0">
            <a:off x="10314242" y="8211302"/>
            <a:ext cx="2652046" cy="1131122"/>
            <a:chOff x="0" y="0"/>
            <a:chExt cx="3536061" cy="1508163"/>
          </a:xfrm>
        </p:grpSpPr>
        <p:sp>
          <p:nvSpPr>
            <p:cNvPr name="Freeform 666" id="666"/>
            <p:cNvSpPr/>
            <p:nvPr/>
          </p:nvSpPr>
          <p:spPr>
            <a:xfrm flipH="false" flipV="false" rot="0">
              <a:off x="11049" y="11049"/>
              <a:ext cx="3514090" cy="1486154"/>
            </a:xfrm>
            <a:custGeom>
              <a:avLst/>
              <a:gdLst/>
              <a:ahLst/>
              <a:cxnLst/>
              <a:rect r="r" b="b" t="t" l="l"/>
              <a:pathLst>
                <a:path h="1486154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1486154"/>
                  </a:lnTo>
                  <a:lnTo>
                    <a:pt x="0" y="1486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7" id="667"/>
            <p:cNvSpPr/>
            <p:nvPr/>
          </p:nvSpPr>
          <p:spPr>
            <a:xfrm flipH="false" flipV="false" rot="0">
              <a:off x="0" y="0"/>
              <a:ext cx="3536188" cy="1508252"/>
            </a:xfrm>
            <a:custGeom>
              <a:avLst/>
              <a:gdLst/>
              <a:ahLst/>
              <a:cxnLst/>
              <a:rect r="r" b="b" t="t" l="l"/>
              <a:pathLst>
                <a:path h="1508252" w="3536188">
                  <a:moveTo>
                    <a:pt x="11049" y="0"/>
                  </a:moveTo>
                  <a:lnTo>
                    <a:pt x="3525139" y="0"/>
                  </a:lnTo>
                  <a:cubicBezTo>
                    <a:pt x="3531235" y="0"/>
                    <a:pt x="3536188" y="4953"/>
                    <a:pt x="3536188" y="11049"/>
                  </a:cubicBezTo>
                  <a:lnTo>
                    <a:pt x="3536188" y="1497203"/>
                  </a:lnTo>
                  <a:cubicBezTo>
                    <a:pt x="3536188" y="1503299"/>
                    <a:pt x="3531235" y="1508252"/>
                    <a:pt x="3525139" y="1508252"/>
                  </a:cubicBezTo>
                  <a:lnTo>
                    <a:pt x="11049" y="1508252"/>
                  </a:lnTo>
                  <a:cubicBezTo>
                    <a:pt x="4953" y="1508252"/>
                    <a:pt x="0" y="1503299"/>
                    <a:pt x="0" y="1497203"/>
                  </a:cubicBezTo>
                  <a:lnTo>
                    <a:pt x="0" y="11049"/>
                  </a:lnTo>
                  <a:cubicBezTo>
                    <a:pt x="0" y="4953"/>
                    <a:pt x="4953" y="0"/>
                    <a:pt x="11049" y="0"/>
                  </a:cubicBezTo>
                  <a:moveTo>
                    <a:pt x="11049" y="21971"/>
                  </a:moveTo>
                  <a:lnTo>
                    <a:pt x="11049" y="11049"/>
                  </a:lnTo>
                  <a:lnTo>
                    <a:pt x="22098" y="11049"/>
                  </a:lnTo>
                  <a:lnTo>
                    <a:pt x="22098" y="1497203"/>
                  </a:lnTo>
                  <a:lnTo>
                    <a:pt x="11049" y="1497203"/>
                  </a:lnTo>
                  <a:lnTo>
                    <a:pt x="11049" y="1486154"/>
                  </a:lnTo>
                  <a:lnTo>
                    <a:pt x="3525139" y="1486154"/>
                  </a:lnTo>
                  <a:lnTo>
                    <a:pt x="3525139" y="1497203"/>
                  </a:lnTo>
                  <a:lnTo>
                    <a:pt x="3514090" y="1497203"/>
                  </a:lnTo>
                  <a:lnTo>
                    <a:pt x="3514090" y="11049"/>
                  </a:lnTo>
                  <a:lnTo>
                    <a:pt x="3525139" y="11049"/>
                  </a:lnTo>
                  <a:lnTo>
                    <a:pt x="3525139" y="22098"/>
                  </a:lnTo>
                  <a:lnTo>
                    <a:pt x="11049" y="22098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68" id="668"/>
          <p:cNvGrpSpPr/>
          <p:nvPr/>
        </p:nvGrpSpPr>
        <p:grpSpPr>
          <a:xfrm rot="0">
            <a:off x="10322500" y="8219561"/>
            <a:ext cx="2635529" cy="301990"/>
            <a:chOff x="0" y="0"/>
            <a:chExt cx="3514039" cy="402654"/>
          </a:xfrm>
        </p:grpSpPr>
        <p:sp>
          <p:nvSpPr>
            <p:cNvPr name="Freeform 669" id="66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TextBox 670" id="670"/>
            <p:cNvSpPr txBox="true"/>
            <p:nvPr/>
          </p:nvSpPr>
          <p:spPr>
            <a:xfrm>
              <a:off x="0" y="-9525"/>
              <a:ext cx="3514039" cy="412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dim_time_slot</a:t>
              </a:r>
            </a:p>
          </p:txBody>
        </p:sp>
      </p:grpSp>
      <p:grpSp>
        <p:nvGrpSpPr>
          <p:cNvPr name="Group 671" id="671"/>
          <p:cNvGrpSpPr/>
          <p:nvPr/>
        </p:nvGrpSpPr>
        <p:grpSpPr>
          <a:xfrm rot="0">
            <a:off x="10318747" y="8517798"/>
            <a:ext cx="2643035" cy="210664"/>
            <a:chOff x="0" y="0"/>
            <a:chExt cx="3524047" cy="280886"/>
          </a:xfrm>
        </p:grpSpPr>
        <p:sp>
          <p:nvSpPr>
            <p:cNvPr name="Freeform 672" id="672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673" id="673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74" id="674"/>
          <p:cNvGrpSpPr/>
          <p:nvPr/>
        </p:nvGrpSpPr>
        <p:grpSpPr>
          <a:xfrm rot="0">
            <a:off x="10322500" y="8521551"/>
            <a:ext cx="329441" cy="203159"/>
            <a:chOff x="0" y="0"/>
            <a:chExt cx="439255" cy="270878"/>
          </a:xfrm>
        </p:grpSpPr>
        <p:sp>
          <p:nvSpPr>
            <p:cNvPr name="Freeform 675" id="675"/>
            <p:cNvSpPr/>
            <p:nvPr/>
          </p:nvSpPr>
          <p:spPr>
            <a:xfrm flipH="false" flipV="false" rot="0">
              <a:off x="0" y="0"/>
              <a:ext cx="439293" cy="270891"/>
            </a:xfrm>
            <a:custGeom>
              <a:avLst/>
              <a:gdLst/>
              <a:ahLst/>
              <a:cxnLst/>
              <a:rect r="r" b="b" t="t" l="l"/>
              <a:pathLst>
                <a:path h="270891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676" id="676"/>
            <p:cNvSpPr txBox="true"/>
            <p:nvPr/>
          </p:nvSpPr>
          <p:spPr>
            <a:xfrm>
              <a:off x="0" y="-9525"/>
              <a:ext cx="439255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7A6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PK</a:t>
              </a:r>
            </a:p>
          </p:txBody>
        </p:sp>
      </p:grpSp>
      <p:grpSp>
        <p:nvGrpSpPr>
          <p:cNvPr name="Group 677" id="677"/>
          <p:cNvGrpSpPr/>
          <p:nvPr/>
        </p:nvGrpSpPr>
        <p:grpSpPr>
          <a:xfrm rot="0">
            <a:off x="10665666" y="8521551"/>
            <a:ext cx="2292363" cy="203159"/>
            <a:chOff x="0" y="0"/>
            <a:chExt cx="3056484" cy="270878"/>
          </a:xfrm>
        </p:grpSpPr>
        <p:sp>
          <p:nvSpPr>
            <p:cNvPr name="Freeform 678" id="678"/>
            <p:cNvSpPr/>
            <p:nvPr/>
          </p:nvSpPr>
          <p:spPr>
            <a:xfrm flipH="false" flipV="false" rot="0">
              <a:off x="0" y="0"/>
              <a:ext cx="3056509" cy="270891"/>
            </a:xfrm>
            <a:custGeom>
              <a:avLst/>
              <a:gdLst/>
              <a:ahLst/>
              <a:cxnLst/>
              <a:rect r="r" b="b" t="t" l="l"/>
              <a:pathLst>
                <a:path h="270891" w="3056509">
                  <a:moveTo>
                    <a:pt x="0" y="0"/>
                  </a:moveTo>
                  <a:lnTo>
                    <a:pt x="3056509" y="0"/>
                  </a:lnTo>
                  <a:lnTo>
                    <a:pt x="3056509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TextBox 679" id="679"/>
            <p:cNvSpPr txBox="true"/>
            <p:nvPr/>
          </p:nvSpPr>
          <p:spPr>
            <a:xfrm>
              <a:off x="0" y="-9525"/>
              <a:ext cx="3056484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A1A2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time_slot_id</a:t>
              </a:r>
            </a:p>
          </p:txBody>
        </p:sp>
      </p:grpSp>
      <p:grpSp>
        <p:nvGrpSpPr>
          <p:cNvPr name="Group 680" id="680"/>
          <p:cNvGrpSpPr/>
          <p:nvPr/>
        </p:nvGrpSpPr>
        <p:grpSpPr>
          <a:xfrm rot="0">
            <a:off x="10318747" y="8720957"/>
            <a:ext cx="2643035" cy="210664"/>
            <a:chOff x="0" y="0"/>
            <a:chExt cx="3524047" cy="280886"/>
          </a:xfrm>
        </p:grpSpPr>
        <p:sp>
          <p:nvSpPr>
            <p:cNvPr name="Freeform 681" id="681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2" id="682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83" id="683"/>
          <p:cNvGrpSpPr/>
          <p:nvPr/>
        </p:nvGrpSpPr>
        <p:grpSpPr>
          <a:xfrm rot="0">
            <a:off x="10322500" y="8724710"/>
            <a:ext cx="2635529" cy="203159"/>
            <a:chOff x="0" y="0"/>
            <a:chExt cx="3514039" cy="270878"/>
          </a:xfrm>
        </p:grpSpPr>
        <p:sp>
          <p:nvSpPr>
            <p:cNvPr name="Freeform 684" id="684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5" id="685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pickup_start_time</a:t>
              </a:r>
            </a:p>
          </p:txBody>
        </p:sp>
      </p:grpSp>
      <p:grpSp>
        <p:nvGrpSpPr>
          <p:cNvPr name="Group 686" id="686"/>
          <p:cNvGrpSpPr/>
          <p:nvPr/>
        </p:nvGrpSpPr>
        <p:grpSpPr>
          <a:xfrm rot="0">
            <a:off x="10318747" y="8924106"/>
            <a:ext cx="2643035" cy="210664"/>
            <a:chOff x="0" y="0"/>
            <a:chExt cx="3524047" cy="280886"/>
          </a:xfrm>
        </p:grpSpPr>
        <p:sp>
          <p:nvSpPr>
            <p:cNvPr name="Freeform 687" id="687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88" id="688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89" id="689"/>
          <p:cNvGrpSpPr/>
          <p:nvPr/>
        </p:nvGrpSpPr>
        <p:grpSpPr>
          <a:xfrm rot="0">
            <a:off x="10322500" y="8927859"/>
            <a:ext cx="2635529" cy="203159"/>
            <a:chOff x="0" y="0"/>
            <a:chExt cx="3514039" cy="270878"/>
          </a:xfrm>
        </p:grpSpPr>
        <p:sp>
          <p:nvSpPr>
            <p:cNvPr name="Freeform 690" id="690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91" id="691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pickup_end_time</a:t>
              </a:r>
            </a:p>
          </p:txBody>
        </p:sp>
      </p:grpSp>
      <p:grpSp>
        <p:nvGrpSpPr>
          <p:cNvPr name="Group 692" id="692"/>
          <p:cNvGrpSpPr/>
          <p:nvPr/>
        </p:nvGrpSpPr>
        <p:grpSpPr>
          <a:xfrm rot="0">
            <a:off x="10318747" y="9127265"/>
            <a:ext cx="2643035" cy="210664"/>
            <a:chOff x="0" y="0"/>
            <a:chExt cx="3524047" cy="280886"/>
          </a:xfrm>
        </p:grpSpPr>
        <p:sp>
          <p:nvSpPr>
            <p:cNvPr name="Freeform 693" id="693"/>
            <p:cNvSpPr/>
            <p:nvPr/>
          </p:nvSpPr>
          <p:spPr>
            <a:xfrm flipH="false" flipV="false" rot="0">
              <a:off x="4953" y="4953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4" id="694"/>
            <p:cNvSpPr/>
            <p:nvPr/>
          </p:nvSpPr>
          <p:spPr>
            <a:xfrm flipH="false" flipV="false" rot="0">
              <a:off x="0" y="0"/>
              <a:ext cx="3523996" cy="280797"/>
            </a:xfrm>
            <a:custGeom>
              <a:avLst/>
              <a:gdLst/>
              <a:ahLst/>
              <a:cxnLst/>
              <a:rect r="r" b="b" t="t" l="l"/>
              <a:pathLst>
                <a:path h="280797" w="3523996">
                  <a:moveTo>
                    <a:pt x="4953" y="0"/>
                  </a:moveTo>
                  <a:lnTo>
                    <a:pt x="3519043" y="0"/>
                  </a:lnTo>
                  <a:cubicBezTo>
                    <a:pt x="3521837" y="0"/>
                    <a:pt x="3523996" y="2286"/>
                    <a:pt x="3523996" y="4953"/>
                  </a:cubicBezTo>
                  <a:lnTo>
                    <a:pt x="3523996" y="275844"/>
                  </a:lnTo>
                  <a:cubicBezTo>
                    <a:pt x="3523996" y="278638"/>
                    <a:pt x="3521710" y="280797"/>
                    <a:pt x="3519043" y="280797"/>
                  </a:cubicBezTo>
                  <a:lnTo>
                    <a:pt x="4953" y="280797"/>
                  </a:lnTo>
                  <a:cubicBezTo>
                    <a:pt x="2159" y="280797"/>
                    <a:pt x="0" y="278511"/>
                    <a:pt x="0" y="275844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275844"/>
                  </a:lnTo>
                  <a:lnTo>
                    <a:pt x="4953" y="275844"/>
                  </a:lnTo>
                  <a:lnTo>
                    <a:pt x="4953" y="270891"/>
                  </a:lnTo>
                  <a:lnTo>
                    <a:pt x="3519043" y="270891"/>
                  </a:lnTo>
                  <a:lnTo>
                    <a:pt x="3519043" y="275844"/>
                  </a:lnTo>
                  <a:lnTo>
                    <a:pt x="3514090" y="275844"/>
                  </a:lnTo>
                  <a:lnTo>
                    <a:pt x="3514090" y="4953"/>
                  </a:lnTo>
                  <a:lnTo>
                    <a:pt x="3519043" y="4953"/>
                  </a:lnTo>
                  <a:lnTo>
                    <a:pt x="3519043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95" id="695"/>
          <p:cNvGrpSpPr/>
          <p:nvPr/>
        </p:nvGrpSpPr>
        <p:grpSpPr>
          <a:xfrm rot="0">
            <a:off x="10322500" y="9131017"/>
            <a:ext cx="2635529" cy="203159"/>
            <a:chOff x="0" y="0"/>
            <a:chExt cx="3514039" cy="270878"/>
          </a:xfrm>
        </p:grpSpPr>
        <p:sp>
          <p:nvSpPr>
            <p:cNvPr name="Freeform 696" id="696"/>
            <p:cNvSpPr/>
            <p:nvPr/>
          </p:nvSpPr>
          <p:spPr>
            <a:xfrm flipH="false" flipV="false" rot="0">
              <a:off x="0" y="0"/>
              <a:ext cx="3514090" cy="270891"/>
            </a:xfrm>
            <a:custGeom>
              <a:avLst/>
              <a:gdLst/>
              <a:ahLst/>
              <a:cxnLst/>
              <a:rect r="r" b="b" t="t" l="l"/>
              <a:pathLst>
                <a:path h="270891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270891"/>
                  </a:lnTo>
                  <a:lnTo>
                    <a:pt x="0" y="2708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97" id="697"/>
            <p:cNvSpPr txBox="true"/>
            <p:nvPr/>
          </p:nvSpPr>
          <p:spPr>
            <a:xfrm>
              <a:off x="0" y="-9525"/>
              <a:ext cx="3514039" cy="280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 time_period</a:t>
              </a:r>
            </a:p>
          </p:txBody>
        </p:sp>
      </p:grpSp>
      <p:sp>
        <p:nvSpPr>
          <p:cNvPr name="AutoShape 698" id="698"/>
          <p:cNvSpPr/>
          <p:nvPr/>
        </p:nvSpPr>
        <p:spPr>
          <a:xfrm rot="506399">
            <a:off x="2874950" y="1343235"/>
            <a:ext cx="97679" cy="0"/>
          </a:xfrm>
          <a:prstGeom prst="line">
            <a:avLst/>
          </a:prstGeom>
          <a:ln cap="rnd" w="9525">
            <a:solidFill>
              <a:srgbClr val="1B4D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9" id="699"/>
          <p:cNvSpPr/>
          <p:nvPr/>
        </p:nvSpPr>
        <p:spPr>
          <a:xfrm rot="702600">
            <a:off x="6828044" y="8008934"/>
            <a:ext cx="70637" cy="0"/>
          </a:xfrm>
          <a:prstGeom prst="line">
            <a:avLst/>
          </a:prstGeom>
          <a:ln cap="rnd" w="9525">
            <a:solidFill>
              <a:srgbClr val="1B4D3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00" id="700"/>
          <p:cNvSpPr/>
          <p:nvPr/>
        </p:nvSpPr>
        <p:spPr>
          <a:xfrm rot="10097400">
            <a:off x="10259720" y="2359019"/>
            <a:ext cx="70637" cy="0"/>
          </a:xfrm>
          <a:prstGeom prst="line">
            <a:avLst/>
          </a:prstGeom>
          <a:ln cap="rnd" w="9525">
            <a:solidFill>
              <a:srgbClr val="1B4D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1" id="701"/>
          <p:cNvGrpSpPr/>
          <p:nvPr/>
        </p:nvGrpSpPr>
        <p:grpSpPr>
          <a:xfrm rot="0">
            <a:off x="13335229" y="802729"/>
            <a:ext cx="2004670" cy="2964856"/>
            <a:chOff x="0" y="0"/>
            <a:chExt cx="2672893" cy="3953142"/>
          </a:xfrm>
        </p:grpSpPr>
        <p:sp>
          <p:nvSpPr>
            <p:cNvPr name="Freeform 702" id="702"/>
            <p:cNvSpPr/>
            <p:nvPr/>
          </p:nvSpPr>
          <p:spPr>
            <a:xfrm flipH="false" flipV="false" rot="0">
              <a:off x="9525" y="9525"/>
              <a:ext cx="2653792" cy="3934079"/>
            </a:xfrm>
            <a:custGeom>
              <a:avLst/>
              <a:gdLst/>
              <a:ahLst/>
              <a:cxnLst/>
              <a:rect r="r" b="b" t="t" l="l"/>
              <a:pathLst>
                <a:path h="3934079" w="2653792">
                  <a:moveTo>
                    <a:pt x="0" y="0"/>
                  </a:moveTo>
                  <a:lnTo>
                    <a:pt x="2653792" y="0"/>
                  </a:lnTo>
                  <a:lnTo>
                    <a:pt x="2653792" y="3934079"/>
                  </a:lnTo>
                  <a:lnTo>
                    <a:pt x="0" y="393407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3" id="703"/>
            <p:cNvSpPr/>
            <p:nvPr/>
          </p:nvSpPr>
          <p:spPr>
            <a:xfrm flipH="false" flipV="false" rot="0">
              <a:off x="0" y="0"/>
              <a:ext cx="2672842" cy="3953129"/>
            </a:xfrm>
            <a:custGeom>
              <a:avLst/>
              <a:gdLst/>
              <a:ahLst/>
              <a:cxnLst/>
              <a:rect r="r" b="b" t="t" l="l"/>
              <a:pathLst>
                <a:path h="3953129" w="2672842">
                  <a:moveTo>
                    <a:pt x="9525" y="0"/>
                  </a:moveTo>
                  <a:lnTo>
                    <a:pt x="2663317" y="0"/>
                  </a:lnTo>
                  <a:cubicBezTo>
                    <a:pt x="2668524" y="0"/>
                    <a:pt x="2672842" y="4318"/>
                    <a:pt x="2672842" y="9525"/>
                  </a:cubicBezTo>
                  <a:lnTo>
                    <a:pt x="2672842" y="3943604"/>
                  </a:lnTo>
                  <a:cubicBezTo>
                    <a:pt x="2672842" y="3948811"/>
                    <a:pt x="2668524" y="3953129"/>
                    <a:pt x="2663317" y="3953129"/>
                  </a:cubicBezTo>
                  <a:lnTo>
                    <a:pt x="9525" y="3953129"/>
                  </a:lnTo>
                  <a:cubicBezTo>
                    <a:pt x="4318" y="3953129"/>
                    <a:pt x="0" y="3948811"/>
                    <a:pt x="0" y="3943604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3943604"/>
                  </a:lnTo>
                  <a:lnTo>
                    <a:pt x="9525" y="3943604"/>
                  </a:lnTo>
                  <a:lnTo>
                    <a:pt x="9525" y="3934079"/>
                  </a:lnTo>
                  <a:lnTo>
                    <a:pt x="2663317" y="3934079"/>
                  </a:lnTo>
                  <a:lnTo>
                    <a:pt x="2663317" y="3943604"/>
                  </a:lnTo>
                  <a:lnTo>
                    <a:pt x="2653792" y="3943604"/>
                  </a:lnTo>
                  <a:lnTo>
                    <a:pt x="2653792" y="9525"/>
                  </a:lnTo>
                  <a:lnTo>
                    <a:pt x="2663317" y="9525"/>
                  </a:lnTo>
                  <a:lnTo>
                    <a:pt x="2663317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704" id="704"/>
          <p:cNvGrpSpPr/>
          <p:nvPr/>
        </p:nvGrpSpPr>
        <p:grpSpPr>
          <a:xfrm rot="0">
            <a:off x="13452186" y="892235"/>
            <a:ext cx="1784471" cy="301990"/>
            <a:chOff x="0" y="0"/>
            <a:chExt cx="2379294" cy="402654"/>
          </a:xfrm>
        </p:grpSpPr>
        <p:sp>
          <p:nvSpPr>
            <p:cNvPr name="Freeform 705" id="705"/>
            <p:cNvSpPr/>
            <p:nvPr/>
          </p:nvSpPr>
          <p:spPr>
            <a:xfrm flipH="false" flipV="false" rot="0">
              <a:off x="0" y="0"/>
              <a:ext cx="2379345" cy="402590"/>
            </a:xfrm>
            <a:custGeom>
              <a:avLst/>
              <a:gdLst/>
              <a:ahLst/>
              <a:cxnLst/>
              <a:rect r="r" b="b" t="t" l="l"/>
              <a:pathLst>
                <a:path h="402590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06" id="706"/>
            <p:cNvSpPr txBox="true"/>
            <p:nvPr/>
          </p:nvSpPr>
          <p:spPr>
            <a:xfrm>
              <a:off x="0" y="-19050"/>
              <a:ext cx="2379294" cy="421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2C168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LEGEND</a:t>
              </a:r>
            </a:p>
          </p:txBody>
        </p:sp>
      </p:grpSp>
      <p:grpSp>
        <p:nvGrpSpPr>
          <p:cNvPr name="Group 707" id="707"/>
          <p:cNvGrpSpPr/>
          <p:nvPr/>
        </p:nvGrpSpPr>
        <p:grpSpPr>
          <a:xfrm rot="0">
            <a:off x="13475141" y="1272083"/>
            <a:ext cx="310991" cy="283540"/>
            <a:chOff x="0" y="0"/>
            <a:chExt cx="414655" cy="378054"/>
          </a:xfrm>
        </p:grpSpPr>
        <p:sp>
          <p:nvSpPr>
            <p:cNvPr name="Freeform 708" id="708"/>
            <p:cNvSpPr/>
            <p:nvPr/>
          </p:nvSpPr>
          <p:spPr>
            <a:xfrm flipH="false" flipV="false" rot="0">
              <a:off x="5969" y="5969"/>
              <a:ext cx="402590" cy="366141"/>
            </a:xfrm>
            <a:custGeom>
              <a:avLst/>
              <a:gdLst/>
              <a:ahLst/>
              <a:cxnLst/>
              <a:rect r="r" b="b" t="t" l="l"/>
              <a:pathLst>
                <a:path h="366141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366141"/>
                  </a:lnTo>
                  <a:lnTo>
                    <a:pt x="0" y="366141"/>
                  </a:ln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Freeform 709" id="709"/>
            <p:cNvSpPr/>
            <p:nvPr/>
          </p:nvSpPr>
          <p:spPr>
            <a:xfrm flipH="false" flipV="false" rot="0">
              <a:off x="0" y="0"/>
              <a:ext cx="414528" cy="378079"/>
            </a:xfrm>
            <a:custGeom>
              <a:avLst/>
              <a:gdLst/>
              <a:ahLst/>
              <a:cxnLst/>
              <a:rect r="r" b="b" t="t" l="l"/>
              <a:pathLst>
                <a:path h="378079" w="414528">
                  <a:moveTo>
                    <a:pt x="5969" y="0"/>
                  </a:moveTo>
                  <a:lnTo>
                    <a:pt x="408559" y="0"/>
                  </a:lnTo>
                  <a:cubicBezTo>
                    <a:pt x="411861" y="0"/>
                    <a:pt x="414528" y="2667"/>
                    <a:pt x="414528" y="5969"/>
                  </a:cubicBezTo>
                  <a:lnTo>
                    <a:pt x="414528" y="372110"/>
                  </a:lnTo>
                  <a:cubicBezTo>
                    <a:pt x="414528" y="375412"/>
                    <a:pt x="411861" y="378079"/>
                    <a:pt x="408559" y="378079"/>
                  </a:cubicBezTo>
                  <a:lnTo>
                    <a:pt x="5969" y="378079"/>
                  </a:lnTo>
                  <a:cubicBezTo>
                    <a:pt x="2667" y="378079"/>
                    <a:pt x="0" y="375412"/>
                    <a:pt x="0" y="372110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2065"/>
                  </a:moveTo>
                  <a:lnTo>
                    <a:pt x="5969" y="5969"/>
                  </a:lnTo>
                  <a:lnTo>
                    <a:pt x="12065" y="5969"/>
                  </a:lnTo>
                  <a:lnTo>
                    <a:pt x="12065" y="372110"/>
                  </a:lnTo>
                  <a:lnTo>
                    <a:pt x="5969" y="372110"/>
                  </a:lnTo>
                  <a:lnTo>
                    <a:pt x="5969" y="366141"/>
                  </a:lnTo>
                  <a:lnTo>
                    <a:pt x="408559" y="366141"/>
                  </a:lnTo>
                  <a:lnTo>
                    <a:pt x="408559" y="372110"/>
                  </a:lnTo>
                  <a:lnTo>
                    <a:pt x="402590" y="372110"/>
                  </a:lnTo>
                  <a:lnTo>
                    <a:pt x="402590" y="5969"/>
                  </a:lnTo>
                  <a:lnTo>
                    <a:pt x="408559" y="5969"/>
                  </a:lnTo>
                  <a:lnTo>
                    <a:pt x="408559" y="12065"/>
                  </a:lnTo>
                  <a:lnTo>
                    <a:pt x="5969" y="12065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710" id="710"/>
          <p:cNvGrpSpPr/>
          <p:nvPr/>
        </p:nvGrpSpPr>
        <p:grpSpPr>
          <a:xfrm rot="0">
            <a:off x="13863990" y="1276588"/>
            <a:ext cx="1400127" cy="274539"/>
            <a:chOff x="0" y="0"/>
            <a:chExt cx="1866836" cy="366052"/>
          </a:xfrm>
        </p:grpSpPr>
        <p:sp>
          <p:nvSpPr>
            <p:cNvPr name="Freeform 711" id="711"/>
            <p:cNvSpPr/>
            <p:nvPr/>
          </p:nvSpPr>
          <p:spPr>
            <a:xfrm flipH="false" flipV="false" rot="0">
              <a:off x="0" y="0"/>
              <a:ext cx="1866773" cy="366014"/>
            </a:xfrm>
            <a:custGeom>
              <a:avLst/>
              <a:gdLst/>
              <a:ahLst/>
              <a:cxnLst/>
              <a:rect r="r" b="b" t="t" l="l"/>
              <a:pathLst>
                <a:path h="366014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2" id="712"/>
            <p:cNvSpPr txBox="true"/>
            <p:nvPr/>
          </p:nvSpPr>
          <p:spPr>
            <a:xfrm>
              <a:off x="0" y="-9525"/>
              <a:ext cx="1866836" cy="375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Dimension table</a:t>
              </a:r>
            </a:p>
          </p:txBody>
        </p:sp>
      </p:grpSp>
      <p:grpSp>
        <p:nvGrpSpPr>
          <p:cNvPr name="Group 713" id="713"/>
          <p:cNvGrpSpPr/>
          <p:nvPr/>
        </p:nvGrpSpPr>
        <p:grpSpPr>
          <a:xfrm rot="0">
            <a:off x="13475141" y="1711338"/>
            <a:ext cx="310991" cy="283540"/>
            <a:chOff x="0" y="0"/>
            <a:chExt cx="414655" cy="378054"/>
          </a:xfrm>
        </p:grpSpPr>
        <p:sp>
          <p:nvSpPr>
            <p:cNvPr name="Freeform 714" id="714"/>
            <p:cNvSpPr/>
            <p:nvPr/>
          </p:nvSpPr>
          <p:spPr>
            <a:xfrm flipH="false" flipV="false" rot="0">
              <a:off x="5969" y="5969"/>
              <a:ext cx="402590" cy="366141"/>
            </a:xfrm>
            <a:custGeom>
              <a:avLst/>
              <a:gdLst/>
              <a:ahLst/>
              <a:cxnLst/>
              <a:rect r="r" b="b" t="t" l="l"/>
              <a:pathLst>
                <a:path h="366141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366141"/>
                  </a:lnTo>
                  <a:lnTo>
                    <a:pt x="0" y="366141"/>
                  </a:lnTo>
                  <a:close/>
                </a:path>
              </a:pathLst>
            </a:custGeom>
            <a:solidFill>
              <a:srgbClr val="15488C"/>
            </a:solidFill>
          </p:spPr>
        </p:sp>
        <p:sp>
          <p:nvSpPr>
            <p:cNvPr name="Freeform 715" id="715"/>
            <p:cNvSpPr/>
            <p:nvPr/>
          </p:nvSpPr>
          <p:spPr>
            <a:xfrm flipH="false" flipV="false" rot="0">
              <a:off x="0" y="0"/>
              <a:ext cx="414528" cy="378079"/>
            </a:xfrm>
            <a:custGeom>
              <a:avLst/>
              <a:gdLst/>
              <a:ahLst/>
              <a:cxnLst/>
              <a:rect r="r" b="b" t="t" l="l"/>
              <a:pathLst>
                <a:path h="378079" w="414528">
                  <a:moveTo>
                    <a:pt x="5969" y="0"/>
                  </a:moveTo>
                  <a:lnTo>
                    <a:pt x="408559" y="0"/>
                  </a:lnTo>
                  <a:cubicBezTo>
                    <a:pt x="411861" y="0"/>
                    <a:pt x="414528" y="2667"/>
                    <a:pt x="414528" y="5969"/>
                  </a:cubicBezTo>
                  <a:lnTo>
                    <a:pt x="414528" y="372110"/>
                  </a:lnTo>
                  <a:cubicBezTo>
                    <a:pt x="414528" y="375412"/>
                    <a:pt x="411861" y="378079"/>
                    <a:pt x="408559" y="378079"/>
                  </a:cubicBezTo>
                  <a:lnTo>
                    <a:pt x="5969" y="378079"/>
                  </a:lnTo>
                  <a:cubicBezTo>
                    <a:pt x="2667" y="378079"/>
                    <a:pt x="0" y="375412"/>
                    <a:pt x="0" y="372110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2065"/>
                  </a:moveTo>
                  <a:lnTo>
                    <a:pt x="5969" y="5969"/>
                  </a:lnTo>
                  <a:lnTo>
                    <a:pt x="12065" y="5969"/>
                  </a:lnTo>
                  <a:lnTo>
                    <a:pt x="12065" y="372110"/>
                  </a:lnTo>
                  <a:lnTo>
                    <a:pt x="5969" y="372110"/>
                  </a:lnTo>
                  <a:lnTo>
                    <a:pt x="5969" y="366141"/>
                  </a:lnTo>
                  <a:lnTo>
                    <a:pt x="408559" y="366141"/>
                  </a:lnTo>
                  <a:lnTo>
                    <a:pt x="408559" y="372110"/>
                  </a:lnTo>
                  <a:lnTo>
                    <a:pt x="402590" y="372110"/>
                  </a:lnTo>
                  <a:lnTo>
                    <a:pt x="402590" y="5969"/>
                  </a:lnTo>
                  <a:lnTo>
                    <a:pt x="408559" y="5969"/>
                  </a:lnTo>
                  <a:lnTo>
                    <a:pt x="408559" y="12065"/>
                  </a:lnTo>
                  <a:lnTo>
                    <a:pt x="5969" y="12065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716" id="716"/>
          <p:cNvGrpSpPr/>
          <p:nvPr/>
        </p:nvGrpSpPr>
        <p:grpSpPr>
          <a:xfrm rot="0">
            <a:off x="13863990" y="1715843"/>
            <a:ext cx="1400127" cy="274539"/>
            <a:chOff x="0" y="0"/>
            <a:chExt cx="1866836" cy="366052"/>
          </a:xfrm>
        </p:grpSpPr>
        <p:sp>
          <p:nvSpPr>
            <p:cNvPr name="Freeform 717" id="717"/>
            <p:cNvSpPr/>
            <p:nvPr/>
          </p:nvSpPr>
          <p:spPr>
            <a:xfrm flipH="false" flipV="false" rot="0">
              <a:off x="0" y="0"/>
              <a:ext cx="1866773" cy="366014"/>
            </a:xfrm>
            <a:custGeom>
              <a:avLst/>
              <a:gdLst/>
              <a:ahLst/>
              <a:cxnLst/>
              <a:rect r="r" b="b" t="t" l="l"/>
              <a:pathLst>
                <a:path h="366014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18" id="718"/>
            <p:cNvSpPr txBox="true"/>
            <p:nvPr/>
          </p:nvSpPr>
          <p:spPr>
            <a:xfrm>
              <a:off x="0" y="-9525"/>
              <a:ext cx="1866836" cy="375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Fact table</a:t>
              </a:r>
            </a:p>
          </p:txBody>
        </p:sp>
      </p:grpSp>
      <p:grpSp>
        <p:nvGrpSpPr>
          <p:cNvPr name="Group 719" id="719"/>
          <p:cNvGrpSpPr/>
          <p:nvPr/>
        </p:nvGrpSpPr>
        <p:grpSpPr>
          <a:xfrm rot="0">
            <a:off x="13475141" y="2150593"/>
            <a:ext cx="310991" cy="283540"/>
            <a:chOff x="0" y="0"/>
            <a:chExt cx="414655" cy="378054"/>
          </a:xfrm>
        </p:grpSpPr>
        <p:sp>
          <p:nvSpPr>
            <p:cNvPr name="Freeform 720" id="720"/>
            <p:cNvSpPr/>
            <p:nvPr/>
          </p:nvSpPr>
          <p:spPr>
            <a:xfrm flipH="false" flipV="false" rot="0">
              <a:off x="5969" y="5969"/>
              <a:ext cx="402590" cy="366141"/>
            </a:xfrm>
            <a:custGeom>
              <a:avLst/>
              <a:gdLst/>
              <a:ahLst/>
              <a:cxnLst/>
              <a:rect r="r" b="b" t="t" l="l"/>
              <a:pathLst>
                <a:path h="366141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366141"/>
                  </a:lnTo>
                  <a:lnTo>
                    <a:pt x="0" y="366141"/>
                  </a:lnTo>
                  <a:close/>
                </a:path>
              </a:pathLst>
            </a:custGeom>
            <a:solidFill>
              <a:srgbClr val="FFF080"/>
            </a:solidFill>
          </p:spPr>
        </p:sp>
        <p:sp>
          <p:nvSpPr>
            <p:cNvPr name="Freeform 721" id="721"/>
            <p:cNvSpPr/>
            <p:nvPr/>
          </p:nvSpPr>
          <p:spPr>
            <a:xfrm flipH="false" flipV="false" rot="0">
              <a:off x="0" y="0"/>
              <a:ext cx="414528" cy="378079"/>
            </a:xfrm>
            <a:custGeom>
              <a:avLst/>
              <a:gdLst/>
              <a:ahLst/>
              <a:cxnLst/>
              <a:rect r="r" b="b" t="t" l="l"/>
              <a:pathLst>
                <a:path h="378079" w="414528">
                  <a:moveTo>
                    <a:pt x="5969" y="0"/>
                  </a:moveTo>
                  <a:lnTo>
                    <a:pt x="408559" y="0"/>
                  </a:lnTo>
                  <a:cubicBezTo>
                    <a:pt x="411861" y="0"/>
                    <a:pt x="414528" y="2667"/>
                    <a:pt x="414528" y="5969"/>
                  </a:cubicBezTo>
                  <a:lnTo>
                    <a:pt x="414528" y="372110"/>
                  </a:lnTo>
                  <a:cubicBezTo>
                    <a:pt x="414528" y="375412"/>
                    <a:pt x="411861" y="378079"/>
                    <a:pt x="408559" y="378079"/>
                  </a:cubicBezTo>
                  <a:lnTo>
                    <a:pt x="5969" y="378079"/>
                  </a:lnTo>
                  <a:cubicBezTo>
                    <a:pt x="2667" y="378079"/>
                    <a:pt x="0" y="375412"/>
                    <a:pt x="0" y="372110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2065"/>
                  </a:moveTo>
                  <a:lnTo>
                    <a:pt x="5969" y="5969"/>
                  </a:lnTo>
                  <a:lnTo>
                    <a:pt x="12065" y="5969"/>
                  </a:lnTo>
                  <a:lnTo>
                    <a:pt x="12065" y="372110"/>
                  </a:lnTo>
                  <a:lnTo>
                    <a:pt x="5969" y="372110"/>
                  </a:lnTo>
                  <a:lnTo>
                    <a:pt x="5969" y="366141"/>
                  </a:lnTo>
                  <a:lnTo>
                    <a:pt x="408559" y="366141"/>
                  </a:lnTo>
                  <a:lnTo>
                    <a:pt x="408559" y="372110"/>
                  </a:lnTo>
                  <a:lnTo>
                    <a:pt x="402590" y="372110"/>
                  </a:lnTo>
                  <a:lnTo>
                    <a:pt x="402590" y="5969"/>
                  </a:lnTo>
                  <a:lnTo>
                    <a:pt x="408559" y="5969"/>
                  </a:lnTo>
                  <a:lnTo>
                    <a:pt x="408559" y="12065"/>
                  </a:lnTo>
                  <a:lnTo>
                    <a:pt x="5969" y="12065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722" id="722"/>
          <p:cNvGrpSpPr/>
          <p:nvPr/>
        </p:nvGrpSpPr>
        <p:grpSpPr>
          <a:xfrm rot="0">
            <a:off x="13863990" y="2155098"/>
            <a:ext cx="1400127" cy="274539"/>
            <a:chOff x="0" y="0"/>
            <a:chExt cx="1866836" cy="366052"/>
          </a:xfrm>
        </p:grpSpPr>
        <p:sp>
          <p:nvSpPr>
            <p:cNvPr name="Freeform 723" id="723"/>
            <p:cNvSpPr/>
            <p:nvPr/>
          </p:nvSpPr>
          <p:spPr>
            <a:xfrm flipH="false" flipV="false" rot="0">
              <a:off x="0" y="0"/>
              <a:ext cx="1866773" cy="366014"/>
            </a:xfrm>
            <a:custGeom>
              <a:avLst/>
              <a:gdLst/>
              <a:ahLst/>
              <a:cxnLst/>
              <a:rect r="r" b="b" t="t" l="l"/>
              <a:pathLst>
                <a:path h="366014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24" id="724"/>
            <p:cNvSpPr txBox="true"/>
            <p:nvPr/>
          </p:nvSpPr>
          <p:spPr>
            <a:xfrm>
              <a:off x="0" y="-9525"/>
              <a:ext cx="1866836" cy="375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Primary Key</a:t>
              </a:r>
            </a:p>
          </p:txBody>
        </p:sp>
      </p:grpSp>
      <p:grpSp>
        <p:nvGrpSpPr>
          <p:cNvPr name="Group 725" id="725"/>
          <p:cNvGrpSpPr/>
          <p:nvPr/>
        </p:nvGrpSpPr>
        <p:grpSpPr>
          <a:xfrm rot="0">
            <a:off x="13475141" y="2589848"/>
            <a:ext cx="310991" cy="283540"/>
            <a:chOff x="0" y="0"/>
            <a:chExt cx="414655" cy="378054"/>
          </a:xfrm>
        </p:grpSpPr>
        <p:sp>
          <p:nvSpPr>
            <p:cNvPr name="Freeform 726" id="726"/>
            <p:cNvSpPr/>
            <p:nvPr/>
          </p:nvSpPr>
          <p:spPr>
            <a:xfrm flipH="false" flipV="false" rot="0">
              <a:off x="5969" y="5969"/>
              <a:ext cx="402590" cy="366141"/>
            </a:xfrm>
            <a:custGeom>
              <a:avLst/>
              <a:gdLst/>
              <a:ahLst/>
              <a:cxnLst/>
              <a:rect r="r" b="b" t="t" l="l"/>
              <a:pathLst>
                <a:path h="366141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366141"/>
                  </a:lnTo>
                  <a:lnTo>
                    <a:pt x="0" y="366141"/>
                  </a:lnTo>
                  <a:close/>
                </a:path>
              </a:pathLst>
            </a:custGeom>
            <a:solidFill>
              <a:srgbClr val="FFD080"/>
            </a:solidFill>
          </p:spPr>
        </p:sp>
        <p:sp>
          <p:nvSpPr>
            <p:cNvPr name="Freeform 727" id="727"/>
            <p:cNvSpPr/>
            <p:nvPr/>
          </p:nvSpPr>
          <p:spPr>
            <a:xfrm flipH="false" flipV="false" rot="0">
              <a:off x="0" y="0"/>
              <a:ext cx="414528" cy="378079"/>
            </a:xfrm>
            <a:custGeom>
              <a:avLst/>
              <a:gdLst/>
              <a:ahLst/>
              <a:cxnLst/>
              <a:rect r="r" b="b" t="t" l="l"/>
              <a:pathLst>
                <a:path h="378079" w="414528">
                  <a:moveTo>
                    <a:pt x="5969" y="0"/>
                  </a:moveTo>
                  <a:lnTo>
                    <a:pt x="408559" y="0"/>
                  </a:lnTo>
                  <a:cubicBezTo>
                    <a:pt x="411861" y="0"/>
                    <a:pt x="414528" y="2667"/>
                    <a:pt x="414528" y="5969"/>
                  </a:cubicBezTo>
                  <a:lnTo>
                    <a:pt x="414528" y="372110"/>
                  </a:lnTo>
                  <a:cubicBezTo>
                    <a:pt x="414528" y="375412"/>
                    <a:pt x="411861" y="378079"/>
                    <a:pt x="408559" y="378079"/>
                  </a:cubicBezTo>
                  <a:lnTo>
                    <a:pt x="5969" y="378079"/>
                  </a:lnTo>
                  <a:cubicBezTo>
                    <a:pt x="2667" y="378079"/>
                    <a:pt x="0" y="375412"/>
                    <a:pt x="0" y="372110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2065"/>
                  </a:moveTo>
                  <a:lnTo>
                    <a:pt x="5969" y="5969"/>
                  </a:lnTo>
                  <a:lnTo>
                    <a:pt x="12065" y="5969"/>
                  </a:lnTo>
                  <a:lnTo>
                    <a:pt x="12065" y="372110"/>
                  </a:lnTo>
                  <a:lnTo>
                    <a:pt x="5969" y="372110"/>
                  </a:lnTo>
                  <a:lnTo>
                    <a:pt x="5969" y="366141"/>
                  </a:lnTo>
                  <a:lnTo>
                    <a:pt x="408559" y="366141"/>
                  </a:lnTo>
                  <a:lnTo>
                    <a:pt x="408559" y="372110"/>
                  </a:lnTo>
                  <a:lnTo>
                    <a:pt x="402590" y="372110"/>
                  </a:lnTo>
                  <a:lnTo>
                    <a:pt x="402590" y="5969"/>
                  </a:lnTo>
                  <a:lnTo>
                    <a:pt x="408559" y="5969"/>
                  </a:lnTo>
                  <a:lnTo>
                    <a:pt x="408559" y="12065"/>
                  </a:lnTo>
                  <a:lnTo>
                    <a:pt x="5969" y="12065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728" id="728"/>
          <p:cNvGrpSpPr/>
          <p:nvPr/>
        </p:nvGrpSpPr>
        <p:grpSpPr>
          <a:xfrm rot="0">
            <a:off x="13863990" y="2594353"/>
            <a:ext cx="1400127" cy="274539"/>
            <a:chOff x="0" y="0"/>
            <a:chExt cx="1866836" cy="366052"/>
          </a:xfrm>
        </p:grpSpPr>
        <p:sp>
          <p:nvSpPr>
            <p:cNvPr name="Freeform 729" id="729"/>
            <p:cNvSpPr/>
            <p:nvPr/>
          </p:nvSpPr>
          <p:spPr>
            <a:xfrm flipH="false" flipV="false" rot="0">
              <a:off x="0" y="0"/>
              <a:ext cx="1866773" cy="366014"/>
            </a:xfrm>
            <a:custGeom>
              <a:avLst/>
              <a:gdLst/>
              <a:ahLst/>
              <a:cxnLst/>
              <a:rect r="r" b="b" t="t" l="l"/>
              <a:pathLst>
                <a:path h="366014" w="1866773">
                  <a:moveTo>
                    <a:pt x="0" y="0"/>
                  </a:moveTo>
                  <a:lnTo>
                    <a:pt x="1866773" y="0"/>
                  </a:lnTo>
                  <a:lnTo>
                    <a:pt x="1866773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30" id="730"/>
            <p:cNvSpPr txBox="true"/>
            <p:nvPr/>
          </p:nvSpPr>
          <p:spPr>
            <a:xfrm>
              <a:off x="0" y="-9525"/>
              <a:ext cx="1866836" cy="375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Foreign Key</a:t>
              </a:r>
            </a:p>
          </p:txBody>
        </p:sp>
      </p:grpSp>
      <p:sp>
        <p:nvSpPr>
          <p:cNvPr name="AutoShape 731" id="731"/>
          <p:cNvSpPr/>
          <p:nvPr/>
        </p:nvSpPr>
        <p:spPr>
          <a:xfrm rot="155760">
            <a:off x="13472350" y="2946521"/>
            <a:ext cx="316573" cy="0"/>
          </a:xfrm>
          <a:prstGeom prst="line">
            <a:avLst/>
          </a:prstGeom>
          <a:ln cap="rnd" w="9525">
            <a:solidFill>
              <a:srgbClr val="1B4D3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32" id="732"/>
          <p:cNvGrpSpPr/>
          <p:nvPr/>
        </p:nvGrpSpPr>
        <p:grpSpPr>
          <a:xfrm rot="0">
            <a:off x="13863990" y="2841431"/>
            <a:ext cx="1441304" cy="274539"/>
            <a:chOff x="0" y="0"/>
            <a:chExt cx="1921739" cy="366052"/>
          </a:xfrm>
        </p:grpSpPr>
        <p:sp>
          <p:nvSpPr>
            <p:cNvPr name="Freeform 733" id="733"/>
            <p:cNvSpPr/>
            <p:nvPr/>
          </p:nvSpPr>
          <p:spPr>
            <a:xfrm flipH="false" flipV="false" rot="0">
              <a:off x="0" y="0"/>
              <a:ext cx="1921764" cy="366014"/>
            </a:xfrm>
            <a:custGeom>
              <a:avLst/>
              <a:gdLst/>
              <a:ahLst/>
              <a:cxnLst/>
              <a:rect r="r" b="b" t="t" l="l"/>
              <a:pathLst>
                <a:path h="366014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366014"/>
                  </a:lnTo>
                  <a:lnTo>
                    <a:pt x="0" y="3660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34" id="734"/>
            <p:cNvSpPr txBox="true"/>
            <p:nvPr/>
          </p:nvSpPr>
          <p:spPr>
            <a:xfrm>
              <a:off x="0" y="-9525"/>
              <a:ext cx="1921739" cy="375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1:N  (dim → fact)</a:t>
              </a:r>
            </a:p>
          </p:txBody>
        </p:sp>
      </p:grpSp>
      <p:sp>
        <p:nvSpPr>
          <p:cNvPr name="AutoShape 735" id="735"/>
          <p:cNvSpPr/>
          <p:nvPr/>
        </p:nvSpPr>
        <p:spPr>
          <a:xfrm>
            <a:off x="2870212" y="1144815"/>
            <a:ext cx="603227" cy="217451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36" id="736"/>
          <p:cNvSpPr/>
          <p:nvPr/>
        </p:nvSpPr>
        <p:spPr>
          <a:xfrm>
            <a:off x="2882608" y="1144815"/>
            <a:ext cx="288260" cy="3840732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7" id="737"/>
          <p:cNvSpPr/>
          <p:nvPr/>
        </p:nvSpPr>
        <p:spPr>
          <a:xfrm flipV="true">
            <a:off x="2890866" y="1538722"/>
            <a:ext cx="580647" cy="5481879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38" id="738"/>
          <p:cNvSpPr/>
          <p:nvPr/>
        </p:nvSpPr>
        <p:spPr>
          <a:xfrm flipV="true">
            <a:off x="2882608" y="4212694"/>
            <a:ext cx="3630986" cy="2837118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9" id="739"/>
          <p:cNvSpPr/>
          <p:nvPr/>
        </p:nvSpPr>
        <p:spPr>
          <a:xfrm flipV="true">
            <a:off x="2882608" y="4891170"/>
            <a:ext cx="3970183" cy="2106719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40" id="740"/>
          <p:cNvSpPr/>
          <p:nvPr/>
        </p:nvSpPr>
        <p:spPr>
          <a:xfrm>
            <a:off x="2928641" y="6957494"/>
            <a:ext cx="542884" cy="865407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41" id="741"/>
          <p:cNvSpPr/>
          <p:nvPr/>
        </p:nvSpPr>
        <p:spPr>
          <a:xfrm>
            <a:off x="2882675" y="6957494"/>
            <a:ext cx="3719879" cy="6291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2" id="742"/>
          <p:cNvSpPr/>
          <p:nvPr/>
        </p:nvSpPr>
        <p:spPr>
          <a:xfrm flipH="true">
            <a:off x="10020510" y="1144815"/>
            <a:ext cx="301990" cy="1933723"/>
          </a:xfrm>
          <a:prstGeom prst="line">
            <a:avLst/>
          </a:prstGeom>
          <a:ln cap="rnd" w="19050">
            <a:solidFill>
              <a:srgbClr val="02A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3" id="743"/>
          <p:cNvSpPr/>
          <p:nvPr/>
        </p:nvSpPr>
        <p:spPr>
          <a:xfrm flipH="true">
            <a:off x="9883245" y="1144815"/>
            <a:ext cx="430997" cy="5747742"/>
          </a:xfrm>
          <a:prstGeom prst="line">
            <a:avLst/>
          </a:prstGeom>
          <a:ln cap="rnd" w="19050">
            <a:solidFill>
              <a:srgbClr val="02A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4" id="744"/>
          <p:cNvSpPr/>
          <p:nvPr/>
        </p:nvSpPr>
        <p:spPr>
          <a:xfrm flipH="true" flipV="true">
            <a:off x="9883245" y="3767585"/>
            <a:ext cx="439245" cy="710139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5" id="745"/>
          <p:cNvSpPr/>
          <p:nvPr/>
        </p:nvSpPr>
        <p:spPr>
          <a:xfrm flipH="true" flipV="true">
            <a:off x="9745970" y="1957430"/>
            <a:ext cx="568271" cy="2520229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46" id="746"/>
          <p:cNvSpPr/>
          <p:nvPr/>
        </p:nvSpPr>
        <p:spPr>
          <a:xfrm flipH="true">
            <a:off x="9749723" y="4523399"/>
            <a:ext cx="572767" cy="624120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47" id="747"/>
          <p:cNvSpPr/>
          <p:nvPr/>
        </p:nvSpPr>
        <p:spPr>
          <a:xfrm flipH="true">
            <a:off x="9883245" y="4523339"/>
            <a:ext cx="439245" cy="1782721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8" id="748"/>
          <p:cNvSpPr/>
          <p:nvPr/>
        </p:nvSpPr>
        <p:spPr>
          <a:xfrm flipH="true">
            <a:off x="9733601" y="4477660"/>
            <a:ext cx="585145" cy="3751551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49" id="749"/>
          <p:cNvSpPr/>
          <p:nvPr/>
        </p:nvSpPr>
        <p:spPr>
          <a:xfrm flipH="true" flipV="true">
            <a:off x="10020510" y="3407664"/>
            <a:ext cx="239946" cy="5215466"/>
          </a:xfrm>
          <a:prstGeom prst="line">
            <a:avLst/>
          </a:prstGeom>
          <a:ln cap="rnd" w="19050">
            <a:solidFill>
              <a:srgbClr val="C892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50" id="750"/>
          <p:cNvGrpSpPr/>
          <p:nvPr/>
        </p:nvGrpSpPr>
        <p:grpSpPr>
          <a:xfrm rot="0">
            <a:off x="13372395" y="3182483"/>
            <a:ext cx="112586" cy="82563"/>
            <a:chOff x="0" y="0"/>
            <a:chExt cx="150114" cy="110084"/>
          </a:xfrm>
        </p:grpSpPr>
        <p:sp>
          <p:nvSpPr>
            <p:cNvPr name="Freeform 751" id="751"/>
            <p:cNvSpPr/>
            <p:nvPr/>
          </p:nvSpPr>
          <p:spPr>
            <a:xfrm flipH="false" flipV="false" rot="0">
              <a:off x="0" y="0"/>
              <a:ext cx="150114" cy="110109"/>
            </a:xfrm>
            <a:custGeom>
              <a:avLst/>
              <a:gdLst/>
              <a:ahLst/>
              <a:cxnLst/>
              <a:rect r="r" b="b" t="t" l="l"/>
              <a:pathLst>
                <a:path h="110109" w="150114">
                  <a:moveTo>
                    <a:pt x="0" y="0"/>
                  </a:moveTo>
                  <a:lnTo>
                    <a:pt x="150114" y="0"/>
                  </a:lnTo>
                  <a:lnTo>
                    <a:pt x="150114" y="110109"/>
                  </a:lnTo>
                  <a:lnTo>
                    <a:pt x="0" y="1101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sp>
        <p:nvSpPr>
          <p:cNvPr name="TextBox 752" id="752"/>
          <p:cNvSpPr txBox="true"/>
          <p:nvPr/>
        </p:nvSpPr>
        <p:spPr>
          <a:xfrm rot="0">
            <a:off x="13606453" y="3169606"/>
            <a:ext cx="1604839" cy="7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/ Partner →</a:t>
            </a:r>
          </a:p>
        </p:txBody>
      </p:sp>
      <p:grpSp>
        <p:nvGrpSpPr>
          <p:cNvPr name="Group 753" id="753"/>
          <p:cNvGrpSpPr/>
          <p:nvPr/>
        </p:nvGrpSpPr>
        <p:grpSpPr>
          <a:xfrm rot="0">
            <a:off x="13372395" y="3325101"/>
            <a:ext cx="112586" cy="82563"/>
            <a:chOff x="0" y="0"/>
            <a:chExt cx="150114" cy="110084"/>
          </a:xfrm>
        </p:grpSpPr>
        <p:sp>
          <p:nvSpPr>
            <p:cNvPr name="Freeform 754" id="754"/>
            <p:cNvSpPr/>
            <p:nvPr/>
          </p:nvSpPr>
          <p:spPr>
            <a:xfrm flipH="false" flipV="false" rot="0">
              <a:off x="0" y="0"/>
              <a:ext cx="150114" cy="110109"/>
            </a:xfrm>
            <a:custGeom>
              <a:avLst/>
              <a:gdLst/>
              <a:ahLst/>
              <a:cxnLst/>
              <a:rect r="r" b="b" t="t" l="l"/>
              <a:pathLst>
                <a:path h="110109" w="150114">
                  <a:moveTo>
                    <a:pt x="0" y="0"/>
                  </a:moveTo>
                  <a:lnTo>
                    <a:pt x="150114" y="0"/>
                  </a:lnTo>
                  <a:lnTo>
                    <a:pt x="150114" y="110109"/>
                  </a:lnTo>
                  <a:lnTo>
                    <a:pt x="0" y="110109"/>
                  </a:lnTo>
                  <a:close/>
                </a:path>
              </a:pathLst>
            </a:custGeom>
            <a:solidFill>
              <a:srgbClr val="02A060"/>
            </a:solidFill>
          </p:spPr>
        </p:sp>
      </p:grpSp>
      <p:sp>
        <p:nvSpPr>
          <p:cNvPr name="TextBox 755" id="755"/>
          <p:cNvSpPr txBox="true"/>
          <p:nvPr/>
        </p:nvSpPr>
        <p:spPr>
          <a:xfrm rot="0">
            <a:off x="13606453" y="3312223"/>
            <a:ext cx="1604839" cy="7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→</a:t>
            </a:r>
          </a:p>
        </p:txBody>
      </p:sp>
      <p:grpSp>
        <p:nvGrpSpPr>
          <p:cNvPr name="Group 756" id="756"/>
          <p:cNvGrpSpPr/>
          <p:nvPr/>
        </p:nvGrpSpPr>
        <p:grpSpPr>
          <a:xfrm rot="0">
            <a:off x="13372395" y="3467710"/>
            <a:ext cx="112586" cy="82563"/>
            <a:chOff x="0" y="0"/>
            <a:chExt cx="150114" cy="110084"/>
          </a:xfrm>
        </p:grpSpPr>
        <p:sp>
          <p:nvSpPr>
            <p:cNvPr name="Freeform 757" id="757"/>
            <p:cNvSpPr/>
            <p:nvPr/>
          </p:nvSpPr>
          <p:spPr>
            <a:xfrm flipH="false" flipV="false" rot="0">
              <a:off x="0" y="0"/>
              <a:ext cx="150114" cy="110109"/>
            </a:xfrm>
            <a:custGeom>
              <a:avLst/>
              <a:gdLst/>
              <a:ahLst/>
              <a:cxnLst/>
              <a:rect r="r" b="b" t="t" l="l"/>
              <a:pathLst>
                <a:path h="110109" w="150114">
                  <a:moveTo>
                    <a:pt x="0" y="0"/>
                  </a:moveTo>
                  <a:lnTo>
                    <a:pt x="150114" y="0"/>
                  </a:lnTo>
                  <a:lnTo>
                    <a:pt x="150114" y="110109"/>
                  </a:lnTo>
                  <a:lnTo>
                    <a:pt x="0" y="110109"/>
                  </a:lnTo>
                  <a:close/>
                </a:path>
              </a:pathLst>
            </a:custGeom>
            <a:solidFill>
              <a:srgbClr val="D63A3A"/>
            </a:solidFill>
          </p:spPr>
        </p:sp>
      </p:grpSp>
      <p:sp>
        <p:nvSpPr>
          <p:cNvPr name="TextBox 758" id="758"/>
          <p:cNvSpPr txBox="true"/>
          <p:nvPr/>
        </p:nvSpPr>
        <p:spPr>
          <a:xfrm rot="0">
            <a:off x="13606453" y="3454832"/>
            <a:ext cx="1604839" cy="7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Date →</a:t>
            </a:r>
          </a:p>
        </p:txBody>
      </p:sp>
      <p:grpSp>
        <p:nvGrpSpPr>
          <p:cNvPr name="Group 759" id="759"/>
          <p:cNvGrpSpPr/>
          <p:nvPr/>
        </p:nvGrpSpPr>
        <p:grpSpPr>
          <a:xfrm rot="0">
            <a:off x="13372395" y="3610318"/>
            <a:ext cx="112586" cy="82563"/>
            <a:chOff x="0" y="0"/>
            <a:chExt cx="150114" cy="110084"/>
          </a:xfrm>
        </p:grpSpPr>
        <p:sp>
          <p:nvSpPr>
            <p:cNvPr name="Freeform 760" id="760"/>
            <p:cNvSpPr/>
            <p:nvPr/>
          </p:nvSpPr>
          <p:spPr>
            <a:xfrm flipH="false" flipV="false" rot="0">
              <a:off x="0" y="0"/>
              <a:ext cx="150114" cy="110109"/>
            </a:xfrm>
            <a:custGeom>
              <a:avLst/>
              <a:gdLst/>
              <a:ahLst/>
              <a:cxnLst/>
              <a:rect r="r" b="b" t="t" l="l"/>
              <a:pathLst>
                <a:path h="110109" w="150114">
                  <a:moveTo>
                    <a:pt x="0" y="0"/>
                  </a:moveTo>
                  <a:lnTo>
                    <a:pt x="150114" y="0"/>
                  </a:lnTo>
                  <a:lnTo>
                    <a:pt x="150114" y="110109"/>
                  </a:lnTo>
                  <a:lnTo>
                    <a:pt x="0" y="110109"/>
                  </a:lnTo>
                  <a:close/>
                </a:path>
              </a:pathLst>
            </a:custGeom>
            <a:solidFill>
              <a:srgbClr val="C89200"/>
            </a:solidFill>
          </p:spPr>
        </p:sp>
      </p:grpSp>
      <p:sp>
        <p:nvSpPr>
          <p:cNvPr name="TextBox 761" id="761"/>
          <p:cNvSpPr txBox="true"/>
          <p:nvPr/>
        </p:nvSpPr>
        <p:spPr>
          <a:xfrm rot="0">
            <a:off x="13606453" y="3597440"/>
            <a:ext cx="1604839" cy="7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Time-slot →</a:t>
            </a:r>
          </a:p>
        </p:txBody>
      </p:sp>
      <p:sp>
        <p:nvSpPr>
          <p:cNvPr name="AutoShape 762" id="762"/>
          <p:cNvSpPr/>
          <p:nvPr/>
        </p:nvSpPr>
        <p:spPr>
          <a:xfrm flipV="true">
            <a:off x="3170868" y="4989300"/>
            <a:ext cx="3342726" cy="0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3" id="763"/>
          <p:cNvSpPr/>
          <p:nvPr/>
        </p:nvSpPr>
        <p:spPr>
          <a:xfrm flipV="true">
            <a:off x="6513594" y="1555623"/>
            <a:ext cx="0" cy="3433677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4" id="764"/>
          <p:cNvSpPr/>
          <p:nvPr/>
        </p:nvSpPr>
        <p:spPr>
          <a:xfrm>
            <a:off x="6602554" y="6963785"/>
            <a:ext cx="288260" cy="1049879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5" id="765"/>
          <p:cNvSpPr/>
          <p:nvPr/>
        </p:nvSpPr>
        <p:spPr>
          <a:xfrm flipV="true">
            <a:off x="6513594" y="1768576"/>
            <a:ext cx="315185" cy="2456510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6" id="766"/>
          <p:cNvSpPr/>
          <p:nvPr/>
        </p:nvSpPr>
        <p:spPr>
          <a:xfrm flipV="true">
            <a:off x="6513594" y="1555623"/>
            <a:ext cx="315185" cy="0"/>
          </a:xfrm>
          <a:prstGeom prst="line">
            <a:avLst/>
          </a:prstGeom>
          <a:ln cap="rnd" w="19050">
            <a:solidFill>
              <a:srgbClr val="02809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7" id="767"/>
          <p:cNvSpPr/>
          <p:nvPr/>
        </p:nvSpPr>
        <p:spPr>
          <a:xfrm>
            <a:off x="6733905" y="3407664"/>
            <a:ext cx="3286604" cy="0"/>
          </a:xfrm>
          <a:prstGeom prst="line">
            <a:avLst/>
          </a:prstGeom>
          <a:ln cap="rnd" w="19050">
            <a:solidFill>
              <a:srgbClr val="C892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8" id="768"/>
          <p:cNvSpPr/>
          <p:nvPr/>
        </p:nvSpPr>
        <p:spPr>
          <a:xfrm flipV="true">
            <a:off x="6733905" y="2356613"/>
            <a:ext cx="0" cy="1051051"/>
          </a:xfrm>
          <a:prstGeom prst="line">
            <a:avLst/>
          </a:prstGeom>
          <a:ln cap="rnd" w="19050">
            <a:solidFill>
              <a:srgbClr val="C892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9" id="769"/>
          <p:cNvSpPr/>
          <p:nvPr/>
        </p:nvSpPr>
        <p:spPr>
          <a:xfrm flipH="true">
            <a:off x="6375041" y="2363748"/>
            <a:ext cx="358864" cy="7202"/>
          </a:xfrm>
          <a:prstGeom prst="line">
            <a:avLst/>
          </a:prstGeom>
          <a:ln cap="rnd" w="19050">
            <a:solidFill>
              <a:srgbClr val="C892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0" id="770"/>
          <p:cNvSpPr/>
          <p:nvPr/>
        </p:nvSpPr>
        <p:spPr>
          <a:xfrm flipH="true" flipV="true">
            <a:off x="6602554" y="3071031"/>
            <a:ext cx="3431677" cy="0"/>
          </a:xfrm>
          <a:prstGeom prst="line">
            <a:avLst/>
          </a:prstGeom>
          <a:ln cap="rnd" w="19050">
            <a:solidFill>
              <a:srgbClr val="02A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1" id="771"/>
          <p:cNvSpPr/>
          <p:nvPr/>
        </p:nvSpPr>
        <p:spPr>
          <a:xfrm flipV="true">
            <a:off x="6602554" y="1761483"/>
            <a:ext cx="0" cy="1309549"/>
          </a:xfrm>
          <a:prstGeom prst="line">
            <a:avLst/>
          </a:prstGeom>
          <a:ln cap="rnd" w="19050">
            <a:solidFill>
              <a:srgbClr val="02A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2" id="772"/>
          <p:cNvSpPr/>
          <p:nvPr/>
        </p:nvSpPr>
        <p:spPr>
          <a:xfrm flipH="true" flipV="true">
            <a:off x="6318028" y="1754272"/>
            <a:ext cx="284526" cy="7211"/>
          </a:xfrm>
          <a:prstGeom prst="line">
            <a:avLst/>
          </a:prstGeom>
          <a:ln cap="rnd" w="19050">
            <a:solidFill>
              <a:srgbClr val="02A06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3" id="773"/>
          <p:cNvSpPr/>
          <p:nvPr/>
        </p:nvSpPr>
        <p:spPr>
          <a:xfrm flipH="true" flipV="true">
            <a:off x="6602554" y="6892557"/>
            <a:ext cx="3280691" cy="0"/>
          </a:xfrm>
          <a:prstGeom prst="line">
            <a:avLst/>
          </a:prstGeom>
          <a:ln cap="rnd" w="19050">
            <a:solidFill>
              <a:srgbClr val="02A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4" id="774"/>
          <p:cNvSpPr/>
          <p:nvPr/>
        </p:nvSpPr>
        <p:spPr>
          <a:xfrm flipH="true">
            <a:off x="6391328" y="6896310"/>
            <a:ext cx="211226" cy="1148617"/>
          </a:xfrm>
          <a:prstGeom prst="line">
            <a:avLst/>
          </a:prstGeom>
          <a:ln cap="rnd" w="19050">
            <a:solidFill>
              <a:srgbClr val="02A06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5" id="775"/>
          <p:cNvSpPr/>
          <p:nvPr/>
        </p:nvSpPr>
        <p:spPr>
          <a:xfrm flipH="true">
            <a:off x="6513594" y="6306060"/>
            <a:ext cx="3369651" cy="0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6" id="776"/>
          <p:cNvSpPr/>
          <p:nvPr/>
        </p:nvSpPr>
        <p:spPr>
          <a:xfrm>
            <a:off x="6513594" y="6306060"/>
            <a:ext cx="0" cy="1923151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7" id="777"/>
          <p:cNvSpPr/>
          <p:nvPr/>
        </p:nvSpPr>
        <p:spPr>
          <a:xfrm flipH="true" flipV="true">
            <a:off x="6362601" y="8211302"/>
            <a:ext cx="150993" cy="17908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8" id="778"/>
          <p:cNvSpPr/>
          <p:nvPr/>
        </p:nvSpPr>
        <p:spPr>
          <a:xfrm flipH="true">
            <a:off x="6733905" y="3767585"/>
            <a:ext cx="3149340" cy="0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9" id="779"/>
          <p:cNvSpPr/>
          <p:nvPr/>
        </p:nvSpPr>
        <p:spPr>
          <a:xfrm flipH="true" flipV="true">
            <a:off x="6438459" y="1957430"/>
            <a:ext cx="295446" cy="1810155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0" id="780"/>
          <p:cNvSpPr/>
          <p:nvPr/>
        </p:nvSpPr>
        <p:spPr>
          <a:xfrm flipH="true">
            <a:off x="6318028" y="1957430"/>
            <a:ext cx="120432" cy="0"/>
          </a:xfrm>
          <a:prstGeom prst="line">
            <a:avLst/>
          </a:prstGeom>
          <a:ln cap="rnd" w="19050">
            <a:solidFill>
              <a:srgbClr val="D63A3A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686333"/>
            <a:chOff x="0" y="0"/>
            <a:chExt cx="24396967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915162"/>
            </a:xfrm>
            <a:custGeom>
              <a:avLst/>
              <a:gdLst/>
              <a:ahLst/>
              <a:cxnLst/>
              <a:rect r="r" b="b" t="t" l="l"/>
              <a:pathLst>
                <a:path h="91516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7079" y="96088"/>
            <a:ext cx="16650519" cy="494167"/>
            <a:chOff x="0" y="0"/>
            <a:chExt cx="22200692" cy="6588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0688" cy="658883"/>
            </a:xfrm>
            <a:custGeom>
              <a:avLst/>
              <a:gdLst/>
              <a:ahLst/>
              <a:cxnLst/>
              <a:rect r="r" b="b" t="t" l="l"/>
              <a:pathLst>
                <a:path h="658883" w="22200688">
                  <a:moveTo>
                    <a:pt x="0" y="0"/>
                  </a:moveTo>
                  <a:lnTo>
                    <a:pt x="22200688" y="0"/>
                  </a:lnTo>
                  <a:lnTo>
                    <a:pt x="22200688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6537" r="0" b="-60653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200692" cy="716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🌍  TOO GOOD TO GO  —  KPI Performance Dashboard  |  FY 2024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05490" y="109814"/>
            <a:ext cx="686333" cy="384353"/>
            <a:chOff x="0" y="0"/>
            <a:chExt cx="915111" cy="5124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5162" cy="512445"/>
            </a:xfrm>
            <a:custGeom>
              <a:avLst/>
              <a:gdLst/>
              <a:ahLst/>
              <a:cxnLst/>
              <a:rect r="r" b="b" t="t" l="l"/>
              <a:pathLst>
                <a:path h="512445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15111" cy="560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686333"/>
            <a:ext cx="18297725" cy="219627"/>
            <a:chOff x="0" y="0"/>
            <a:chExt cx="24396967" cy="2928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96954" cy="292862"/>
            </a:xfrm>
            <a:custGeom>
              <a:avLst/>
              <a:gdLst/>
              <a:ahLst/>
              <a:cxnLst/>
              <a:rect r="r" b="b" t="t" l="l"/>
              <a:pathLst>
                <a:path h="29286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7079" y="727520"/>
            <a:ext cx="17803558" cy="164725"/>
            <a:chOff x="0" y="0"/>
            <a:chExt cx="23738078" cy="219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38081" cy="219628"/>
            </a:xfrm>
            <a:custGeom>
              <a:avLst/>
              <a:gdLst/>
              <a:ahLst/>
              <a:cxnLst/>
              <a:rect r="r" b="b" t="t" l="l"/>
              <a:pathLst>
                <a:path h="219628" w="23738081">
                  <a:moveTo>
                    <a:pt x="0" y="0"/>
                  </a:moveTo>
                  <a:lnTo>
                    <a:pt x="23738081" y="0"/>
                  </a:lnTo>
                  <a:lnTo>
                    <a:pt x="2373808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6006" r="0" b="-20560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738078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i="true">
                  <a:solidFill>
                    <a:srgbClr val="E8F5E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📅 Weekly → Leadership  ·  Monthly → All Departments   |   👤 Owner: Head of Data   |   📡 Dashboard · Email · Slack · Press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176" y="988324"/>
            <a:ext cx="2871168" cy="240220"/>
            <a:chOff x="0" y="0"/>
            <a:chExt cx="3828224" cy="3202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28288" cy="320294"/>
            </a:xfrm>
            <a:custGeom>
              <a:avLst/>
              <a:gdLst/>
              <a:ahLst/>
              <a:cxnLst/>
              <a:rect r="r" b="b" t="t" l="l"/>
              <a:pathLst>
                <a:path h="320294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320294"/>
                  </a:lnTo>
                  <a:lnTo>
                    <a:pt x="0" y="320294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74539" y="1015775"/>
            <a:ext cx="2761355" cy="192176"/>
            <a:chOff x="0" y="0"/>
            <a:chExt cx="3681806" cy="2562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81812" cy="256232"/>
            </a:xfrm>
            <a:custGeom>
              <a:avLst/>
              <a:gdLst/>
              <a:ahLst/>
              <a:cxnLst/>
              <a:rect r="r" b="b" t="t" l="l"/>
              <a:pathLst>
                <a:path h="256232" w="3681812">
                  <a:moveTo>
                    <a:pt x="0" y="0"/>
                  </a:moveTo>
                  <a:lnTo>
                    <a:pt x="3681812" y="0"/>
                  </a:lnTo>
                  <a:lnTo>
                    <a:pt x="368181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980" r="0" b="-22998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3681806" cy="2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👥  Weekly Active Users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1670" y="1218038"/>
            <a:ext cx="2892190" cy="384772"/>
            <a:chOff x="0" y="0"/>
            <a:chExt cx="3856253" cy="5130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47079" y="1242270"/>
            <a:ext cx="2788815" cy="336309"/>
            <a:chOff x="0" y="0"/>
            <a:chExt cx="3718420" cy="4484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18417" cy="448406"/>
            </a:xfrm>
            <a:custGeom>
              <a:avLst/>
              <a:gdLst/>
              <a:ahLst/>
              <a:cxnLst/>
              <a:rect r="r" b="b" t="t" l="l"/>
              <a:pathLst>
                <a:path h="448406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448406"/>
                  </a:lnTo>
                  <a:lnTo>
                    <a:pt x="0" y="448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579" r="0" b="-11158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3718420" cy="515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2.98M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1670" y="1581788"/>
            <a:ext cx="2892190" cy="384772"/>
            <a:chOff x="0" y="0"/>
            <a:chExt cx="3856253" cy="5130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EDFCF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47079" y="1599162"/>
            <a:ext cx="2788815" cy="164725"/>
            <a:chOff x="0" y="0"/>
            <a:chExt cx="3718420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WAU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47079" y="1763887"/>
            <a:ext cx="2788815" cy="164725"/>
            <a:chOff x="0" y="0"/>
            <a:chExt cx="3718420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b="true" sz="1125" i="true">
                  <a:solidFill>
                    <a:srgbClr val="2D936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▲ +14.7% vs Nov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200619" y="988324"/>
            <a:ext cx="2871168" cy="240220"/>
            <a:chOff x="0" y="0"/>
            <a:chExt cx="3828224" cy="3202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28288" cy="320294"/>
            </a:xfrm>
            <a:custGeom>
              <a:avLst/>
              <a:gdLst/>
              <a:ahLst/>
              <a:cxnLst/>
              <a:rect r="r" b="b" t="t" l="l"/>
              <a:pathLst>
                <a:path h="320294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320294"/>
                  </a:lnTo>
                  <a:lnTo>
                    <a:pt x="0" y="320294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282972" y="1015775"/>
            <a:ext cx="2761355" cy="192176"/>
            <a:chOff x="0" y="0"/>
            <a:chExt cx="3681806" cy="2562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81812" cy="256232"/>
            </a:xfrm>
            <a:custGeom>
              <a:avLst/>
              <a:gdLst/>
              <a:ahLst/>
              <a:cxnLst/>
              <a:rect r="r" b="b" t="t" l="l"/>
              <a:pathLst>
                <a:path h="256232" w="3681812">
                  <a:moveTo>
                    <a:pt x="0" y="0"/>
                  </a:moveTo>
                  <a:lnTo>
                    <a:pt x="3681812" y="0"/>
                  </a:lnTo>
                  <a:lnTo>
                    <a:pt x="368181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980" r="0" b="-22998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3681806" cy="2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🛍️  Bags Sold (Dec)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190103" y="1218038"/>
            <a:ext cx="2892190" cy="384772"/>
            <a:chOff x="0" y="0"/>
            <a:chExt cx="3856253" cy="5130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255521" y="1242270"/>
            <a:ext cx="2788815" cy="336309"/>
            <a:chOff x="0" y="0"/>
            <a:chExt cx="3718420" cy="4484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718417" cy="448406"/>
            </a:xfrm>
            <a:custGeom>
              <a:avLst/>
              <a:gdLst/>
              <a:ahLst/>
              <a:cxnLst/>
              <a:rect r="r" b="b" t="t" l="l"/>
              <a:pathLst>
                <a:path h="448406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448406"/>
                  </a:lnTo>
                  <a:lnTo>
                    <a:pt x="0" y="448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579" r="0" b="-1115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3718420" cy="515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1.55M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190103" y="1581788"/>
            <a:ext cx="2892190" cy="384772"/>
            <a:chOff x="0" y="0"/>
            <a:chExt cx="3856253" cy="51302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EDFCF4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255521" y="1599162"/>
            <a:ext cx="2788815" cy="164725"/>
            <a:chOff x="0" y="0"/>
            <a:chExt cx="3718420" cy="21963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bags sold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255521" y="1763887"/>
            <a:ext cx="2788815" cy="164725"/>
            <a:chOff x="0" y="0"/>
            <a:chExt cx="3718420" cy="21963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b="true" sz="1125" i="true">
                  <a:solidFill>
                    <a:srgbClr val="2D936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▲ +9.2%  vs Nov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209052" y="988324"/>
            <a:ext cx="2871168" cy="240220"/>
            <a:chOff x="0" y="0"/>
            <a:chExt cx="3828224" cy="32029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828288" cy="320294"/>
            </a:xfrm>
            <a:custGeom>
              <a:avLst/>
              <a:gdLst/>
              <a:ahLst/>
              <a:cxnLst/>
              <a:rect r="r" b="b" t="t" l="l"/>
              <a:pathLst>
                <a:path h="320294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320294"/>
                  </a:lnTo>
                  <a:lnTo>
                    <a:pt x="0" y="320294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291415" y="1015775"/>
            <a:ext cx="2761355" cy="192176"/>
            <a:chOff x="0" y="0"/>
            <a:chExt cx="3681806" cy="25623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81812" cy="256232"/>
            </a:xfrm>
            <a:custGeom>
              <a:avLst/>
              <a:gdLst/>
              <a:ahLst/>
              <a:cxnLst/>
              <a:rect r="r" b="b" t="t" l="l"/>
              <a:pathLst>
                <a:path h="256232" w="3681812">
                  <a:moveTo>
                    <a:pt x="0" y="0"/>
                  </a:moveTo>
                  <a:lnTo>
                    <a:pt x="3681812" y="0"/>
                  </a:lnTo>
                  <a:lnTo>
                    <a:pt x="368181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980" r="0" b="-22998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681806" cy="2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🌱  CO₂ Saved (Dec)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198546" y="1218038"/>
            <a:ext cx="2892190" cy="384772"/>
            <a:chOff x="0" y="0"/>
            <a:chExt cx="3856253" cy="5130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263964" y="1242270"/>
            <a:ext cx="2788815" cy="336309"/>
            <a:chOff x="0" y="0"/>
            <a:chExt cx="3718420" cy="4484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718417" cy="448406"/>
            </a:xfrm>
            <a:custGeom>
              <a:avLst/>
              <a:gdLst/>
              <a:ahLst/>
              <a:cxnLst/>
              <a:rect r="r" b="b" t="t" l="l"/>
              <a:pathLst>
                <a:path h="448406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448406"/>
                  </a:lnTo>
                  <a:lnTo>
                    <a:pt x="0" y="448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579" r="0" b="-11158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3718420" cy="515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775T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98546" y="1581788"/>
            <a:ext cx="2892190" cy="384772"/>
            <a:chOff x="0" y="0"/>
            <a:chExt cx="3856253" cy="51302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EDFCF4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263964" y="1599162"/>
            <a:ext cx="2788815" cy="164725"/>
            <a:chOff x="0" y="0"/>
            <a:chExt cx="3718420" cy="21963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CO₂ avoided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263964" y="1763887"/>
            <a:ext cx="2788815" cy="164725"/>
            <a:chOff x="0" y="0"/>
            <a:chExt cx="3718420" cy="21963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b="true" sz="1125" i="true">
                  <a:solidFill>
                    <a:srgbClr val="2D936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▲ +9.2%  vs Nov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217495" y="988324"/>
            <a:ext cx="2871168" cy="240220"/>
            <a:chOff x="0" y="0"/>
            <a:chExt cx="3828224" cy="32029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828288" cy="320294"/>
            </a:xfrm>
            <a:custGeom>
              <a:avLst/>
              <a:gdLst/>
              <a:ahLst/>
              <a:cxnLst/>
              <a:rect r="r" b="b" t="t" l="l"/>
              <a:pathLst>
                <a:path h="320294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320294"/>
                  </a:lnTo>
                  <a:lnTo>
                    <a:pt x="0" y="320294"/>
                  </a:lnTo>
                  <a:close/>
                </a:path>
              </a:pathLst>
            </a:custGeom>
            <a:solidFill>
              <a:srgbClr val="D4733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299858" y="1015775"/>
            <a:ext cx="2761355" cy="192176"/>
            <a:chOff x="0" y="0"/>
            <a:chExt cx="3681806" cy="25623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81812" cy="256232"/>
            </a:xfrm>
            <a:custGeom>
              <a:avLst/>
              <a:gdLst/>
              <a:ahLst/>
              <a:cxnLst/>
              <a:rect r="r" b="b" t="t" l="l"/>
              <a:pathLst>
                <a:path h="256232" w="3681812">
                  <a:moveTo>
                    <a:pt x="0" y="0"/>
                  </a:moveTo>
                  <a:lnTo>
                    <a:pt x="3681812" y="0"/>
                  </a:lnTo>
                  <a:lnTo>
                    <a:pt x="368181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980" r="0" b="-22998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3681806" cy="2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 Avg Order Value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206989" y="1218038"/>
            <a:ext cx="2892190" cy="384772"/>
            <a:chOff x="0" y="0"/>
            <a:chExt cx="3856253" cy="51302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D4733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272407" y="1242270"/>
            <a:ext cx="2788815" cy="336309"/>
            <a:chOff x="0" y="0"/>
            <a:chExt cx="3718420" cy="44841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718417" cy="448406"/>
            </a:xfrm>
            <a:custGeom>
              <a:avLst/>
              <a:gdLst/>
              <a:ahLst/>
              <a:cxnLst/>
              <a:rect r="r" b="b" t="t" l="l"/>
              <a:pathLst>
                <a:path h="448406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448406"/>
                  </a:lnTo>
                  <a:lnTo>
                    <a:pt x="0" y="448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579" r="0" b="-11158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3718420" cy="515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D473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€4.60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206989" y="1581788"/>
            <a:ext cx="2892190" cy="384772"/>
            <a:chOff x="0" y="0"/>
            <a:chExt cx="3856253" cy="51302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FFF3E8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D4733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272407" y="1599162"/>
            <a:ext cx="2788815" cy="164725"/>
            <a:chOff x="0" y="0"/>
            <a:chExt cx="3718420" cy="21963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order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272407" y="1763887"/>
            <a:ext cx="2788815" cy="164725"/>
            <a:chOff x="0" y="0"/>
            <a:chExt cx="3718420" cy="21963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b="true" sz="1125" i="true">
                  <a:solidFill>
                    <a:srgbClr val="2D936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▲ +2.2%  vs Nov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225938" y="988324"/>
            <a:ext cx="2871168" cy="240220"/>
            <a:chOff x="0" y="0"/>
            <a:chExt cx="3828224" cy="32029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828288" cy="320294"/>
            </a:xfrm>
            <a:custGeom>
              <a:avLst/>
              <a:gdLst/>
              <a:ahLst/>
              <a:cxnLst/>
              <a:rect r="r" b="b" t="t" l="l"/>
              <a:pathLst>
                <a:path h="320294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320294"/>
                  </a:lnTo>
                  <a:lnTo>
                    <a:pt x="0" y="320294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308300" y="1015775"/>
            <a:ext cx="2761355" cy="192176"/>
            <a:chOff x="0" y="0"/>
            <a:chExt cx="3681806" cy="25623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681812" cy="256232"/>
            </a:xfrm>
            <a:custGeom>
              <a:avLst/>
              <a:gdLst/>
              <a:ahLst/>
              <a:cxnLst/>
              <a:rect r="r" b="b" t="t" l="l"/>
              <a:pathLst>
                <a:path h="256232" w="3681812">
                  <a:moveTo>
                    <a:pt x="0" y="0"/>
                  </a:moveTo>
                  <a:lnTo>
                    <a:pt x="3681812" y="0"/>
                  </a:lnTo>
                  <a:lnTo>
                    <a:pt x="368181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980" r="0" b="-229981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3681806" cy="2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🔄  Retention Rate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215432" y="1218038"/>
            <a:ext cx="2892190" cy="384772"/>
            <a:chOff x="0" y="0"/>
            <a:chExt cx="3856253" cy="51302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280840" y="1242270"/>
            <a:ext cx="2788815" cy="336309"/>
            <a:chOff x="0" y="0"/>
            <a:chExt cx="3718420" cy="44841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718417" cy="448406"/>
            </a:xfrm>
            <a:custGeom>
              <a:avLst/>
              <a:gdLst/>
              <a:ahLst/>
              <a:cxnLst/>
              <a:rect r="r" b="b" t="t" l="l"/>
              <a:pathLst>
                <a:path h="448406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448406"/>
                  </a:lnTo>
                  <a:lnTo>
                    <a:pt x="0" y="448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579" r="0" b="-11158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66675"/>
              <a:ext cx="3718420" cy="515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72.0%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215432" y="1581788"/>
            <a:ext cx="2892190" cy="384772"/>
            <a:chOff x="0" y="0"/>
            <a:chExt cx="3856253" cy="51302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D6E4F8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280840" y="1599162"/>
            <a:ext cx="2788815" cy="164725"/>
            <a:chOff x="0" y="0"/>
            <a:chExt cx="3718420" cy="21963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customers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280840" y="1763887"/>
            <a:ext cx="2788815" cy="164725"/>
            <a:chOff x="0" y="0"/>
            <a:chExt cx="3718420" cy="21963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b="true" sz="1125" i="true">
                  <a:solidFill>
                    <a:srgbClr val="2D936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▲ +1.4pp vs Nov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5234380" y="988324"/>
            <a:ext cx="2871168" cy="240220"/>
            <a:chOff x="0" y="0"/>
            <a:chExt cx="3828224" cy="32029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828288" cy="320294"/>
            </a:xfrm>
            <a:custGeom>
              <a:avLst/>
              <a:gdLst/>
              <a:ahLst/>
              <a:cxnLst/>
              <a:rect r="r" b="b" t="t" l="l"/>
              <a:pathLst>
                <a:path h="320294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320294"/>
                  </a:lnTo>
                  <a:lnTo>
                    <a:pt x="0" y="320294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5316733" y="1015775"/>
            <a:ext cx="2761355" cy="192176"/>
            <a:chOff x="0" y="0"/>
            <a:chExt cx="3681806" cy="25623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681812" cy="256232"/>
            </a:xfrm>
            <a:custGeom>
              <a:avLst/>
              <a:gdLst/>
              <a:ahLst/>
              <a:cxnLst/>
              <a:rect r="r" b="b" t="t" l="l"/>
              <a:pathLst>
                <a:path h="256232" w="3681812">
                  <a:moveTo>
                    <a:pt x="0" y="0"/>
                  </a:moveTo>
                  <a:lnTo>
                    <a:pt x="3681812" y="0"/>
                  </a:lnTo>
                  <a:lnTo>
                    <a:pt x="368181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980" r="0" b="-22998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3681806" cy="2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🍱  Meals Saved Total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5223865" y="1218038"/>
            <a:ext cx="2892190" cy="384772"/>
            <a:chOff x="0" y="0"/>
            <a:chExt cx="3856253" cy="51302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5289282" y="1242270"/>
            <a:ext cx="2788815" cy="336309"/>
            <a:chOff x="0" y="0"/>
            <a:chExt cx="3718420" cy="44841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718417" cy="448406"/>
            </a:xfrm>
            <a:custGeom>
              <a:avLst/>
              <a:gdLst/>
              <a:ahLst/>
              <a:cxnLst/>
              <a:rect r="r" b="b" t="t" l="l"/>
              <a:pathLst>
                <a:path h="448406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448406"/>
                  </a:lnTo>
                  <a:lnTo>
                    <a:pt x="0" y="448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579" r="0" b="-11158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66675"/>
              <a:ext cx="3718420" cy="515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109M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5223865" y="1581788"/>
            <a:ext cx="2892190" cy="384772"/>
            <a:chOff x="0" y="0"/>
            <a:chExt cx="3856253" cy="51302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3970" y="13970"/>
              <a:ext cx="3828288" cy="485013"/>
            </a:xfrm>
            <a:custGeom>
              <a:avLst/>
              <a:gdLst/>
              <a:ahLst/>
              <a:cxnLst/>
              <a:rect r="r" b="b" t="t" l="l"/>
              <a:pathLst>
                <a:path h="485013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485013"/>
                  </a:lnTo>
                  <a:lnTo>
                    <a:pt x="0" y="485013"/>
                  </a:lnTo>
                  <a:close/>
                </a:path>
              </a:pathLst>
            </a:custGeom>
            <a:solidFill>
              <a:srgbClr val="F0E6F5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856228" cy="512953"/>
            </a:xfrm>
            <a:custGeom>
              <a:avLst/>
              <a:gdLst/>
              <a:ahLst/>
              <a:cxnLst/>
              <a:rect r="r" b="b" t="t" l="l"/>
              <a:pathLst>
                <a:path h="512953" w="3856228">
                  <a:moveTo>
                    <a:pt x="13970" y="0"/>
                  </a:moveTo>
                  <a:lnTo>
                    <a:pt x="3842258" y="0"/>
                  </a:lnTo>
                  <a:cubicBezTo>
                    <a:pt x="3850005" y="0"/>
                    <a:pt x="3856228" y="6223"/>
                    <a:pt x="3856228" y="13970"/>
                  </a:cubicBezTo>
                  <a:lnTo>
                    <a:pt x="3856228" y="498983"/>
                  </a:lnTo>
                  <a:cubicBezTo>
                    <a:pt x="3856228" y="506730"/>
                    <a:pt x="3850005" y="512953"/>
                    <a:pt x="3842258" y="512953"/>
                  </a:cubicBezTo>
                  <a:lnTo>
                    <a:pt x="13970" y="512953"/>
                  </a:lnTo>
                  <a:cubicBezTo>
                    <a:pt x="6223" y="512953"/>
                    <a:pt x="0" y="506730"/>
                    <a:pt x="0" y="498983"/>
                  </a:cubicBezTo>
                  <a:lnTo>
                    <a:pt x="0" y="13970"/>
                  </a:lnTo>
                  <a:cubicBezTo>
                    <a:pt x="0" y="6223"/>
                    <a:pt x="6223" y="0"/>
                    <a:pt x="13970" y="0"/>
                  </a:cubicBezTo>
                  <a:moveTo>
                    <a:pt x="13970" y="28067"/>
                  </a:moveTo>
                  <a:lnTo>
                    <a:pt x="13970" y="13970"/>
                  </a:lnTo>
                  <a:lnTo>
                    <a:pt x="27940" y="13970"/>
                  </a:lnTo>
                  <a:lnTo>
                    <a:pt x="27940" y="498983"/>
                  </a:lnTo>
                  <a:lnTo>
                    <a:pt x="13970" y="498983"/>
                  </a:lnTo>
                  <a:lnTo>
                    <a:pt x="13970" y="485013"/>
                  </a:lnTo>
                  <a:lnTo>
                    <a:pt x="3842258" y="485013"/>
                  </a:lnTo>
                  <a:lnTo>
                    <a:pt x="3842258" y="498983"/>
                  </a:lnTo>
                  <a:lnTo>
                    <a:pt x="3828288" y="498983"/>
                  </a:lnTo>
                  <a:lnTo>
                    <a:pt x="3828288" y="13970"/>
                  </a:lnTo>
                  <a:lnTo>
                    <a:pt x="3842258" y="13970"/>
                  </a:lnTo>
                  <a:lnTo>
                    <a:pt x="3842258" y="27940"/>
                  </a:lnTo>
                  <a:lnTo>
                    <a:pt x="13970" y="2794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5289282" y="1599162"/>
            <a:ext cx="2788815" cy="164725"/>
            <a:chOff x="0" y="0"/>
            <a:chExt cx="3718420" cy="21963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meals rescued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5289282" y="1763887"/>
            <a:ext cx="2788815" cy="164725"/>
            <a:chOff x="0" y="0"/>
            <a:chExt cx="3718420" cy="21963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718417" cy="219628"/>
            </a:xfrm>
            <a:custGeom>
              <a:avLst/>
              <a:gdLst/>
              <a:ahLst/>
              <a:cxnLst/>
              <a:rect r="r" b="b" t="t" l="l"/>
              <a:pathLst>
                <a:path h="219628" w="3718417">
                  <a:moveTo>
                    <a:pt x="0" y="0"/>
                  </a:moveTo>
                  <a:lnTo>
                    <a:pt x="3718417" y="0"/>
                  </a:lnTo>
                  <a:lnTo>
                    <a:pt x="371841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1" r="0" b="-27989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3718420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b="true" sz="1125" i="true">
                  <a:solidFill>
                    <a:srgbClr val="2D936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▲ All-time record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0" y="2086461"/>
            <a:ext cx="18297725" cy="54912"/>
            <a:chOff x="0" y="0"/>
            <a:chExt cx="24396967" cy="7321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4396954" cy="73152"/>
            </a:xfrm>
            <a:custGeom>
              <a:avLst/>
              <a:gdLst/>
              <a:ahLst/>
              <a:cxnLst/>
              <a:rect r="r" b="b" t="t" l="l"/>
              <a:pathLst>
                <a:path h="7315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86166" y="2162813"/>
            <a:ext cx="5891622" cy="2574331"/>
            <a:chOff x="0" y="0"/>
            <a:chExt cx="7855496" cy="343244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8001" y="8001"/>
              <a:ext cx="783945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3416427"/>
                  </a:lnTo>
                  <a:lnTo>
                    <a:pt x="0" y="3416427"/>
                  </a:lnTo>
                  <a:close/>
                </a:path>
              </a:pathLst>
            </a:custGeom>
            <a:solidFill>
              <a:srgbClr val="F6FDF8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7855458" cy="3432429"/>
            </a:xfrm>
            <a:custGeom>
              <a:avLst/>
              <a:gdLst/>
              <a:ahLst/>
              <a:cxnLst/>
              <a:rect r="r" b="b" t="t" l="l"/>
              <a:pathLst>
                <a:path h="3432429" w="7855458">
                  <a:moveTo>
                    <a:pt x="8001" y="0"/>
                  </a:moveTo>
                  <a:lnTo>
                    <a:pt x="7847457" y="0"/>
                  </a:lnTo>
                  <a:cubicBezTo>
                    <a:pt x="7851901" y="0"/>
                    <a:pt x="7855458" y="3556"/>
                    <a:pt x="7855458" y="8001"/>
                  </a:cubicBezTo>
                  <a:lnTo>
                    <a:pt x="7855458" y="3424428"/>
                  </a:lnTo>
                  <a:cubicBezTo>
                    <a:pt x="7855458" y="3428873"/>
                    <a:pt x="7851901" y="3432429"/>
                    <a:pt x="7847457" y="3432429"/>
                  </a:cubicBezTo>
                  <a:lnTo>
                    <a:pt x="8001" y="3432429"/>
                  </a:lnTo>
                  <a:cubicBezTo>
                    <a:pt x="3556" y="3432429"/>
                    <a:pt x="0" y="3428873"/>
                    <a:pt x="0" y="3424428"/>
                  </a:cubicBezTo>
                  <a:lnTo>
                    <a:pt x="0" y="8001"/>
                  </a:lnTo>
                  <a:cubicBezTo>
                    <a:pt x="0" y="3556"/>
                    <a:pt x="3556" y="0"/>
                    <a:pt x="8001" y="0"/>
                  </a:cubicBezTo>
                  <a:moveTo>
                    <a:pt x="8001" y="16002"/>
                  </a:moveTo>
                  <a:lnTo>
                    <a:pt x="8001" y="8001"/>
                  </a:lnTo>
                  <a:lnTo>
                    <a:pt x="16002" y="8001"/>
                  </a:lnTo>
                  <a:lnTo>
                    <a:pt x="16002" y="3424428"/>
                  </a:lnTo>
                  <a:lnTo>
                    <a:pt x="8001" y="3424428"/>
                  </a:lnTo>
                  <a:lnTo>
                    <a:pt x="8001" y="3416427"/>
                  </a:lnTo>
                  <a:lnTo>
                    <a:pt x="7847457" y="3416427"/>
                  </a:lnTo>
                  <a:lnTo>
                    <a:pt x="7847457" y="3424428"/>
                  </a:lnTo>
                  <a:lnTo>
                    <a:pt x="7839456" y="3424428"/>
                  </a:lnTo>
                  <a:lnTo>
                    <a:pt x="7839456" y="8001"/>
                  </a:lnTo>
                  <a:lnTo>
                    <a:pt x="7847457" y="8001"/>
                  </a:lnTo>
                  <a:lnTo>
                    <a:pt x="7847457" y="16002"/>
                  </a:lnTo>
                  <a:lnTo>
                    <a:pt x="8001" y="1600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92176" y="2168823"/>
            <a:ext cx="5879611" cy="356892"/>
            <a:chOff x="0" y="0"/>
            <a:chExt cx="7839481" cy="47585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839456" cy="475869"/>
            </a:xfrm>
            <a:custGeom>
              <a:avLst/>
              <a:gdLst/>
              <a:ahLst/>
              <a:cxnLst/>
              <a:rect r="r" b="b" t="t" l="l"/>
              <a:pathLst>
                <a:path h="475869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301990" y="2223726"/>
            <a:ext cx="5714895" cy="274539"/>
            <a:chOff x="0" y="0"/>
            <a:chExt cx="7619860" cy="366052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619857" cy="366046"/>
            </a:xfrm>
            <a:custGeom>
              <a:avLst/>
              <a:gdLst/>
              <a:ahLst/>
              <a:cxnLst/>
              <a:rect r="r" b="b" t="t" l="l"/>
              <a:pathLst>
                <a:path h="366046" w="7619857">
                  <a:moveTo>
                    <a:pt x="0" y="0"/>
                  </a:moveTo>
                  <a:lnTo>
                    <a:pt x="7619857" y="0"/>
                  </a:lnTo>
                  <a:lnTo>
                    <a:pt x="76198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12" r="0" b="-355614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19050"/>
              <a:ext cx="7619860" cy="38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Weekly Active Users (k)  —  Jan–Dec 2024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494167" y="3987613"/>
            <a:ext cx="5467807" cy="5486"/>
            <a:chOff x="0" y="0"/>
            <a:chExt cx="7290410" cy="7315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205902" y="3864073"/>
            <a:ext cx="247079" cy="178451"/>
            <a:chOff x="0" y="0"/>
            <a:chExt cx="329438" cy="23793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1k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494167" y="3546072"/>
            <a:ext cx="5467807" cy="5486"/>
            <a:chOff x="0" y="0"/>
            <a:chExt cx="7290410" cy="7315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205902" y="3422533"/>
            <a:ext cx="247079" cy="178451"/>
            <a:chOff x="0" y="0"/>
            <a:chExt cx="329438" cy="237934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1k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494167" y="3104531"/>
            <a:ext cx="5467807" cy="5486"/>
            <a:chOff x="0" y="0"/>
            <a:chExt cx="7290410" cy="7315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205902" y="2980992"/>
            <a:ext cx="247079" cy="178451"/>
            <a:chOff x="0" y="0"/>
            <a:chExt cx="329438" cy="23793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2k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494167" y="2662980"/>
            <a:ext cx="5467807" cy="5486"/>
            <a:chOff x="0" y="0"/>
            <a:chExt cx="7290410" cy="7315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205902" y="2539441"/>
            <a:ext cx="247079" cy="178451"/>
            <a:chOff x="0" y="0"/>
            <a:chExt cx="329438" cy="23793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3k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643404" y="3587553"/>
            <a:ext cx="293970" cy="841600"/>
            <a:chOff x="0" y="0"/>
            <a:chExt cx="391960" cy="1122134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91922" cy="1122172"/>
            </a:xfrm>
            <a:custGeom>
              <a:avLst/>
              <a:gdLst/>
              <a:ahLst/>
              <a:cxnLst/>
              <a:rect r="r" b="b" t="t" l="l"/>
              <a:pathLst>
                <a:path h="1122172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122172"/>
                  </a:lnTo>
                  <a:lnTo>
                    <a:pt x="0" y="112217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086622" y="3492732"/>
            <a:ext cx="293970" cy="936422"/>
            <a:chOff x="0" y="0"/>
            <a:chExt cx="391960" cy="1248562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391922" cy="1248537"/>
            </a:xfrm>
            <a:custGeom>
              <a:avLst/>
              <a:gdLst/>
              <a:ahLst/>
              <a:cxnLst/>
              <a:rect r="r" b="b" t="t" l="l"/>
              <a:pathLst>
                <a:path h="1248537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248537"/>
                  </a:lnTo>
                  <a:lnTo>
                    <a:pt x="0" y="1248537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529839" y="3451241"/>
            <a:ext cx="293970" cy="977913"/>
            <a:chOff x="0" y="0"/>
            <a:chExt cx="391960" cy="1303884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91922" cy="1303909"/>
            </a:xfrm>
            <a:custGeom>
              <a:avLst/>
              <a:gdLst/>
              <a:ahLst/>
              <a:cxnLst/>
              <a:rect r="r" b="b" t="t" l="l"/>
              <a:pathLst>
                <a:path h="1303909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303909"/>
                  </a:lnTo>
                  <a:lnTo>
                    <a:pt x="0" y="1303909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516104" y="3272790"/>
            <a:ext cx="321421" cy="164725"/>
            <a:chOff x="0" y="0"/>
            <a:chExt cx="428561" cy="21963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1.6k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973047" y="3409760"/>
            <a:ext cx="293970" cy="1019404"/>
            <a:chOff x="0" y="0"/>
            <a:chExt cx="391960" cy="1359205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391922" cy="1359154"/>
            </a:xfrm>
            <a:custGeom>
              <a:avLst/>
              <a:gdLst/>
              <a:ahLst/>
              <a:cxnLst/>
              <a:rect r="r" b="b" t="t" l="l"/>
              <a:pathLst>
                <a:path h="1359154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359154"/>
                  </a:lnTo>
                  <a:lnTo>
                    <a:pt x="0" y="1359154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2416264" y="3303070"/>
            <a:ext cx="293970" cy="1126084"/>
            <a:chOff x="0" y="0"/>
            <a:chExt cx="391960" cy="1501445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391922" cy="1501394"/>
            </a:xfrm>
            <a:custGeom>
              <a:avLst/>
              <a:gdLst/>
              <a:ahLst/>
              <a:cxnLst/>
              <a:rect r="r" b="b" t="t" l="l"/>
              <a:pathLst>
                <a:path h="1501394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501394"/>
                  </a:lnTo>
                  <a:lnTo>
                    <a:pt x="0" y="1501394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2859472" y="3214173"/>
            <a:ext cx="293970" cy="1214980"/>
            <a:chOff x="0" y="0"/>
            <a:chExt cx="391960" cy="1619974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391922" cy="1620012"/>
            </a:xfrm>
            <a:custGeom>
              <a:avLst/>
              <a:gdLst/>
              <a:ahLst/>
              <a:cxnLst/>
              <a:rect r="r" b="b" t="t" l="l"/>
              <a:pathLst>
                <a:path h="1620012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620012"/>
                  </a:lnTo>
                  <a:lnTo>
                    <a:pt x="0" y="162001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2845746" y="3035722"/>
            <a:ext cx="321421" cy="164725"/>
            <a:chOff x="0" y="0"/>
            <a:chExt cx="428561" cy="219634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2.0k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3302689" y="3125267"/>
            <a:ext cx="293970" cy="1303887"/>
            <a:chOff x="0" y="0"/>
            <a:chExt cx="391960" cy="17385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1922" cy="1738503"/>
            </a:xfrm>
            <a:custGeom>
              <a:avLst/>
              <a:gdLst/>
              <a:ahLst/>
              <a:cxnLst/>
              <a:rect r="r" b="b" t="t" l="l"/>
              <a:pathLst>
                <a:path h="1738503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738503"/>
                  </a:lnTo>
                  <a:lnTo>
                    <a:pt x="0" y="1738503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3745906" y="3018587"/>
            <a:ext cx="293970" cy="1410567"/>
            <a:chOff x="0" y="0"/>
            <a:chExt cx="391960" cy="1880756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391922" cy="1880743"/>
            </a:xfrm>
            <a:custGeom>
              <a:avLst/>
              <a:gdLst/>
              <a:ahLst/>
              <a:cxnLst/>
              <a:rect r="r" b="b" t="t" l="l"/>
              <a:pathLst>
                <a:path h="1880743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880743"/>
                  </a:lnTo>
                  <a:lnTo>
                    <a:pt x="0" y="1880743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4189114" y="2977105"/>
            <a:ext cx="293970" cy="1452058"/>
            <a:chOff x="0" y="0"/>
            <a:chExt cx="391960" cy="1936077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391922" cy="1936115"/>
            </a:xfrm>
            <a:custGeom>
              <a:avLst/>
              <a:gdLst/>
              <a:ahLst/>
              <a:cxnLst/>
              <a:rect r="r" b="b" t="t" l="l"/>
              <a:pathLst>
                <a:path h="1936115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936115"/>
                  </a:lnTo>
                  <a:lnTo>
                    <a:pt x="0" y="193611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4175389" y="2798655"/>
            <a:ext cx="321421" cy="164725"/>
            <a:chOff x="0" y="0"/>
            <a:chExt cx="428561" cy="219634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2.5k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4632331" y="2888199"/>
            <a:ext cx="293970" cy="1540954"/>
            <a:chOff x="0" y="0"/>
            <a:chExt cx="391960" cy="205460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91922" cy="2054606"/>
            </a:xfrm>
            <a:custGeom>
              <a:avLst/>
              <a:gdLst/>
              <a:ahLst/>
              <a:cxnLst/>
              <a:rect r="r" b="b" t="t" l="l"/>
              <a:pathLst>
                <a:path h="2054606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2054606"/>
                  </a:lnTo>
                  <a:lnTo>
                    <a:pt x="0" y="2054606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96" id="196"/>
          <p:cNvGrpSpPr/>
          <p:nvPr/>
        </p:nvGrpSpPr>
        <p:grpSpPr>
          <a:xfrm rot="0">
            <a:off x="5075549" y="2799302"/>
            <a:ext cx="293970" cy="1629861"/>
            <a:chOff x="0" y="0"/>
            <a:chExt cx="391960" cy="2173148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391922" cy="2173097"/>
            </a:xfrm>
            <a:custGeom>
              <a:avLst/>
              <a:gdLst/>
              <a:ahLst/>
              <a:cxnLst/>
              <a:rect r="r" b="b" t="t" l="l"/>
              <a:pathLst>
                <a:path h="2173097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2173097"/>
                  </a:lnTo>
                  <a:lnTo>
                    <a:pt x="0" y="2173097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5518756" y="2662980"/>
            <a:ext cx="293970" cy="1766173"/>
            <a:chOff x="0" y="0"/>
            <a:chExt cx="391960" cy="2354898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391922" cy="2354834"/>
            </a:xfrm>
            <a:custGeom>
              <a:avLst/>
              <a:gdLst/>
              <a:ahLst/>
              <a:cxnLst/>
              <a:rect r="r" b="b" t="t" l="l"/>
              <a:pathLst>
                <a:path h="2354834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2354834"/>
                  </a:lnTo>
                  <a:lnTo>
                    <a:pt x="0" y="2354834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5505031" y="2484539"/>
            <a:ext cx="321421" cy="164725"/>
            <a:chOff x="0" y="0"/>
            <a:chExt cx="428561" cy="219634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3.0k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694306" y="4456614"/>
            <a:ext cx="192176" cy="192176"/>
            <a:chOff x="0" y="0"/>
            <a:chExt cx="256235" cy="256235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137514" y="4456614"/>
            <a:ext cx="192176" cy="192176"/>
            <a:chOff x="0" y="0"/>
            <a:chExt cx="256235" cy="256235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1580731" y="4456614"/>
            <a:ext cx="192176" cy="192176"/>
            <a:chOff x="0" y="0"/>
            <a:chExt cx="256235" cy="256235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2023948" y="4456614"/>
            <a:ext cx="192176" cy="192176"/>
            <a:chOff x="0" y="0"/>
            <a:chExt cx="256235" cy="256235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2467156" y="4456614"/>
            <a:ext cx="192176" cy="192176"/>
            <a:chOff x="0" y="0"/>
            <a:chExt cx="256235" cy="256235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2910373" y="4456614"/>
            <a:ext cx="192176" cy="192176"/>
            <a:chOff x="0" y="0"/>
            <a:chExt cx="256235" cy="256235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3353591" y="4456614"/>
            <a:ext cx="192176" cy="192176"/>
            <a:chOff x="0" y="0"/>
            <a:chExt cx="256235" cy="256235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3796798" y="4456614"/>
            <a:ext cx="192176" cy="192176"/>
            <a:chOff x="0" y="0"/>
            <a:chExt cx="256235" cy="256235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4240016" y="4456614"/>
            <a:ext cx="192176" cy="192176"/>
            <a:chOff x="0" y="0"/>
            <a:chExt cx="256235" cy="256235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4683233" y="4456614"/>
            <a:ext cx="192176" cy="192176"/>
            <a:chOff x="0" y="0"/>
            <a:chExt cx="256235" cy="256235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5126441" y="4456614"/>
            <a:ext cx="192176" cy="192176"/>
            <a:chOff x="0" y="0"/>
            <a:chExt cx="256235" cy="256235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5569658" y="4456614"/>
            <a:ext cx="192176" cy="192176"/>
            <a:chOff x="0" y="0"/>
            <a:chExt cx="256235" cy="256235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494167" y="4429154"/>
            <a:ext cx="5467807" cy="8239"/>
            <a:chOff x="0" y="0"/>
            <a:chExt cx="7290410" cy="1098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7290435" cy="10922"/>
            </a:xfrm>
            <a:custGeom>
              <a:avLst/>
              <a:gdLst/>
              <a:ahLst/>
              <a:cxnLst/>
              <a:rect r="r" b="b" t="t" l="l"/>
              <a:pathLst>
                <a:path h="10922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10922"/>
                  </a:lnTo>
                  <a:lnTo>
                    <a:pt x="0" y="10922"/>
                  </a:lnTo>
                  <a:close/>
                </a:path>
              </a:pathLst>
            </a:custGeom>
            <a:solidFill>
              <a:srgbClr val="AACCBB"/>
            </a:solid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260804" y="4511516"/>
            <a:ext cx="5742346" cy="192176"/>
            <a:chOff x="0" y="0"/>
            <a:chExt cx="7656462" cy="256235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7656461" cy="256232"/>
            </a:xfrm>
            <a:custGeom>
              <a:avLst/>
              <a:gdLst/>
              <a:ahLst/>
              <a:cxnLst/>
              <a:rect r="r" b="b" t="t" l="l"/>
              <a:pathLst>
                <a:path h="256232" w="7656461">
                  <a:moveTo>
                    <a:pt x="0" y="0"/>
                  </a:moveTo>
                  <a:lnTo>
                    <a:pt x="7656461" y="0"/>
                  </a:lnTo>
                  <a:lnTo>
                    <a:pt x="765646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230" r="0" b="-532232"/>
              </a:stretch>
            </a:blipFill>
          </p:spPr>
        </p:sp>
        <p:sp>
          <p:nvSpPr>
            <p:cNvPr name="TextBox 243" id="243"/>
            <p:cNvSpPr txBox="true"/>
            <p:nvPr/>
          </p:nvSpPr>
          <p:spPr>
            <a:xfrm>
              <a:off x="0" y="-19050"/>
              <a:ext cx="7656462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i="true">
                  <a:solidFill>
                    <a:srgbClr val="7777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Target: 3M WAU by Q1 2025</a:t>
              </a:r>
            </a:p>
          </p:txBody>
        </p:sp>
      </p:grpSp>
      <p:grpSp>
        <p:nvGrpSpPr>
          <p:cNvPr name="Group 244" id="244"/>
          <p:cNvGrpSpPr/>
          <p:nvPr/>
        </p:nvGrpSpPr>
        <p:grpSpPr>
          <a:xfrm rot="0">
            <a:off x="6203051" y="2162813"/>
            <a:ext cx="5891622" cy="2574331"/>
            <a:chOff x="0" y="0"/>
            <a:chExt cx="7855496" cy="3432442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8001" y="8001"/>
              <a:ext cx="783945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3416427"/>
                  </a:lnTo>
                  <a:lnTo>
                    <a:pt x="0" y="3416427"/>
                  </a:lnTo>
                  <a:close/>
                </a:path>
              </a:pathLst>
            </a:custGeom>
            <a:solidFill>
              <a:srgbClr val="F6FDF8"/>
            </a:solidFill>
          </p:spPr>
        </p:sp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7855458" cy="3432429"/>
            </a:xfrm>
            <a:custGeom>
              <a:avLst/>
              <a:gdLst/>
              <a:ahLst/>
              <a:cxnLst/>
              <a:rect r="r" b="b" t="t" l="l"/>
              <a:pathLst>
                <a:path h="3432429" w="7855458">
                  <a:moveTo>
                    <a:pt x="8001" y="0"/>
                  </a:moveTo>
                  <a:lnTo>
                    <a:pt x="7847457" y="0"/>
                  </a:lnTo>
                  <a:cubicBezTo>
                    <a:pt x="7851901" y="0"/>
                    <a:pt x="7855458" y="3556"/>
                    <a:pt x="7855458" y="8001"/>
                  </a:cubicBezTo>
                  <a:lnTo>
                    <a:pt x="7855458" y="3424428"/>
                  </a:lnTo>
                  <a:cubicBezTo>
                    <a:pt x="7855458" y="3428873"/>
                    <a:pt x="7851901" y="3432429"/>
                    <a:pt x="7847457" y="3432429"/>
                  </a:cubicBezTo>
                  <a:lnTo>
                    <a:pt x="8001" y="3432429"/>
                  </a:lnTo>
                  <a:cubicBezTo>
                    <a:pt x="3556" y="3432429"/>
                    <a:pt x="0" y="3428873"/>
                    <a:pt x="0" y="3424428"/>
                  </a:cubicBezTo>
                  <a:lnTo>
                    <a:pt x="0" y="8001"/>
                  </a:lnTo>
                  <a:cubicBezTo>
                    <a:pt x="0" y="3556"/>
                    <a:pt x="3556" y="0"/>
                    <a:pt x="8001" y="0"/>
                  </a:cubicBezTo>
                  <a:moveTo>
                    <a:pt x="8001" y="16002"/>
                  </a:moveTo>
                  <a:lnTo>
                    <a:pt x="8001" y="8001"/>
                  </a:lnTo>
                  <a:lnTo>
                    <a:pt x="16002" y="8001"/>
                  </a:lnTo>
                  <a:lnTo>
                    <a:pt x="16002" y="3424428"/>
                  </a:lnTo>
                  <a:lnTo>
                    <a:pt x="8001" y="3424428"/>
                  </a:lnTo>
                  <a:lnTo>
                    <a:pt x="8001" y="3416427"/>
                  </a:lnTo>
                  <a:lnTo>
                    <a:pt x="7847457" y="3416427"/>
                  </a:lnTo>
                  <a:lnTo>
                    <a:pt x="7847457" y="3424428"/>
                  </a:lnTo>
                  <a:lnTo>
                    <a:pt x="7839456" y="3424428"/>
                  </a:lnTo>
                  <a:lnTo>
                    <a:pt x="7839456" y="8001"/>
                  </a:lnTo>
                  <a:lnTo>
                    <a:pt x="7847457" y="8001"/>
                  </a:lnTo>
                  <a:lnTo>
                    <a:pt x="7847457" y="16002"/>
                  </a:lnTo>
                  <a:lnTo>
                    <a:pt x="8001" y="1600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6209052" y="2168823"/>
            <a:ext cx="5879611" cy="356892"/>
            <a:chOff x="0" y="0"/>
            <a:chExt cx="7839481" cy="475856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7839456" cy="475869"/>
            </a:xfrm>
            <a:custGeom>
              <a:avLst/>
              <a:gdLst/>
              <a:ahLst/>
              <a:cxnLst/>
              <a:rect r="r" b="b" t="t" l="l"/>
              <a:pathLst>
                <a:path h="475869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6318866" y="2223726"/>
            <a:ext cx="5714895" cy="274539"/>
            <a:chOff x="0" y="0"/>
            <a:chExt cx="7619860" cy="366052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7619857" cy="366046"/>
            </a:xfrm>
            <a:custGeom>
              <a:avLst/>
              <a:gdLst/>
              <a:ahLst/>
              <a:cxnLst/>
              <a:rect r="r" b="b" t="t" l="l"/>
              <a:pathLst>
                <a:path h="366046" w="7619857">
                  <a:moveTo>
                    <a:pt x="0" y="0"/>
                  </a:moveTo>
                  <a:lnTo>
                    <a:pt x="7619857" y="0"/>
                  </a:lnTo>
                  <a:lnTo>
                    <a:pt x="76198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12" r="0" b="-355614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-19050"/>
              <a:ext cx="7619860" cy="38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📈  Surprise Bags Sold (k)  —  Jan–Dec 2024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6511042" y="3840432"/>
            <a:ext cx="5467807" cy="5486"/>
            <a:chOff x="0" y="0"/>
            <a:chExt cx="7290410" cy="7315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6222778" y="3716893"/>
            <a:ext cx="247079" cy="178451"/>
            <a:chOff x="0" y="0"/>
            <a:chExt cx="329438" cy="237934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256" id="256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1.0k</a:t>
              </a:r>
            </a:p>
          </p:txBody>
        </p:sp>
      </p:grpSp>
      <p:grpSp>
        <p:nvGrpSpPr>
          <p:cNvPr name="Group 257" id="257"/>
          <p:cNvGrpSpPr/>
          <p:nvPr/>
        </p:nvGrpSpPr>
        <p:grpSpPr>
          <a:xfrm rot="0">
            <a:off x="6511042" y="3251711"/>
            <a:ext cx="5467807" cy="5486"/>
            <a:chOff x="0" y="0"/>
            <a:chExt cx="7290410" cy="7315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6222778" y="3128172"/>
            <a:ext cx="247079" cy="178451"/>
            <a:chOff x="0" y="0"/>
            <a:chExt cx="329438" cy="237934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1.3k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6511042" y="2662980"/>
            <a:ext cx="5467807" cy="5486"/>
            <a:chOff x="0" y="0"/>
            <a:chExt cx="7290410" cy="7315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264" id="264"/>
          <p:cNvGrpSpPr/>
          <p:nvPr/>
        </p:nvGrpSpPr>
        <p:grpSpPr>
          <a:xfrm rot="0">
            <a:off x="6222778" y="2539441"/>
            <a:ext cx="247079" cy="178451"/>
            <a:chOff x="0" y="0"/>
            <a:chExt cx="329438" cy="237934"/>
          </a:xfrm>
        </p:grpSpPr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266" id="266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1.6k</a:t>
              </a:r>
            </a:p>
          </p:txBody>
        </p:sp>
      </p:grpSp>
      <p:grpSp>
        <p:nvGrpSpPr>
          <p:cNvPr name="Group 267" id="267"/>
          <p:cNvGrpSpPr/>
          <p:nvPr/>
        </p:nvGrpSpPr>
        <p:grpSpPr>
          <a:xfrm rot="0">
            <a:off x="6493888" y="4274496"/>
            <a:ext cx="542373" cy="116881"/>
            <a:chOff x="0" y="0"/>
            <a:chExt cx="723163" cy="155842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723138" cy="155829"/>
            </a:xfrm>
            <a:custGeom>
              <a:avLst/>
              <a:gdLst/>
              <a:ahLst/>
              <a:cxnLst/>
              <a:rect r="r" b="b" t="t" l="l"/>
              <a:pathLst>
                <a:path h="155829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32969"/>
                  </a:lnTo>
                  <a:cubicBezTo>
                    <a:pt x="723138" y="145542"/>
                    <a:pt x="712851" y="155829"/>
                    <a:pt x="700278" y="155829"/>
                  </a:cubicBezTo>
                  <a:lnTo>
                    <a:pt x="22860" y="155829"/>
                  </a:lnTo>
                  <a:cubicBezTo>
                    <a:pt x="10287" y="155829"/>
                    <a:pt x="0" y="145542"/>
                    <a:pt x="0" y="13296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32969"/>
                  </a:lnTo>
                  <a:lnTo>
                    <a:pt x="22860" y="132969"/>
                  </a:lnTo>
                  <a:lnTo>
                    <a:pt x="22860" y="110109"/>
                  </a:lnTo>
                  <a:lnTo>
                    <a:pt x="700278" y="110109"/>
                  </a:lnTo>
                  <a:lnTo>
                    <a:pt x="700278" y="132969"/>
                  </a:lnTo>
                  <a:lnTo>
                    <a:pt x="677418" y="132969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69" id="269"/>
          <p:cNvGrpSpPr/>
          <p:nvPr/>
        </p:nvGrpSpPr>
        <p:grpSpPr>
          <a:xfrm rot="0">
            <a:off x="6990959" y="4107256"/>
            <a:ext cx="542373" cy="209788"/>
            <a:chOff x="0" y="0"/>
            <a:chExt cx="723163" cy="279718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723138" cy="279654"/>
            </a:xfrm>
            <a:custGeom>
              <a:avLst/>
              <a:gdLst/>
              <a:ahLst/>
              <a:cxnLst/>
              <a:rect r="r" b="b" t="t" l="l"/>
              <a:pathLst>
                <a:path h="279654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56794"/>
                  </a:lnTo>
                  <a:cubicBezTo>
                    <a:pt x="723138" y="269367"/>
                    <a:pt x="712851" y="279654"/>
                    <a:pt x="700278" y="279654"/>
                  </a:cubicBezTo>
                  <a:lnTo>
                    <a:pt x="22860" y="279654"/>
                  </a:lnTo>
                  <a:cubicBezTo>
                    <a:pt x="10287" y="279654"/>
                    <a:pt x="0" y="269367"/>
                    <a:pt x="0" y="256794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56794"/>
                  </a:lnTo>
                  <a:lnTo>
                    <a:pt x="22860" y="256794"/>
                  </a:lnTo>
                  <a:lnTo>
                    <a:pt x="22860" y="233934"/>
                  </a:lnTo>
                  <a:lnTo>
                    <a:pt x="700278" y="233934"/>
                  </a:lnTo>
                  <a:lnTo>
                    <a:pt x="700278" y="256794"/>
                  </a:lnTo>
                  <a:lnTo>
                    <a:pt x="677418" y="256794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71" id="271"/>
          <p:cNvGrpSpPr/>
          <p:nvPr/>
        </p:nvGrpSpPr>
        <p:grpSpPr>
          <a:xfrm rot="0">
            <a:off x="7488031" y="3995776"/>
            <a:ext cx="542373" cy="154038"/>
            <a:chOff x="0" y="0"/>
            <a:chExt cx="723163" cy="205384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723138" cy="205359"/>
            </a:xfrm>
            <a:custGeom>
              <a:avLst/>
              <a:gdLst/>
              <a:ahLst/>
              <a:cxnLst/>
              <a:rect r="r" b="b" t="t" l="l"/>
              <a:pathLst>
                <a:path h="205359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82499"/>
                  </a:lnTo>
                  <a:cubicBezTo>
                    <a:pt x="723138" y="195072"/>
                    <a:pt x="712851" y="205359"/>
                    <a:pt x="700278" y="205359"/>
                  </a:cubicBezTo>
                  <a:lnTo>
                    <a:pt x="22860" y="205359"/>
                  </a:lnTo>
                  <a:cubicBezTo>
                    <a:pt x="10287" y="205359"/>
                    <a:pt x="0" y="195072"/>
                    <a:pt x="0" y="18249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82499"/>
                  </a:lnTo>
                  <a:lnTo>
                    <a:pt x="22860" y="182499"/>
                  </a:lnTo>
                  <a:lnTo>
                    <a:pt x="22860" y="159639"/>
                  </a:lnTo>
                  <a:lnTo>
                    <a:pt x="700278" y="159639"/>
                  </a:lnTo>
                  <a:lnTo>
                    <a:pt x="700278" y="182499"/>
                  </a:lnTo>
                  <a:lnTo>
                    <a:pt x="677418" y="182499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7985103" y="3847119"/>
            <a:ext cx="542373" cy="191205"/>
            <a:chOff x="0" y="0"/>
            <a:chExt cx="723163" cy="254940"/>
          </a:xfrm>
        </p:grpSpPr>
        <p:sp>
          <p:nvSpPr>
            <p:cNvPr name="Freeform 274" id="274"/>
            <p:cNvSpPr/>
            <p:nvPr/>
          </p:nvSpPr>
          <p:spPr>
            <a:xfrm flipH="false" flipV="false" rot="0">
              <a:off x="0" y="0"/>
              <a:ext cx="723138" cy="254889"/>
            </a:xfrm>
            <a:custGeom>
              <a:avLst/>
              <a:gdLst/>
              <a:ahLst/>
              <a:cxnLst/>
              <a:rect r="r" b="b" t="t" l="l"/>
              <a:pathLst>
                <a:path h="254889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32029"/>
                  </a:lnTo>
                  <a:cubicBezTo>
                    <a:pt x="723138" y="244602"/>
                    <a:pt x="712851" y="254889"/>
                    <a:pt x="700278" y="254889"/>
                  </a:cubicBezTo>
                  <a:lnTo>
                    <a:pt x="22860" y="254889"/>
                  </a:lnTo>
                  <a:cubicBezTo>
                    <a:pt x="10287" y="254889"/>
                    <a:pt x="0" y="244602"/>
                    <a:pt x="0" y="23202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32029"/>
                  </a:lnTo>
                  <a:lnTo>
                    <a:pt x="22860" y="232029"/>
                  </a:lnTo>
                  <a:lnTo>
                    <a:pt x="22860" y="209169"/>
                  </a:lnTo>
                  <a:lnTo>
                    <a:pt x="700278" y="209169"/>
                  </a:lnTo>
                  <a:lnTo>
                    <a:pt x="700278" y="232029"/>
                  </a:lnTo>
                  <a:lnTo>
                    <a:pt x="677418" y="232029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8482174" y="3661305"/>
            <a:ext cx="542373" cy="228371"/>
            <a:chOff x="0" y="0"/>
            <a:chExt cx="723163" cy="304495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723138" cy="304419"/>
            </a:xfrm>
            <a:custGeom>
              <a:avLst/>
              <a:gdLst/>
              <a:ahLst/>
              <a:cxnLst/>
              <a:rect r="r" b="b" t="t" l="l"/>
              <a:pathLst>
                <a:path h="304419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81559"/>
                  </a:lnTo>
                  <a:cubicBezTo>
                    <a:pt x="723138" y="294132"/>
                    <a:pt x="712851" y="304419"/>
                    <a:pt x="700278" y="304419"/>
                  </a:cubicBezTo>
                  <a:lnTo>
                    <a:pt x="22860" y="304419"/>
                  </a:lnTo>
                  <a:cubicBezTo>
                    <a:pt x="10287" y="304419"/>
                    <a:pt x="0" y="294132"/>
                    <a:pt x="0" y="28155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81559"/>
                  </a:lnTo>
                  <a:lnTo>
                    <a:pt x="22860" y="281559"/>
                  </a:lnTo>
                  <a:lnTo>
                    <a:pt x="22860" y="258699"/>
                  </a:lnTo>
                  <a:lnTo>
                    <a:pt x="700278" y="258699"/>
                  </a:lnTo>
                  <a:lnTo>
                    <a:pt x="700278" y="281559"/>
                  </a:lnTo>
                  <a:lnTo>
                    <a:pt x="677418" y="281559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77" id="277"/>
          <p:cNvGrpSpPr/>
          <p:nvPr/>
        </p:nvGrpSpPr>
        <p:grpSpPr>
          <a:xfrm rot="0">
            <a:off x="8979256" y="3531232"/>
            <a:ext cx="542373" cy="172622"/>
            <a:chOff x="0" y="0"/>
            <a:chExt cx="723163" cy="230162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0" y="0"/>
              <a:ext cx="723138" cy="230124"/>
            </a:xfrm>
            <a:custGeom>
              <a:avLst/>
              <a:gdLst/>
              <a:ahLst/>
              <a:cxnLst/>
              <a:rect r="r" b="b" t="t" l="l"/>
              <a:pathLst>
                <a:path h="230124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07264"/>
                  </a:lnTo>
                  <a:cubicBezTo>
                    <a:pt x="723138" y="219837"/>
                    <a:pt x="712851" y="230124"/>
                    <a:pt x="700278" y="230124"/>
                  </a:cubicBezTo>
                  <a:lnTo>
                    <a:pt x="22860" y="230124"/>
                  </a:lnTo>
                  <a:cubicBezTo>
                    <a:pt x="10287" y="230124"/>
                    <a:pt x="0" y="219837"/>
                    <a:pt x="0" y="207264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07264"/>
                  </a:lnTo>
                  <a:lnTo>
                    <a:pt x="22860" y="207264"/>
                  </a:lnTo>
                  <a:lnTo>
                    <a:pt x="22860" y="184404"/>
                  </a:lnTo>
                  <a:lnTo>
                    <a:pt x="700278" y="184404"/>
                  </a:lnTo>
                  <a:lnTo>
                    <a:pt x="700278" y="207264"/>
                  </a:lnTo>
                  <a:lnTo>
                    <a:pt x="677418" y="207264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79" id="279"/>
          <p:cNvGrpSpPr/>
          <p:nvPr/>
        </p:nvGrpSpPr>
        <p:grpSpPr>
          <a:xfrm rot="0">
            <a:off x="9476327" y="3382585"/>
            <a:ext cx="542373" cy="191205"/>
            <a:chOff x="0" y="0"/>
            <a:chExt cx="723163" cy="254940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723138" cy="254889"/>
            </a:xfrm>
            <a:custGeom>
              <a:avLst/>
              <a:gdLst/>
              <a:ahLst/>
              <a:cxnLst/>
              <a:rect r="r" b="b" t="t" l="l"/>
              <a:pathLst>
                <a:path h="254889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32029"/>
                  </a:lnTo>
                  <a:cubicBezTo>
                    <a:pt x="723138" y="244602"/>
                    <a:pt x="712851" y="254889"/>
                    <a:pt x="700278" y="254889"/>
                  </a:cubicBezTo>
                  <a:lnTo>
                    <a:pt x="22860" y="254889"/>
                  </a:lnTo>
                  <a:cubicBezTo>
                    <a:pt x="10287" y="254889"/>
                    <a:pt x="0" y="244602"/>
                    <a:pt x="0" y="23202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32029"/>
                  </a:lnTo>
                  <a:lnTo>
                    <a:pt x="22860" y="232029"/>
                  </a:lnTo>
                  <a:lnTo>
                    <a:pt x="22860" y="209169"/>
                  </a:lnTo>
                  <a:lnTo>
                    <a:pt x="700278" y="209169"/>
                  </a:lnTo>
                  <a:lnTo>
                    <a:pt x="700278" y="232029"/>
                  </a:lnTo>
                  <a:lnTo>
                    <a:pt x="677418" y="232029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81" id="281"/>
          <p:cNvGrpSpPr/>
          <p:nvPr/>
        </p:nvGrpSpPr>
        <p:grpSpPr>
          <a:xfrm rot="0">
            <a:off x="9973399" y="3233928"/>
            <a:ext cx="542373" cy="191205"/>
            <a:chOff x="0" y="0"/>
            <a:chExt cx="723163" cy="254940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723138" cy="254889"/>
            </a:xfrm>
            <a:custGeom>
              <a:avLst/>
              <a:gdLst/>
              <a:ahLst/>
              <a:cxnLst/>
              <a:rect r="r" b="b" t="t" l="l"/>
              <a:pathLst>
                <a:path h="254889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32029"/>
                  </a:lnTo>
                  <a:cubicBezTo>
                    <a:pt x="723138" y="244602"/>
                    <a:pt x="712851" y="254889"/>
                    <a:pt x="700278" y="254889"/>
                  </a:cubicBezTo>
                  <a:lnTo>
                    <a:pt x="22860" y="254889"/>
                  </a:lnTo>
                  <a:cubicBezTo>
                    <a:pt x="10287" y="254889"/>
                    <a:pt x="0" y="244602"/>
                    <a:pt x="0" y="23202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32029"/>
                  </a:lnTo>
                  <a:lnTo>
                    <a:pt x="22860" y="232029"/>
                  </a:lnTo>
                  <a:lnTo>
                    <a:pt x="22860" y="209169"/>
                  </a:lnTo>
                  <a:lnTo>
                    <a:pt x="700278" y="209169"/>
                  </a:lnTo>
                  <a:lnTo>
                    <a:pt x="700278" y="232029"/>
                  </a:lnTo>
                  <a:lnTo>
                    <a:pt x="677418" y="232029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0470471" y="3103864"/>
            <a:ext cx="542373" cy="172622"/>
            <a:chOff x="0" y="0"/>
            <a:chExt cx="723163" cy="230162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723138" cy="230124"/>
            </a:xfrm>
            <a:custGeom>
              <a:avLst/>
              <a:gdLst/>
              <a:ahLst/>
              <a:cxnLst/>
              <a:rect r="r" b="b" t="t" l="l"/>
              <a:pathLst>
                <a:path h="230124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07264"/>
                  </a:lnTo>
                  <a:cubicBezTo>
                    <a:pt x="723138" y="219837"/>
                    <a:pt x="712851" y="230124"/>
                    <a:pt x="700278" y="230124"/>
                  </a:cubicBezTo>
                  <a:lnTo>
                    <a:pt x="22860" y="230124"/>
                  </a:lnTo>
                  <a:cubicBezTo>
                    <a:pt x="10287" y="230124"/>
                    <a:pt x="0" y="219837"/>
                    <a:pt x="0" y="207264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07264"/>
                  </a:lnTo>
                  <a:lnTo>
                    <a:pt x="22860" y="207264"/>
                  </a:lnTo>
                  <a:lnTo>
                    <a:pt x="22860" y="184404"/>
                  </a:lnTo>
                  <a:lnTo>
                    <a:pt x="700278" y="184404"/>
                  </a:lnTo>
                  <a:lnTo>
                    <a:pt x="700278" y="207264"/>
                  </a:lnTo>
                  <a:lnTo>
                    <a:pt x="677418" y="207264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0967552" y="2973791"/>
            <a:ext cx="542373" cy="172622"/>
            <a:chOff x="0" y="0"/>
            <a:chExt cx="723163" cy="230162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723138" cy="230124"/>
            </a:xfrm>
            <a:custGeom>
              <a:avLst/>
              <a:gdLst/>
              <a:ahLst/>
              <a:cxnLst/>
              <a:rect r="r" b="b" t="t" l="l"/>
              <a:pathLst>
                <a:path h="230124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07264"/>
                  </a:lnTo>
                  <a:cubicBezTo>
                    <a:pt x="723138" y="219837"/>
                    <a:pt x="712851" y="230124"/>
                    <a:pt x="700278" y="230124"/>
                  </a:cubicBezTo>
                  <a:lnTo>
                    <a:pt x="22860" y="230124"/>
                  </a:lnTo>
                  <a:cubicBezTo>
                    <a:pt x="10287" y="230124"/>
                    <a:pt x="0" y="219837"/>
                    <a:pt x="0" y="207264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07264"/>
                  </a:lnTo>
                  <a:lnTo>
                    <a:pt x="22860" y="207264"/>
                  </a:lnTo>
                  <a:lnTo>
                    <a:pt x="22860" y="184404"/>
                  </a:lnTo>
                  <a:lnTo>
                    <a:pt x="700278" y="184404"/>
                  </a:lnTo>
                  <a:lnTo>
                    <a:pt x="700278" y="207264"/>
                  </a:lnTo>
                  <a:lnTo>
                    <a:pt x="677418" y="207264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87" id="287"/>
          <p:cNvGrpSpPr/>
          <p:nvPr/>
        </p:nvGrpSpPr>
        <p:grpSpPr>
          <a:xfrm rot="0">
            <a:off x="11464623" y="2732227"/>
            <a:ext cx="542373" cy="284112"/>
            <a:chOff x="0" y="0"/>
            <a:chExt cx="723163" cy="378816"/>
          </a:xfrm>
        </p:grpSpPr>
        <p:sp>
          <p:nvSpPr>
            <p:cNvPr name="Freeform 288" id="288"/>
            <p:cNvSpPr/>
            <p:nvPr/>
          </p:nvSpPr>
          <p:spPr>
            <a:xfrm flipH="false" flipV="false" rot="0">
              <a:off x="0" y="0"/>
              <a:ext cx="723138" cy="378841"/>
            </a:xfrm>
            <a:custGeom>
              <a:avLst/>
              <a:gdLst/>
              <a:ahLst/>
              <a:cxnLst/>
              <a:rect r="r" b="b" t="t" l="l"/>
              <a:pathLst>
                <a:path h="378841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55981"/>
                  </a:lnTo>
                  <a:cubicBezTo>
                    <a:pt x="723138" y="368554"/>
                    <a:pt x="712851" y="378841"/>
                    <a:pt x="700278" y="378841"/>
                  </a:cubicBezTo>
                  <a:lnTo>
                    <a:pt x="22860" y="378841"/>
                  </a:lnTo>
                  <a:cubicBezTo>
                    <a:pt x="10287" y="378841"/>
                    <a:pt x="0" y="368554"/>
                    <a:pt x="0" y="355981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55981"/>
                  </a:lnTo>
                  <a:lnTo>
                    <a:pt x="22860" y="355981"/>
                  </a:lnTo>
                  <a:lnTo>
                    <a:pt x="22860" y="333121"/>
                  </a:lnTo>
                  <a:lnTo>
                    <a:pt x="700278" y="333121"/>
                  </a:lnTo>
                  <a:lnTo>
                    <a:pt x="700278" y="355981"/>
                  </a:lnTo>
                  <a:lnTo>
                    <a:pt x="677418" y="355981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89" id="289"/>
          <p:cNvGrpSpPr/>
          <p:nvPr/>
        </p:nvGrpSpPr>
        <p:grpSpPr>
          <a:xfrm rot="0">
            <a:off x="6436919" y="4291851"/>
            <a:ext cx="148247" cy="148247"/>
            <a:chOff x="0" y="0"/>
            <a:chExt cx="197663" cy="197663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291" id="291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2" id="292"/>
          <p:cNvGrpSpPr/>
          <p:nvPr/>
        </p:nvGrpSpPr>
        <p:grpSpPr>
          <a:xfrm rot="0">
            <a:off x="6346327" y="4105170"/>
            <a:ext cx="329441" cy="178451"/>
            <a:chOff x="0" y="0"/>
            <a:chExt cx="439255" cy="237934"/>
          </a:xfrm>
        </p:grpSpPr>
        <p:sp>
          <p:nvSpPr>
            <p:cNvPr name="Freeform 293" id="293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294" id="294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680</a:t>
              </a:r>
            </a:p>
          </p:txBody>
        </p:sp>
      </p:grpSp>
      <p:grpSp>
        <p:nvGrpSpPr>
          <p:cNvPr name="Group 295" id="295"/>
          <p:cNvGrpSpPr/>
          <p:nvPr/>
        </p:nvGrpSpPr>
        <p:grpSpPr>
          <a:xfrm rot="0">
            <a:off x="6414954" y="4456614"/>
            <a:ext cx="192176" cy="192176"/>
            <a:chOff x="0" y="0"/>
            <a:chExt cx="256235" cy="256235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297" id="297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298" id="298"/>
          <p:cNvGrpSpPr/>
          <p:nvPr/>
        </p:nvGrpSpPr>
        <p:grpSpPr>
          <a:xfrm rot="0">
            <a:off x="6933990" y="4217527"/>
            <a:ext cx="148247" cy="148247"/>
            <a:chOff x="0" y="0"/>
            <a:chExt cx="197663" cy="197663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6843398" y="4030847"/>
            <a:ext cx="329441" cy="178451"/>
            <a:chOff x="0" y="0"/>
            <a:chExt cx="439255" cy="237934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03" id="303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720</a:t>
              </a:r>
            </a:p>
          </p:txBody>
        </p:sp>
      </p:grpSp>
      <p:grpSp>
        <p:nvGrpSpPr>
          <p:cNvPr name="Group 304" id="304"/>
          <p:cNvGrpSpPr/>
          <p:nvPr/>
        </p:nvGrpSpPr>
        <p:grpSpPr>
          <a:xfrm rot="0">
            <a:off x="6912026" y="4456614"/>
            <a:ext cx="192176" cy="192176"/>
            <a:chOff x="0" y="0"/>
            <a:chExt cx="256235" cy="256235"/>
          </a:xfrm>
        </p:grpSpPr>
        <p:sp>
          <p:nvSpPr>
            <p:cNvPr name="Freeform 305" id="305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06" id="306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</a:p>
          </p:txBody>
        </p:sp>
      </p:grpSp>
      <p:grpSp>
        <p:nvGrpSpPr>
          <p:cNvPr name="Group 307" id="307"/>
          <p:cNvGrpSpPr/>
          <p:nvPr/>
        </p:nvGrpSpPr>
        <p:grpSpPr>
          <a:xfrm rot="0">
            <a:off x="7431062" y="4050297"/>
            <a:ext cx="148247" cy="148247"/>
            <a:chOff x="0" y="0"/>
            <a:chExt cx="197663" cy="197663"/>
          </a:xfrm>
        </p:grpSpPr>
        <p:sp>
          <p:nvSpPr>
            <p:cNvPr name="Freeform 308" id="308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0" id="310"/>
          <p:cNvGrpSpPr/>
          <p:nvPr/>
        </p:nvGrpSpPr>
        <p:grpSpPr>
          <a:xfrm rot="0">
            <a:off x="7340470" y="3863607"/>
            <a:ext cx="329441" cy="178451"/>
            <a:chOff x="0" y="0"/>
            <a:chExt cx="439255" cy="237934"/>
          </a:xfrm>
        </p:grpSpPr>
        <p:sp>
          <p:nvSpPr>
            <p:cNvPr name="Freeform 311" id="311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12" id="312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810</a:t>
              </a:r>
            </a:p>
          </p:txBody>
        </p:sp>
      </p:grpSp>
      <p:grpSp>
        <p:nvGrpSpPr>
          <p:cNvPr name="Group 313" id="313"/>
          <p:cNvGrpSpPr/>
          <p:nvPr/>
        </p:nvGrpSpPr>
        <p:grpSpPr>
          <a:xfrm rot="0">
            <a:off x="7409107" y="4456614"/>
            <a:ext cx="192176" cy="192176"/>
            <a:chOff x="0" y="0"/>
            <a:chExt cx="256235" cy="256235"/>
          </a:xfrm>
        </p:grpSpPr>
        <p:sp>
          <p:nvSpPr>
            <p:cNvPr name="Freeform 314" id="314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15" id="315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316" id="316"/>
          <p:cNvGrpSpPr/>
          <p:nvPr/>
        </p:nvGrpSpPr>
        <p:grpSpPr>
          <a:xfrm rot="0">
            <a:off x="7928143" y="3938807"/>
            <a:ext cx="148247" cy="148247"/>
            <a:chOff x="0" y="0"/>
            <a:chExt cx="197663" cy="197663"/>
          </a:xfrm>
        </p:grpSpPr>
        <p:sp>
          <p:nvSpPr>
            <p:cNvPr name="Freeform 317" id="317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18" id="318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9" id="319"/>
          <p:cNvGrpSpPr/>
          <p:nvPr/>
        </p:nvGrpSpPr>
        <p:grpSpPr>
          <a:xfrm rot="0">
            <a:off x="7837541" y="3752126"/>
            <a:ext cx="329441" cy="178451"/>
            <a:chOff x="0" y="0"/>
            <a:chExt cx="439255" cy="237934"/>
          </a:xfrm>
        </p:grpSpPr>
        <p:sp>
          <p:nvSpPr>
            <p:cNvPr name="Freeform 320" id="320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21" id="321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870</a:t>
              </a:r>
            </a:p>
          </p:txBody>
        </p:sp>
      </p:grpSp>
      <p:grpSp>
        <p:nvGrpSpPr>
          <p:cNvPr name="Group 322" id="322"/>
          <p:cNvGrpSpPr/>
          <p:nvPr/>
        </p:nvGrpSpPr>
        <p:grpSpPr>
          <a:xfrm rot="0">
            <a:off x="7906179" y="4456614"/>
            <a:ext cx="192176" cy="192176"/>
            <a:chOff x="0" y="0"/>
            <a:chExt cx="256235" cy="256235"/>
          </a:xfrm>
        </p:grpSpPr>
        <p:sp>
          <p:nvSpPr>
            <p:cNvPr name="Freeform 323" id="323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24" id="324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325" id="325"/>
          <p:cNvGrpSpPr/>
          <p:nvPr/>
        </p:nvGrpSpPr>
        <p:grpSpPr>
          <a:xfrm rot="0">
            <a:off x="8425215" y="3790150"/>
            <a:ext cx="148247" cy="148247"/>
            <a:chOff x="0" y="0"/>
            <a:chExt cx="197663" cy="197663"/>
          </a:xfrm>
        </p:grpSpPr>
        <p:sp>
          <p:nvSpPr>
            <p:cNvPr name="Freeform 326" id="326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27" id="327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8" id="328"/>
          <p:cNvGrpSpPr/>
          <p:nvPr/>
        </p:nvGrpSpPr>
        <p:grpSpPr>
          <a:xfrm rot="0">
            <a:off x="8334613" y="3603469"/>
            <a:ext cx="329441" cy="178451"/>
            <a:chOff x="0" y="0"/>
            <a:chExt cx="439255" cy="237934"/>
          </a:xfrm>
        </p:grpSpPr>
        <p:sp>
          <p:nvSpPr>
            <p:cNvPr name="Freeform 329" id="329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30" id="330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950</a:t>
              </a:r>
            </a:p>
          </p:txBody>
        </p:sp>
      </p:grpSp>
      <p:grpSp>
        <p:nvGrpSpPr>
          <p:cNvPr name="Group 331" id="331"/>
          <p:cNvGrpSpPr/>
          <p:nvPr/>
        </p:nvGrpSpPr>
        <p:grpSpPr>
          <a:xfrm rot="0">
            <a:off x="8403250" y="4456614"/>
            <a:ext cx="192176" cy="192176"/>
            <a:chOff x="0" y="0"/>
            <a:chExt cx="256235" cy="256235"/>
          </a:xfrm>
        </p:grpSpPr>
        <p:sp>
          <p:nvSpPr>
            <p:cNvPr name="Freeform 332" id="332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33" id="333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334" id="334"/>
          <p:cNvGrpSpPr/>
          <p:nvPr/>
        </p:nvGrpSpPr>
        <p:grpSpPr>
          <a:xfrm rot="0">
            <a:off x="8922287" y="3604336"/>
            <a:ext cx="148247" cy="148247"/>
            <a:chOff x="0" y="0"/>
            <a:chExt cx="197663" cy="197663"/>
          </a:xfrm>
        </p:grpSpPr>
        <p:sp>
          <p:nvSpPr>
            <p:cNvPr name="Freeform 335" id="335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36" id="336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7" id="337"/>
          <p:cNvGrpSpPr/>
          <p:nvPr/>
        </p:nvGrpSpPr>
        <p:grpSpPr>
          <a:xfrm rot="0">
            <a:off x="8831694" y="3417656"/>
            <a:ext cx="329441" cy="178451"/>
            <a:chOff x="0" y="0"/>
            <a:chExt cx="439255" cy="237934"/>
          </a:xfrm>
        </p:grpSpPr>
        <p:sp>
          <p:nvSpPr>
            <p:cNvPr name="Freeform 338" id="338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39" id="339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1.1k</a:t>
              </a:r>
            </a:p>
          </p:txBody>
        </p:sp>
      </p:grpSp>
      <p:grpSp>
        <p:nvGrpSpPr>
          <p:cNvPr name="Group 340" id="340"/>
          <p:cNvGrpSpPr/>
          <p:nvPr/>
        </p:nvGrpSpPr>
        <p:grpSpPr>
          <a:xfrm rot="0">
            <a:off x="8900322" y="4456614"/>
            <a:ext cx="192176" cy="192176"/>
            <a:chOff x="0" y="0"/>
            <a:chExt cx="256235" cy="256235"/>
          </a:xfrm>
        </p:grpSpPr>
        <p:sp>
          <p:nvSpPr>
            <p:cNvPr name="Freeform 341" id="341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42" id="342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343" id="343"/>
          <p:cNvGrpSpPr/>
          <p:nvPr/>
        </p:nvGrpSpPr>
        <p:grpSpPr>
          <a:xfrm rot="0">
            <a:off x="9419358" y="3474272"/>
            <a:ext cx="148247" cy="148247"/>
            <a:chOff x="0" y="0"/>
            <a:chExt cx="197663" cy="197663"/>
          </a:xfrm>
        </p:grpSpPr>
        <p:sp>
          <p:nvSpPr>
            <p:cNvPr name="Freeform 344" id="344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45" id="345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6" id="346"/>
          <p:cNvGrpSpPr/>
          <p:nvPr/>
        </p:nvGrpSpPr>
        <p:grpSpPr>
          <a:xfrm rot="0">
            <a:off x="9328766" y="3287582"/>
            <a:ext cx="329441" cy="178451"/>
            <a:chOff x="0" y="0"/>
            <a:chExt cx="439255" cy="237934"/>
          </a:xfrm>
        </p:grpSpPr>
        <p:sp>
          <p:nvSpPr>
            <p:cNvPr name="Freeform 347" id="347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48" id="348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1.1k</a:t>
              </a:r>
            </a:p>
          </p:txBody>
        </p:sp>
      </p:grpSp>
      <p:grpSp>
        <p:nvGrpSpPr>
          <p:cNvPr name="Group 349" id="349"/>
          <p:cNvGrpSpPr/>
          <p:nvPr/>
        </p:nvGrpSpPr>
        <p:grpSpPr>
          <a:xfrm rot="0">
            <a:off x="9397394" y="4456614"/>
            <a:ext cx="192176" cy="192176"/>
            <a:chOff x="0" y="0"/>
            <a:chExt cx="256235" cy="256235"/>
          </a:xfrm>
        </p:grpSpPr>
        <p:sp>
          <p:nvSpPr>
            <p:cNvPr name="Freeform 350" id="350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51" id="351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352" id="352"/>
          <p:cNvGrpSpPr/>
          <p:nvPr/>
        </p:nvGrpSpPr>
        <p:grpSpPr>
          <a:xfrm rot="0">
            <a:off x="9916430" y="3325616"/>
            <a:ext cx="148247" cy="148247"/>
            <a:chOff x="0" y="0"/>
            <a:chExt cx="197663" cy="197663"/>
          </a:xfrm>
        </p:grpSpPr>
        <p:sp>
          <p:nvSpPr>
            <p:cNvPr name="Freeform 353" id="353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54" id="354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5" id="355"/>
          <p:cNvGrpSpPr/>
          <p:nvPr/>
        </p:nvGrpSpPr>
        <p:grpSpPr>
          <a:xfrm rot="0">
            <a:off x="9825838" y="3138935"/>
            <a:ext cx="329441" cy="178451"/>
            <a:chOff x="0" y="0"/>
            <a:chExt cx="439255" cy="237934"/>
          </a:xfrm>
        </p:grpSpPr>
        <p:sp>
          <p:nvSpPr>
            <p:cNvPr name="Freeform 356" id="356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57" id="357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1.2k</a:t>
              </a:r>
            </a:p>
          </p:txBody>
        </p:sp>
      </p:grpSp>
      <p:grpSp>
        <p:nvGrpSpPr>
          <p:cNvPr name="Group 358" id="358"/>
          <p:cNvGrpSpPr/>
          <p:nvPr/>
        </p:nvGrpSpPr>
        <p:grpSpPr>
          <a:xfrm rot="0">
            <a:off x="9894475" y="4456614"/>
            <a:ext cx="192176" cy="192176"/>
            <a:chOff x="0" y="0"/>
            <a:chExt cx="256235" cy="256235"/>
          </a:xfrm>
        </p:grpSpPr>
        <p:sp>
          <p:nvSpPr>
            <p:cNvPr name="Freeform 359" id="359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60" id="360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361" id="361"/>
          <p:cNvGrpSpPr/>
          <p:nvPr/>
        </p:nvGrpSpPr>
        <p:grpSpPr>
          <a:xfrm rot="0">
            <a:off x="10413511" y="3176969"/>
            <a:ext cx="148247" cy="148247"/>
            <a:chOff x="0" y="0"/>
            <a:chExt cx="197663" cy="197663"/>
          </a:xfrm>
        </p:grpSpPr>
        <p:sp>
          <p:nvSpPr>
            <p:cNvPr name="Freeform 362" id="362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63" id="363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4" id="364"/>
          <p:cNvGrpSpPr/>
          <p:nvPr/>
        </p:nvGrpSpPr>
        <p:grpSpPr>
          <a:xfrm rot="0">
            <a:off x="10322909" y="2990278"/>
            <a:ext cx="329441" cy="178451"/>
            <a:chOff x="0" y="0"/>
            <a:chExt cx="439255" cy="237934"/>
          </a:xfrm>
        </p:grpSpPr>
        <p:sp>
          <p:nvSpPr>
            <p:cNvPr name="Freeform 365" id="365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66" id="366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1.3k</a:t>
              </a:r>
            </a:p>
          </p:txBody>
        </p:sp>
      </p:grpSp>
      <p:grpSp>
        <p:nvGrpSpPr>
          <p:cNvPr name="Group 367" id="367"/>
          <p:cNvGrpSpPr/>
          <p:nvPr/>
        </p:nvGrpSpPr>
        <p:grpSpPr>
          <a:xfrm rot="0">
            <a:off x="10391546" y="4456614"/>
            <a:ext cx="192176" cy="192176"/>
            <a:chOff x="0" y="0"/>
            <a:chExt cx="256235" cy="256235"/>
          </a:xfrm>
        </p:grpSpPr>
        <p:sp>
          <p:nvSpPr>
            <p:cNvPr name="Freeform 368" id="368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69" id="369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</a:p>
          </p:txBody>
        </p:sp>
      </p:grpSp>
      <p:grpSp>
        <p:nvGrpSpPr>
          <p:cNvPr name="Group 370" id="370"/>
          <p:cNvGrpSpPr/>
          <p:nvPr/>
        </p:nvGrpSpPr>
        <p:grpSpPr>
          <a:xfrm rot="0">
            <a:off x="10910583" y="3046895"/>
            <a:ext cx="148247" cy="148247"/>
            <a:chOff x="0" y="0"/>
            <a:chExt cx="197663" cy="197663"/>
          </a:xfrm>
        </p:grpSpPr>
        <p:sp>
          <p:nvSpPr>
            <p:cNvPr name="Freeform 371" id="371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72" id="372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3" id="373"/>
          <p:cNvGrpSpPr/>
          <p:nvPr/>
        </p:nvGrpSpPr>
        <p:grpSpPr>
          <a:xfrm rot="0">
            <a:off x="10819981" y="2860215"/>
            <a:ext cx="329441" cy="178451"/>
            <a:chOff x="0" y="0"/>
            <a:chExt cx="439255" cy="237934"/>
          </a:xfrm>
        </p:grpSpPr>
        <p:sp>
          <p:nvSpPr>
            <p:cNvPr name="Freeform 374" id="374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75" id="375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1.4k</a:t>
              </a:r>
            </a:p>
          </p:txBody>
        </p:sp>
      </p:grpSp>
      <p:grpSp>
        <p:nvGrpSpPr>
          <p:cNvPr name="Group 376" id="376"/>
          <p:cNvGrpSpPr/>
          <p:nvPr/>
        </p:nvGrpSpPr>
        <p:grpSpPr>
          <a:xfrm rot="0">
            <a:off x="10888618" y="4456614"/>
            <a:ext cx="192176" cy="192176"/>
            <a:chOff x="0" y="0"/>
            <a:chExt cx="256235" cy="256235"/>
          </a:xfrm>
        </p:grpSpPr>
        <p:sp>
          <p:nvSpPr>
            <p:cNvPr name="Freeform 377" id="377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78" id="378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</a:p>
          </p:txBody>
        </p:sp>
      </p:grpSp>
      <p:grpSp>
        <p:nvGrpSpPr>
          <p:cNvPr name="Group 379" id="379"/>
          <p:cNvGrpSpPr/>
          <p:nvPr/>
        </p:nvGrpSpPr>
        <p:grpSpPr>
          <a:xfrm rot="0">
            <a:off x="11407654" y="2916822"/>
            <a:ext cx="148247" cy="148247"/>
            <a:chOff x="0" y="0"/>
            <a:chExt cx="197663" cy="197663"/>
          </a:xfrm>
        </p:grpSpPr>
        <p:sp>
          <p:nvSpPr>
            <p:cNvPr name="Freeform 380" id="380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81" id="381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2" id="382"/>
          <p:cNvGrpSpPr/>
          <p:nvPr/>
        </p:nvGrpSpPr>
        <p:grpSpPr>
          <a:xfrm rot="0">
            <a:off x="11317062" y="2730141"/>
            <a:ext cx="329441" cy="178451"/>
            <a:chOff x="0" y="0"/>
            <a:chExt cx="439255" cy="237934"/>
          </a:xfrm>
        </p:grpSpPr>
        <p:sp>
          <p:nvSpPr>
            <p:cNvPr name="Freeform 383" id="383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84" id="384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1.4k</a:t>
              </a:r>
            </a:p>
          </p:txBody>
        </p:sp>
      </p:grpSp>
      <p:grpSp>
        <p:nvGrpSpPr>
          <p:cNvPr name="Group 385" id="385"/>
          <p:cNvGrpSpPr/>
          <p:nvPr/>
        </p:nvGrpSpPr>
        <p:grpSpPr>
          <a:xfrm rot="0">
            <a:off x="11385690" y="4456614"/>
            <a:ext cx="192176" cy="192176"/>
            <a:chOff x="0" y="0"/>
            <a:chExt cx="256235" cy="256235"/>
          </a:xfrm>
        </p:grpSpPr>
        <p:sp>
          <p:nvSpPr>
            <p:cNvPr name="Freeform 386" id="386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87" id="387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</a:t>
              </a:r>
            </a:p>
          </p:txBody>
        </p:sp>
      </p:grpSp>
      <p:grpSp>
        <p:nvGrpSpPr>
          <p:cNvPr name="Group 388" id="388"/>
          <p:cNvGrpSpPr/>
          <p:nvPr/>
        </p:nvGrpSpPr>
        <p:grpSpPr>
          <a:xfrm rot="0">
            <a:off x="11904726" y="2675268"/>
            <a:ext cx="148247" cy="148247"/>
            <a:chOff x="0" y="0"/>
            <a:chExt cx="197663" cy="197663"/>
          </a:xfrm>
        </p:grpSpPr>
        <p:sp>
          <p:nvSpPr>
            <p:cNvPr name="Freeform 389" id="389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Freeform 390" id="390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1" id="391"/>
          <p:cNvGrpSpPr/>
          <p:nvPr/>
        </p:nvGrpSpPr>
        <p:grpSpPr>
          <a:xfrm rot="0">
            <a:off x="11814134" y="2488578"/>
            <a:ext cx="329441" cy="178451"/>
            <a:chOff x="0" y="0"/>
            <a:chExt cx="439255" cy="237934"/>
          </a:xfrm>
        </p:grpSpPr>
        <p:sp>
          <p:nvSpPr>
            <p:cNvPr name="Freeform 392" id="392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393" id="393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1.6k</a:t>
              </a:r>
            </a:p>
          </p:txBody>
        </p:sp>
      </p:grpSp>
      <p:grpSp>
        <p:nvGrpSpPr>
          <p:cNvPr name="Group 394" id="394"/>
          <p:cNvGrpSpPr/>
          <p:nvPr/>
        </p:nvGrpSpPr>
        <p:grpSpPr>
          <a:xfrm rot="0">
            <a:off x="11882771" y="4456614"/>
            <a:ext cx="192176" cy="192176"/>
            <a:chOff x="0" y="0"/>
            <a:chExt cx="256235" cy="256235"/>
          </a:xfrm>
        </p:grpSpPr>
        <p:sp>
          <p:nvSpPr>
            <p:cNvPr name="Freeform 395" id="395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396" id="396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</p:txBody>
        </p:sp>
      </p:grpSp>
      <p:grpSp>
        <p:nvGrpSpPr>
          <p:cNvPr name="Group 397" id="397"/>
          <p:cNvGrpSpPr/>
          <p:nvPr/>
        </p:nvGrpSpPr>
        <p:grpSpPr>
          <a:xfrm rot="0">
            <a:off x="6511042" y="4429154"/>
            <a:ext cx="5467807" cy="8239"/>
            <a:chOff x="0" y="0"/>
            <a:chExt cx="7290410" cy="10986"/>
          </a:xfrm>
        </p:grpSpPr>
        <p:sp>
          <p:nvSpPr>
            <p:cNvPr name="Freeform 398" id="398"/>
            <p:cNvSpPr/>
            <p:nvPr/>
          </p:nvSpPr>
          <p:spPr>
            <a:xfrm flipH="false" flipV="false" rot="0">
              <a:off x="0" y="0"/>
              <a:ext cx="7290435" cy="10922"/>
            </a:xfrm>
            <a:custGeom>
              <a:avLst/>
              <a:gdLst/>
              <a:ahLst/>
              <a:cxnLst/>
              <a:rect r="r" b="b" t="t" l="l"/>
              <a:pathLst>
                <a:path h="10922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10922"/>
                  </a:lnTo>
                  <a:lnTo>
                    <a:pt x="0" y="10922"/>
                  </a:lnTo>
                  <a:close/>
                </a:path>
              </a:pathLst>
            </a:custGeom>
            <a:solidFill>
              <a:srgbClr val="AACCBB"/>
            </a:solidFill>
          </p:spPr>
        </p:sp>
      </p:grpSp>
      <p:grpSp>
        <p:nvGrpSpPr>
          <p:cNvPr name="Group 399" id="399"/>
          <p:cNvGrpSpPr/>
          <p:nvPr/>
        </p:nvGrpSpPr>
        <p:grpSpPr>
          <a:xfrm rot="0">
            <a:off x="6277689" y="4511516"/>
            <a:ext cx="5742346" cy="192176"/>
            <a:chOff x="0" y="0"/>
            <a:chExt cx="7656462" cy="256235"/>
          </a:xfrm>
        </p:grpSpPr>
        <p:sp>
          <p:nvSpPr>
            <p:cNvPr name="Freeform 400" id="400"/>
            <p:cNvSpPr/>
            <p:nvPr/>
          </p:nvSpPr>
          <p:spPr>
            <a:xfrm flipH="false" flipV="false" rot="0">
              <a:off x="0" y="0"/>
              <a:ext cx="7656461" cy="256232"/>
            </a:xfrm>
            <a:custGeom>
              <a:avLst/>
              <a:gdLst/>
              <a:ahLst/>
              <a:cxnLst/>
              <a:rect r="r" b="b" t="t" l="l"/>
              <a:pathLst>
                <a:path h="256232" w="7656461">
                  <a:moveTo>
                    <a:pt x="0" y="0"/>
                  </a:moveTo>
                  <a:lnTo>
                    <a:pt x="7656461" y="0"/>
                  </a:lnTo>
                  <a:lnTo>
                    <a:pt x="765646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230" r="0" b="-532232"/>
              </a:stretch>
            </a:blipFill>
          </p:spPr>
        </p:sp>
        <p:sp>
          <p:nvSpPr>
            <p:cNvPr name="TextBox 401" id="401"/>
            <p:cNvSpPr txBox="true"/>
            <p:nvPr/>
          </p:nvSpPr>
          <p:spPr>
            <a:xfrm>
              <a:off x="0" y="-19050"/>
              <a:ext cx="7656462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i="true">
                  <a:solidFill>
                    <a:srgbClr val="7777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1.55M bags in Dec — +128% vs Jan</a:t>
              </a:r>
            </a:p>
          </p:txBody>
        </p:sp>
      </p:grpSp>
      <p:grpSp>
        <p:nvGrpSpPr>
          <p:cNvPr name="Group 402" id="402"/>
          <p:cNvGrpSpPr/>
          <p:nvPr/>
        </p:nvGrpSpPr>
        <p:grpSpPr>
          <a:xfrm rot="0">
            <a:off x="12219927" y="2162813"/>
            <a:ext cx="5891622" cy="2574331"/>
            <a:chOff x="0" y="0"/>
            <a:chExt cx="7855496" cy="3432442"/>
          </a:xfrm>
        </p:grpSpPr>
        <p:sp>
          <p:nvSpPr>
            <p:cNvPr name="Freeform 403" id="403"/>
            <p:cNvSpPr/>
            <p:nvPr/>
          </p:nvSpPr>
          <p:spPr>
            <a:xfrm flipH="false" flipV="false" rot="0">
              <a:off x="8001" y="8001"/>
              <a:ext cx="783945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3416427"/>
                  </a:lnTo>
                  <a:lnTo>
                    <a:pt x="0" y="3416427"/>
                  </a:lnTo>
                  <a:close/>
                </a:path>
              </a:pathLst>
            </a:custGeom>
            <a:solidFill>
              <a:srgbClr val="F6FDF8"/>
            </a:solidFill>
          </p:spPr>
        </p:sp>
        <p:sp>
          <p:nvSpPr>
            <p:cNvPr name="Freeform 404" id="404"/>
            <p:cNvSpPr/>
            <p:nvPr/>
          </p:nvSpPr>
          <p:spPr>
            <a:xfrm flipH="false" flipV="false" rot="0">
              <a:off x="0" y="0"/>
              <a:ext cx="7855458" cy="3432429"/>
            </a:xfrm>
            <a:custGeom>
              <a:avLst/>
              <a:gdLst/>
              <a:ahLst/>
              <a:cxnLst/>
              <a:rect r="r" b="b" t="t" l="l"/>
              <a:pathLst>
                <a:path h="3432429" w="7855458">
                  <a:moveTo>
                    <a:pt x="8001" y="0"/>
                  </a:moveTo>
                  <a:lnTo>
                    <a:pt x="7847457" y="0"/>
                  </a:lnTo>
                  <a:cubicBezTo>
                    <a:pt x="7851901" y="0"/>
                    <a:pt x="7855458" y="3556"/>
                    <a:pt x="7855458" y="8001"/>
                  </a:cubicBezTo>
                  <a:lnTo>
                    <a:pt x="7855458" y="3424428"/>
                  </a:lnTo>
                  <a:cubicBezTo>
                    <a:pt x="7855458" y="3428873"/>
                    <a:pt x="7851901" y="3432429"/>
                    <a:pt x="7847457" y="3432429"/>
                  </a:cubicBezTo>
                  <a:lnTo>
                    <a:pt x="8001" y="3432429"/>
                  </a:lnTo>
                  <a:cubicBezTo>
                    <a:pt x="3556" y="3432429"/>
                    <a:pt x="0" y="3428873"/>
                    <a:pt x="0" y="3424428"/>
                  </a:cubicBezTo>
                  <a:lnTo>
                    <a:pt x="0" y="8001"/>
                  </a:lnTo>
                  <a:cubicBezTo>
                    <a:pt x="0" y="3556"/>
                    <a:pt x="3556" y="0"/>
                    <a:pt x="8001" y="0"/>
                  </a:cubicBezTo>
                  <a:moveTo>
                    <a:pt x="8001" y="16002"/>
                  </a:moveTo>
                  <a:lnTo>
                    <a:pt x="8001" y="8001"/>
                  </a:lnTo>
                  <a:lnTo>
                    <a:pt x="16002" y="8001"/>
                  </a:lnTo>
                  <a:lnTo>
                    <a:pt x="16002" y="3424428"/>
                  </a:lnTo>
                  <a:lnTo>
                    <a:pt x="8001" y="3424428"/>
                  </a:lnTo>
                  <a:lnTo>
                    <a:pt x="8001" y="3416427"/>
                  </a:lnTo>
                  <a:lnTo>
                    <a:pt x="7847457" y="3416427"/>
                  </a:lnTo>
                  <a:lnTo>
                    <a:pt x="7847457" y="3424428"/>
                  </a:lnTo>
                  <a:lnTo>
                    <a:pt x="7839456" y="3424428"/>
                  </a:lnTo>
                  <a:lnTo>
                    <a:pt x="7839456" y="8001"/>
                  </a:lnTo>
                  <a:lnTo>
                    <a:pt x="7847457" y="8001"/>
                  </a:lnTo>
                  <a:lnTo>
                    <a:pt x="7847457" y="16002"/>
                  </a:lnTo>
                  <a:lnTo>
                    <a:pt x="8001" y="1600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405" id="405"/>
          <p:cNvGrpSpPr/>
          <p:nvPr/>
        </p:nvGrpSpPr>
        <p:grpSpPr>
          <a:xfrm rot="0">
            <a:off x="12225938" y="2168823"/>
            <a:ext cx="5879611" cy="356892"/>
            <a:chOff x="0" y="0"/>
            <a:chExt cx="7839481" cy="475856"/>
          </a:xfrm>
        </p:grpSpPr>
        <p:sp>
          <p:nvSpPr>
            <p:cNvPr name="Freeform 406" id="406"/>
            <p:cNvSpPr/>
            <p:nvPr/>
          </p:nvSpPr>
          <p:spPr>
            <a:xfrm flipH="false" flipV="false" rot="0">
              <a:off x="0" y="0"/>
              <a:ext cx="7839456" cy="475869"/>
            </a:xfrm>
            <a:custGeom>
              <a:avLst/>
              <a:gdLst/>
              <a:ahLst/>
              <a:cxnLst/>
              <a:rect r="r" b="b" t="t" l="l"/>
              <a:pathLst>
                <a:path h="475869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407" id="407"/>
          <p:cNvGrpSpPr/>
          <p:nvPr/>
        </p:nvGrpSpPr>
        <p:grpSpPr>
          <a:xfrm rot="0">
            <a:off x="12335751" y="2223726"/>
            <a:ext cx="5714895" cy="274539"/>
            <a:chOff x="0" y="0"/>
            <a:chExt cx="7619860" cy="366052"/>
          </a:xfrm>
        </p:grpSpPr>
        <p:sp>
          <p:nvSpPr>
            <p:cNvPr name="Freeform 408" id="408"/>
            <p:cNvSpPr/>
            <p:nvPr/>
          </p:nvSpPr>
          <p:spPr>
            <a:xfrm flipH="false" flipV="false" rot="0">
              <a:off x="0" y="0"/>
              <a:ext cx="7619857" cy="366046"/>
            </a:xfrm>
            <a:custGeom>
              <a:avLst/>
              <a:gdLst/>
              <a:ahLst/>
              <a:cxnLst/>
              <a:rect r="r" b="b" t="t" l="l"/>
              <a:pathLst>
                <a:path h="366046" w="7619857">
                  <a:moveTo>
                    <a:pt x="0" y="0"/>
                  </a:moveTo>
                  <a:lnTo>
                    <a:pt x="7619857" y="0"/>
                  </a:lnTo>
                  <a:lnTo>
                    <a:pt x="76198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12" r="0" b="-355614"/>
              </a:stretch>
            </a:blipFill>
          </p:spPr>
        </p:sp>
        <p:sp>
          <p:nvSpPr>
            <p:cNvPr name="TextBox 409" id="409"/>
            <p:cNvSpPr txBox="true"/>
            <p:nvPr/>
          </p:nvSpPr>
          <p:spPr>
            <a:xfrm>
              <a:off x="0" y="-19050"/>
              <a:ext cx="7619860" cy="38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🥧  Partner Activation Rate  —  December 2024</a:t>
              </a:r>
            </a:p>
          </p:txBody>
        </p:sp>
      </p:grpSp>
      <p:grpSp>
        <p:nvGrpSpPr>
          <p:cNvPr name="Group 410" id="410"/>
          <p:cNvGrpSpPr/>
          <p:nvPr/>
        </p:nvGrpSpPr>
        <p:grpSpPr>
          <a:xfrm rot="0">
            <a:off x="15165743" y="2790368"/>
            <a:ext cx="147018" cy="838057"/>
            <a:chOff x="0" y="0"/>
            <a:chExt cx="196024" cy="1117410"/>
          </a:xfrm>
        </p:grpSpPr>
        <p:sp>
          <p:nvSpPr>
            <p:cNvPr name="Freeform 411" id="411"/>
            <p:cNvSpPr/>
            <p:nvPr/>
          </p:nvSpPr>
          <p:spPr>
            <a:xfrm flipH="false" flipV="false" rot="0">
              <a:off x="0" y="0"/>
              <a:ext cx="195961" cy="1117473"/>
            </a:xfrm>
            <a:custGeom>
              <a:avLst/>
              <a:gdLst/>
              <a:ahLst/>
              <a:cxnLst/>
              <a:rect r="r" b="b" t="t" l="l"/>
              <a:pathLst>
                <a:path h="1117473" w="195961">
                  <a:moveTo>
                    <a:pt x="0" y="0"/>
                  </a:moveTo>
                  <a:lnTo>
                    <a:pt x="195961" y="0"/>
                  </a:lnTo>
                  <a:lnTo>
                    <a:pt x="195961" y="1117473"/>
                  </a:lnTo>
                  <a:lnTo>
                    <a:pt x="0" y="1117473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12" id="412"/>
          <p:cNvGrpSpPr/>
          <p:nvPr/>
        </p:nvGrpSpPr>
        <p:grpSpPr>
          <a:xfrm rot="0">
            <a:off x="15165743" y="2803360"/>
            <a:ext cx="289474" cy="825065"/>
            <a:chOff x="0" y="0"/>
            <a:chExt cx="385966" cy="1100087"/>
          </a:xfrm>
        </p:grpSpPr>
        <p:sp>
          <p:nvSpPr>
            <p:cNvPr name="Freeform 413" id="413"/>
            <p:cNvSpPr/>
            <p:nvPr/>
          </p:nvSpPr>
          <p:spPr>
            <a:xfrm flipH="false" flipV="false" rot="0">
              <a:off x="0" y="0"/>
              <a:ext cx="385953" cy="1100074"/>
            </a:xfrm>
            <a:custGeom>
              <a:avLst/>
              <a:gdLst/>
              <a:ahLst/>
              <a:cxnLst/>
              <a:rect r="r" b="b" t="t" l="l"/>
              <a:pathLst>
                <a:path h="1100074" w="385953">
                  <a:moveTo>
                    <a:pt x="0" y="0"/>
                  </a:moveTo>
                  <a:lnTo>
                    <a:pt x="385953" y="0"/>
                  </a:lnTo>
                  <a:lnTo>
                    <a:pt x="385953" y="1100074"/>
                  </a:lnTo>
                  <a:lnTo>
                    <a:pt x="0" y="1100074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14" id="414"/>
          <p:cNvGrpSpPr/>
          <p:nvPr/>
        </p:nvGrpSpPr>
        <p:grpSpPr>
          <a:xfrm rot="0">
            <a:off x="15165743" y="2841946"/>
            <a:ext cx="422948" cy="786479"/>
            <a:chOff x="0" y="0"/>
            <a:chExt cx="563931" cy="1048639"/>
          </a:xfrm>
        </p:grpSpPr>
        <p:sp>
          <p:nvSpPr>
            <p:cNvPr name="Freeform 415" id="415"/>
            <p:cNvSpPr/>
            <p:nvPr/>
          </p:nvSpPr>
          <p:spPr>
            <a:xfrm flipH="false" flipV="false" rot="0">
              <a:off x="0" y="0"/>
              <a:ext cx="563880" cy="1048639"/>
            </a:xfrm>
            <a:custGeom>
              <a:avLst/>
              <a:gdLst/>
              <a:ahLst/>
              <a:cxnLst/>
              <a:rect r="r" b="b" t="t" l="l"/>
              <a:pathLst>
                <a:path h="1048639" w="563880">
                  <a:moveTo>
                    <a:pt x="0" y="0"/>
                  </a:moveTo>
                  <a:lnTo>
                    <a:pt x="563880" y="0"/>
                  </a:lnTo>
                  <a:lnTo>
                    <a:pt x="563880" y="1048639"/>
                  </a:lnTo>
                  <a:lnTo>
                    <a:pt x="0" y="1048639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16" id="416"/>
          <p:cNvGrpSpPr/>
          <p:nvPr/>
        </p:nvGrpSpPr>
        <p:grpSpPr>
          <a:xfrm rot="0">
            <a:off x="15165743" y="2904925"/>
            <a:ext cx="543306" cy="723509"/>
            <a:chOff x="0" y="0"/>
            <a:chExt cx="724408" cy="964679"/>
          </a:xfrm>
        </p:grpSpPr>
        <p:sp>
          <p:nvSpPr>
            <p:cNvPr name="Freeform 417" id="417"/>
            <p:cNvSpPr/>
            <p:nvPr/>
          </p:nvSpPr>
          <p:spPr>
            <a:xfrm flipH="false" flipV="false" rot="0">
              <a:off x="0" y="0"/>
              <a:ext cx="724408" cy="964692"/>
            </a:xfrm>
            <a:custGeom>
              <a:avLst/>
              <a:gdLst/>
              <a:ahLst/>
              <a:cxnLst/>
              <a:rect r="r" b="b" t="t" l="l"/>
              <a:pathLst>
                <a:path h="964692" w="724408">
                  <a:moveTo>
                    <a:pt x="0" y="0"/>
                  </a:moveTo>
                  <a:lnTo>
                    <a:pt x="724408" y="0"/>
                  </a:lnTo>
                  <a:lnTo>
                    <a:pt x="724408" y="964692"/>
                  </a:lnTo>
                  <a:lnTo>
                    <a:pt x="0" y="964692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18" id="418"/>
          <p:cNvGrpSpPr/>
          <p:nvPr/>
        </p:nvGrpSpPr>
        <p:grpSpPr>
          <a:xfrm rot="0">
            <a:off x="15165743" y="2990336"/>
            <a:ext cx="646824" cy="638089"/>
            <a:chOff x="0" y="0"/>
            <a:chExt cx="862432" cy="850786"/>
          </a:xfrm>
        </p:grpSpPr>
        <p:sp>
          <p:nvSpPr>
            <p:cNvPr name="Freeform 419" id="419"/>
            <p:cNvSpPr/>
            <p:nvPr/>
          </p:nvSpPr>
          <p:spPr>
            <a:xfrm flipH="false" flipV="false" rot="0">
              <a:off x="0" y="0"/>
              <a:ext cx="862457" cy="850773"/>
            </a:xfrm>
            <a:custGeom>
              <a:avLst/>
              <a:gdLst/>
              <a:ahLst/>
              <a:cxnLst/>
              <a:rect r="r" b="b" t="t" l="l"/>
              <a:pathLst>
                <a:path h="850773" w="862457">
                  <a:moveTo>
                    <a:pt x="0" y="0"/>
                  </a:moveTo>
                  <a:lnTo>
                    <a:pt x="862457" y="0"/>
                  </a:lnTo>
                  <a:lnTo>
                    <a:pt x="862457" y="850773"/>
                  </a:lnTo>
                  <a:lnTo>
                    <a:pt x="0" y="850773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20" id="420"/>
          <p:cNvGrpSpPr/>
          <p:nvPr/>
        </p:nvGrpSpPr>
        <p:grpSpPr>
          <a:xfrm rot="0">
            <a:off x="15165743" y="3095539"/>
            <a:ext cx="730272" cy="532895"/>
            <a:chOff x="0" y="0"/>
            <a:chExt cx="973696" cy="710527"/>
          </a:xfrm>
        </p:grpSpPr>
        <p:sp>
          <p:nvSpPr>
            <p:cNvPr name="Freeform 421" id="421"/>
            <p:cNvSpPr/>
            <p:nvPr/>
          </p:nvSpPr>
          <p:spPr>
            <a:xfrm flipH="false" flipV="false" rot="0">
              <a:off x="0" y="0"/>
              <a:ext cx="973709" cy="710565"/>
            </a:xfrm>
            <a:custGeom>
              <a:avLst/>
              <a:gdLst/>
              <a:ahLst/>
              <a:cxnLst/>
              <a:rect r="r" b="b" t="t" l="l"/>
              <a:pathLst>
                <a:path h="710565" w="973709">
                  <a:moveTo>
                    <a:pt x="0" y="0"/>
                  </a:moveTo>
                  <a:lnTo>
                    <a:pt x="973709" y="0"/>
                  </a:lnTo>
                  <a:lnTo>
                    <a:pt x="973709" y="710565"/>
                  </a:lnTo>
                  <a:lnTo>
                    <a:pt x="0" y="710565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22" id="422"/>
          <p:cNvGrpSpPr/>
          <p:nvPr/>
        </p:nvGrpSpPr>
        <p:grpSpPr>
          <a:xfrm rot="0">
            <a:off x="15165743" y="3217269"/>
            <a:ext cx="791070" cy="411156"/>
            <a:chOff x="0" y="0"/>
            <a:chExt cx="1054760" cy="548208"/>
          </a:xfrm>
        </p:grpSpPr>
        <p:sp>
          <p:nvSpPr>
            <p:cNvPr name="Freeform 423" id="423"/>
            <p:cNvSpPr/>
            <p:nvPr/>
          </p:nvSpPr>
          <p:spPr>
            <a:xfrm flipH="false" flipV="false" rot="0">
              <a:off x="0" y="0"/>
              <a:ext cx="1054735" cy="548259"/>
            </a:xfrm>
            <a:custGeom>
              <a:avLst/>
              <a:gdLst/>
              <a:ahLst/>
              <a:cxnLst/>
              <a:rect r="r" b="b" t="t" l="l"/>
              <a:pathLst>
                <a:path h="548259" w="1054735">
                  <a:moveTo>
                    <a:pt x="0" y="0"/>
                  </a:moveTo>
                  <a:lnTo>
                    <a:pt x="1054735" y="0"/>
                  </a:lnTo>
                  <a:lnTo>
                    <a:pt x="1054735" y="548259"/>
                  </a:lnTo>
                  <a:lnTo>
                    <a:pt x="0" y="548259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24" id="424"/>
          <p:cNvGrpSpPr/>
          <p:nvPr/>
        </p:nvGrpSpPr>
        <p:grpSpPr>
          <a:xfrm rot="0">
            <a:off x="15165743" y="3351752"/>
            <a:ext cx="827342" cy="276682"/>
            <a:chOff x="0" y="0"/>
            <a:chExt cx="1103122" cy="368910"/>
          </a:xfrm>
        </p:grpSpPr>
        <p:sp>
          <p:nvSpPr>
            <p:cNvPr name="Freeform 425" id="425"/>
            <p:cNvSpPr/>
            <p:nvPr/>
          </p:nvSpPr>
          <p:spPr>
            <a:xfrm flipH="false" flipV="false" rot="0">
              <a:off x="0" y="0"/>
              <a:ext cx="1103122" cy="368935"/>
            </a:xfrm>
            <a:custGeom>
              <a:avLst/>
              <a:gdLst/>
              <a:ahLst/>
              <a:cxnLst/>
              <a:rect r="r" b="b" t="t" l="l"/>
              <a:pathLst>
                <a:path h="368935" w="1103122">
                  <a:moveTo>
                    <a:pt x="0" y="0"/>
                  </a:moveTo>
                  <a:lnTo>
                    <a:pt x="1103122" y="0"/>
                  </a:lnTo>
                  <a:lnTo>
                    <a:pt x="1103122" y="368935"/>
                  </a:lnTo>
                  <a:lnTo>
                    <a:pt x="0" y="368935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26" id="426"/>
          <p:cNvGrpSpPr/>
          <p:nvPr/>
        </p:nvGrpSpPr>
        <p:grpSpPr>
          <a:xfrm rot="0">
            <a:off x="15165743" y="3494808"/>
            <a:ext cx="837952" cy="147209"/>
            <a:chOff x="0" y="0"/>
            <a:chExt cx="1117270" cy="196278"/>
          </a:xfrm>
        </p:grpSpPr>
        <p:sp>
          <p:nvSpPr>
            <p:cNvPr name="Freeform 427" id="427"/>
            <p:cNvSpPr/>
            <p:nvPr/>
          </p:nvSpPr>
          <p:spPr>
            <a:xfrm flipH="false" flipV="false" rot="0">
              <a:off x="0" y="0"/>
              <a:ext cx="1117219" cy="196215"/>
            </a:xfrm>
            <a:custGeom>
              <a:avLst/>
              <a:gdLst/>
              <a:ahLst/>
              <a:cxnLst/>
              <a:rect r="r" b="b" t="t" l="l"/>
              <a:pathLst>
                <a:path h="196215" w="1117219">
                  <a:moveTo>
                    <a:pt x="0" y="0"/>
                  </a:moveTo>
                  <a:lnTo>
                    <a:pt x="1117219" y="0"/>
                  </a:lnTo>
                  <a:lnTo>
                    <a:pt x="1117219" y="196215"/>
                  </a:lnTo>
                  <a:lnTo>
                    <a:pt x="0" y="196215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28" id="428"/>
          <p:cNvGrpSpPr/>
          <p:nvPr/>
        </p:nvGrpSpPr>
        <p:grpSpPr>
          <a:xfrm rot="0">
            <a:off x="15165743" y="3628434"/>
            <a:ext cx="837952" cy="160372"/>
            <a:chOff x="0" y="0"/>
            <a:chExt cx="1117270" cy="213830"/>
          </a:xfrm>
        </p:grpSpPr>
        <p:sp>
          <p:nvSpPr>
            <p:cNvPr name="Freeform 429" id="429"/>
            <p:cNvSpPr/>
            <p:nvPr/>
          </p:nvSpPr>
          <p:spPr>
            <a:xfrm flipH="false" flipV="false" rot="0">
              <a:off x="0" y="0"/>
              <a:ext cx="1117219" cy="213868"/>
            </a:xfrm>
            <a:custGeom>
              <a:avLst/>
              <a:gdLst/>
              <a:ahLst/>
              <a:cxnLst/>
              <a:rect r="r" b="b" t="t" l="l"/>
              <a:pathLst>
                <a:path h="213868" w="1117219">
                  <a:moveTo>
                    <a:pt x="0" y="0"/>
                  </a:moveTo>
                  <a:lnTo>
                    <a:pt x="1117219" y="0"/>
                  </a:lnTo>
                  <a:lnTo>
                    <a:pt x="1117219" y="213868"/>
                  </a:lnTo>
                  <a:lnTo>
                    <a:pt x="0" y="213868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30" id="430"/>
          <p:cNvGrpSpPr/>
          <p:nvPr/>
        </p:nvGrpSpPr>
        <p:grpSpPr>
          <a:xfrm rot="0">
            <a:off x="15165743" y="3628434"/>
            <a:ext cx="822569" cy="302181"/>
            <a:chOff x="0" y="0"/>
            <a:chExt cx="1096759" cy="402908"/>
          </a:xfrm>
        </p:grpSpPr>
        <p:sp>
          <p:nvSpPr>
            <p:cNvPr name="Freeform 431" id="431"/>
            <p:cNvSpPr/>
            <p:nvPr/>
          </p:nvSpPr>
          <p:spPr>
            <a:xfrm flipH="false" flipV="false" rot="0">
              <a:off x="0" y="0"/>
              <a:ext cx="1096772" cy="402971"/>
            </a:xfrm>
            <a:custGeom>
              <a:avLst/>
              <a:gdLst/>
              <a:ahLst/>
              <a:cxnLst/>
              <a:rect r="r" b="b" t="t" l="l"/>
              <a:pathLst>
                <a:path h="402971" w="1096772">
                  <a:moveTo>
                    <a:pt x="0" y="0"/>
                  </a:moveTo>
                  <a:lnTo>
                    <a:pt x="1096772" y="0"/>
                  </a:lnTo>
                  <a:lnTo>
                    <a:pt x="1096772" y="402971"/>
                  </a:lnTo>
                  <a:lnTo>
                    <a:pt x="0" y="40297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32" id="432"/>
          <p:cNvGrpSpPr/>
          <p:nvPr/>
        </p:nvGrpSpPr>
        <p:grpSpPr>
          <a:xfrm rot="0">
            <a:off x="15165743" y="3628434"/>
            <a:ext cx="781688" cy="434626"/>
            <a:chOff x="0" y="0"/>
            <a:chExt cx="1042251" cy="579501"/>
          </a:xfrm>
        </p:grpSpPr>
        <p:sp>
          <p:nvSpPr>
            <p:cNvPr name="Freeform 433" id="433"/>
            <p:cNvSpPr/>
            <p:nvPr/>
          </p:nvSpPr>
          <p:spPr>
            <a:xfrm flipH="false" flipV="false" rot="0">
              <a:off x="0" y="0"/>
              <a:ext cx="1042289" cy="579501"/>
            </a:xfrm>
            <a:custGeom>
              <a:avLst/>
              <a:gdLst/>
              <a:ahLst/>
              <a:cxnLst/>
              <a:rect r="r" b="b" t="t" l="l"/>
              <a:pathLst>
                <a:path h="579501" w="1042289">
                  <a:moveTo>
                    <a:pt x="0" y="0"/>
                  </a:moveTo>
                  <a:lnTo>
                    <a:pt x="1042289" y="0"/>
                  </a:lnTo>
                  <a:lnTo>
                    <a:pt x="1042289" y="579501"/>
                  </a:lnTo>
                  <a:lnTo>
                    <a:pt x="0" y="57950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34" id="434"/>
          <p:cNvGrpSpPr/>
          <p:nvPr/>
        </p:nvGrpSpPr>
        <p:grpSpPr>
          <a:xfrm rot="0">
            <a:off x="15165743" y="3628434"/>
            <a:ext cx="716556" cy="553583"/>
            <a:chOff x="0" y="0"/>
            <a:chExt cx="955408" cy="738111"/>
          </a:xfrm>
        </p:grpSpPr>
        <p:sp>
          <p:nvSpPr>
            <p:cNvPr name="Freeform 435" id="435"/>
            <p:cNvSpPr/>
            <p:nvPr/>
          </p:nvSpPr>
          <p:spPr>
            <a:xfrm flipH="false" flipV="false" rot="0">
              <a:off x="0" y="0"/>
              <a:ext cx="955421" cy="738124"/>
            </a:xfrm>
            <a:custGeom>
              <a:avLst/>
              <a:gdLst/>
              <a:ahLst/>
              <a:cxnLst/>
              <a:rect r="r" b="b" t="t" l="l"/>
              <a:pathLst>
                <a:path h="738124" w="955421">
                  <a:moveTo>
                    <a:pt x="0" y="0"/>
                  </a:moveTo>
                  <a:lnTo>
                    <a:pt x="955421" y="0"/>
                  </a:lnTo>
                  <a:lnTo>
                    <a:pt x="955421" y="738124"/>
                  </a:lnTo>
                  <a:lnTo>
                    <a:pt x="0" y="738124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36" id="436"/>
          <p:cNvGrpSpPr/>
          <p:nvPr/>
        </p:nvGrpSpPr>
        <p:grpSpPr>
          <a:xfrm rot="0">
            <a:off x="15165743" y="3628434"/>
            <a:ext cx="629202" cy="655377"/>
            <a:chOff x="0" y="0"/>
            <a:chExt cx="838937" cy="873836"/>
          </a:xfrm>
        </p:grpSpPr>
        <p:sp>
          <p:nvSpPr>
            <p:cNvPr name="Freeform 437" id="437"/>
            <p:cNvSpPr/>
            <p:nvPr/>
          </p:nvSpPr>
          <p:spPr>
            <a:xfrm flipH="false" flipV="false" rot="0">
              <a:off x="0" y="0"/>
              <a:ext cx="838962" cy="873887"/>
            </a:xfrm>
            <a:custGeom>
              <a:avLst/>
              <a:gdLst/>
              <a:ahLst/>
              <a:cxnLst/>
              <a:rect r="r" b="b" t="t" l="l"/>
              <a:pathLst>
                <a:path h="873887" w="838962">
                  <a:moveTo>
                    <a:pt x="0" y="0"/>
                  </a:moveTo>
                  <a:lnTo>
                    <a:pt x="838962" y="0"/>
                  </a:lnTo>
                  <a:lnTo>
                    <a:pt x="838962" y="873887"/>
                  </a:lnTo>
                  <a:lnTo>
                    <a:pt x="0" y="87388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38" id="438"/>
          <p:cNvGrpSpPr/>
          <p:nvPr/>
        </p:nvGrpSpPr>
        <p:grpSpPr>
          <a:xfrm rot="0">
            <a:off x="15165743" y="3628434"/>
            <a:ext cx="522332" cy="736844"/>
            <a:chOff x="0" y="0"/>
            <a:chExt cx="696443" cy="982459"/>
          </a:xfrm>
        </p:grpSpPr>
        <p:sp>
          <p:nvSpPr>
            <p:cNvPr name="Freeform 439" id="439"/>
            <p:cNvSpPr/>
            <p:nvPr/>
          </p:nvSpPr>
          <p:spPr>
            <a:xfrm flipH="false" flipV="false" rot="0">
              <a:off x="0" y="0"/>
              <a:ext cx="696468" cy="982472"/>
            </a:xfrm>
            <a:custGeom>
              <a:avLst/>
              <a:gdLst/>
              <a:ahLst/>
              <a:cxnLst/>
              <a:rect r="r" b="b" t="t" l="l"/>
              <a:pathLst>
                <a:path h="982472" w="696468">
                  <a:moveTo>
                    <a:pt x="0" y="0"/>
                  </a:moveTo>
                  <a:lnTo>
                    <a:pt x="696468" y="0"/>
                  </a:lnTo>
                  <a:lnTo>
                    <a:pt x="696468" y="982472"/>
                  </a:lnTo>
                  <a:lnTo>
                    <a:pt x="0" y="982472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40" id="440"/>
          <p:cNvGrpSpPr/>
          <p:nvPr/>
        </p:nvGrpSpPr>
        <p:grpSpPr>
          <a:xfrm rot="0">
            <a:off x="15165743" y="3628434"/>
            <a:ext cx="399269" cy="795452"/>
            <a:chOff x="0" y="0"/>
            <a:chExt cx="532359" cy="1060602"/>
          </a:xfrm>
        </p:grpSpPr>
        <p:sp>
          <p:nvSpPr>
            <p:cNvPr name="Freeform 441" id="441"/>
            <p:cNvSpPr/>
            <p:nvPr/>
          </p:nvSpPr>
          <p:spPr>
            <a:xfrm flipH="false" flipV="false" rot="0">
              <a:off x="0" y="0"/>
              <a:ext cx="532384" cy="1060577"/>
            </a:xfrm>
            <a:custGeom>
              <a:avLst/>
              <a:gdLst/>
              <a:ahLst/>
              <a:cxnLst/>
              <a:rect r="r" b="b" t="t" l="l"/>
              <a:pathLst>
                <a:path h="1060577" w="532384">
                  <a:moveTo>
                    <a:pt x="0" y="0"/>
                  </a:moveTo>
                  <a:lnTo>
                    <a:pt x="532384" y="0"/>
                  </a:lnTo>
                  <a:lnTo>
                    <a:pt x="532384" y="1060577"/>
                  </a:lnTo>
                  <a:lnTo>
                    <a:pt x="0" y="106057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42" id="442"/>
          <p:cNvGrpSpPr/>
          <p:nvPr/>
        </p:nvGrpSpPr>
        <p:grpSpPr>
          <a:xfrm rot="0">
            <a:off x="15165743" y="3628434"/>
            <a:ext cx="263814" cy="829399"/>
            <a:chOff x="0" y="0"/>
            <a:chExt cx="351752" cy="1105865"/>
          </a:xfrm>
        </p:grpSpPr>
        <p:sp>
          <p:nvSpPr>
            <p:cNvPr name="Freeform 443" id="443"/>
            <p:cNvSpPr/>
            <p:nvPr/>
          </p:nvSpPr>
          <p:spPr>
            <a:xfrm flipH="false" flipV="false" rot="0">
              <a:off x="0" y="0"/>
              <a:ext cx="351790" cy="1105916"/>
            </a:xfrm>
            <a:custGeom>
              <a:avLst/>
              <a:gdLst/>
              <a:ahLst/>
              <a:cxnLst/>
              <a:rect r="r" b="b" t="t" l="l"/>
              <a:pathLst>
                <a:path h="1105916" w="351790">
                  <a:moveTo>
                    <a:pt x="0" y="0"/>
                  </a:moveTo>
                  <a:lnTo>
                    <a:pt x="351790" y="0"/>
                  </a:lnTo>
                  <a:lnTo>
                    <a:pt x="351790" y="1105916"/>
                  </a:lnTo>
                  <a:lnTo>
                    <a:pt x="0" y="1105916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44" id="444"/>
          <p:cNvGrpSpPr/>
          <p:nvPr/>
        </p:nvGrpSpPr>
        <p:grpSpPr>
          <a:xfrm rot="0">
            <a:off x="15138568" y="3628434"/>
            <a:ext cx="147361" cy="837619"/>
            <a:chOff x="0" y="0"/>
            <a:chExt cx="196482" cy="1116825"/>
          </a:xfrm>
        </p:grpSpPr>
        <p:sp>
          <p:nvSpPr>
            <p:cNvPr name="Freeform 445" id="445"/>
            <p:cNvSpPr/>
            <p:nvPr/>
          </p:nvSpPr>
          <p:spPr>
            <a:xfrm flipH="false" flipV="false" rot="0">
              <a:off x="0" y="0"/>
              <a:ext cx="196469" cy="1116838"/>
            </a:xfrm>
            <a:custGeom>
              <a:avLst/>
              <a:gdLst/>
              <a:ahLst/>
              <a:cxnLst/>
              <a:rect r="r" b="b" t="t" l="l"/>
              <a:pathLst>
                <a:path h="1116838" w="196469">
                  <a:moveTo>
                    <a:pt x="0" y="0"/>
                  </a:moveTo>
                  <a:lnTo>
                    <a:pt x="196469" y="0"/>
                  </a:lnTo>
                  <a:lnTo>
                    <a:pt x="196469" y="1116838"/>
                  </a:lnTo>
                  <a:lnTo>
                    <a:pt x="0" y="1116838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46" id="446"/>
          <p:cNvGrpSpPr/>
          <p:nvPr/>
        </p:nvGrpSpPr>
        <p:grpSpPr>
          <a:xfrm rot="0">
            <a:off x="14992055" y="3628434"/>
            <a:ext cx="173688" cy="837619"/>
            <a:chOff x="0" y="0"/>
            <a:chExt cx="231584" cy="1116825"/>
          </a:xfrm>
        </p:grpSpPr>
        <p:sp>
          <p:nvSpPr>
            <p:cNvPr name="Freeform 447" id="447"/>
            <p:cNvSpPr/>
            <p:nvPr/>
          </p:nvSpPr>
          <p:spPr>
            <a:xfrm flipH="false" flipV="false" rot="0">
              <a:off x="0" y="0"/>
              <a:ext cx="231648" cy="1116838"/>
            </a:xfrm>
            <a:custGeom>
              <a:avLst/>
              <a:gdLst/>
              <a:ahLst/>
              <a:cxnLst/>
              <a:rect r="r" b="b" t="t" l="l"/>
              <a:pathLst>
                <a:path h="1116838" w="231648">
                  <a:moveTo>
                    <a:pt x="0" y="0"/>
                  </a:moveTo>
                  <a:lnTo>
                    <a:pt x="231648" y="0"/>
                  </a:lnTo>
                  <a:lnTo>
                    <a:pt x="231648" y="1116838"/>
                  </a:lnTo>
                  <a:lnTo>
                    <a:pt x="0" y="1116838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48" id="448"/>
          <p:cNvGrpSpPr/>
          <p:nvPr/>
        </p:nvGrpSpPr>
        <p:grpSpPr>
          <a:xfrm rot="0">
            <a:off x="14850923" y="3628434"/>
            <a:ext cx="314820" cy="819864"/>
            <a:chOff x="0" y="0"/>
            <a:chExt cx="419760" cy="1093152"/>
          </a:xfrm>
        </p:grpSpPr>
        <p:sp>
          <p:nvSpPr>
            <p:cNvPr name="Freeform 449" id="449"/>
            <p:cNvSpPr/>
            <p:nvPr/>
          </p:nvSpPr>
          <p:spPr>
            <a:xfrm flipH="false" flipV="false" rot="0">
              <a:off x="0" y="0"/>
              <a:ext cx="419735" cy="1093216"/>
            </a:xfrm>
            <a:custGeom>
              <a:avLst/>
              <a:gdLst/>
              <a:ahLst/>
              <a:cxnLst/>
              <a:rect r="r" b="b" t="t" l="l"/>
              <a:pathLst>
                <a:path h="1093216" w="419735">
                  <a:moveTo>
                    <a:pt x="0" y="0"/>
                  </a:moveTo>
                  <a:lnTo>
                    <a:pt x="419735" y="0"/>
                  </a:lnTo>
                  <a:lnTo>
                    <a:pt x="419735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50" id="450"/>
          <p:cNvGrpSpPr/>
          <p:nvPr/>
        </p:nvGrpSpPr>
        <p:grpSpPr>
          <a:xfrm rot="0">
            <a:off x="14719554" y="3628434"/>
            <a:ext cx="446180" cy="776678"/>
            <a:chOff x="0" y="0"/>
            <a:chExt cx="594906" cy="1035571"/>
          </a:xfrm>
        </p:grpSpPr>
        <p:sp>
          <p:nvSpPr>
            <p:cNvPr name="Freeform 451" id="451"/>
            <p:cNvSpPr/>
            <p:nvPr/>
          </p:nvSpPr>
          <p:spPr>
            <a:xfrm flipH="false" flipV="false" rot="0">
              <a:off x="0" y="0"/>
              <a:ext cx="594868" cy="1035558"/>
            </a:xfrm>
            <a:custGeom>
              <a:avLst/>
              <a:gdLst/>
              <a:ahLst/>
              <a:cxnLst/>
              <a:rect r="r" b="b" t="t" l="l"/>
              <a:pathLst>
                <a:path h="1035558" w="594868">
                  <a:moveTo>
                    <a:pt x="0" y="0"/>
                  </a:moveTo>
                  <a:lnTo>
                    <a:pt x="594868" y="0"/>
                  </a:lnTo>
                  <a:lnTo>
                    <a:pt x="594868" y="1035558"/>
                  </a:lnTo>
                  <a:lnTo>
                    <a:pt x="0" y="1035558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52" id="452"/>
          <p:cNvGrpSpPr/>
          <p:nvPr/>
        </p:nvGrpSpPr>
        <p:grpSpPr>
          <a:xfrm rot="0">
            <a:off x="14602025" y="3628434"/>
            <a:ext cx="563709" cy="709412"/>
            <a:chOff x="0" y="0"/>
            <a:chExt cx="751611" cy="945883"/>
          </a:xfrm>
        </p:grpSpPr>
        <p:sp>
          <p:nvSpPr>
            <p:cNvPr name="Freeform 453" id="453"/>
            <p:cNvSpPr/>
            <p:nvPr/>
          </p:nvSpPr>
          <p:spPr>
            <a:xfrm flipH="false" flipV="false" rot="0">
              <a:off x="0" y="0"/>
              <a:ext cx="751586" cy="945896"/>
            </a:xfrm>
            <a:custGeom>
              <a:avLst/>
              <a:gdLst/>
              <a:ahLst/>
              <a:cxnLst/>
              <a:rect r="r" b="b" t="t" l="l"/>
              <a:pathLst>
                <a:path h="945896" w="751586">
                  <a:moveTo>
                    <a:pt x="0" y="0"/>
                  </a:moveTo>
                  <a:lnTo>
                    <a:pt x="751586" y="0"/>
                  </a:lnTo>
                  <a:lnTo>
                    <a:pt x="751586" y="945896"/>
                  </a:lnTo>
                  <a:lnTo>
                    <a:pt x="0" y="945896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54" id="454"/>
          <p:cNvGrpSpPr/>
          <p:nvPr/>
        </p:nvGrpSpPr>
        <p:grpSpPr>
          <a:xfrm rot="0">
            <a:off x="14501984" y="3628434"/>
            <a:ext cx="663759" cy="620144"/>
            <a:chOff x="0" y="0"/>
            <a:chExt cx="885012" cy="826859"/>
          </a:xfrm>
        </p:grpSpPr>
        <p:sp>
          <p:nvSpPr>
            <p:cNvPr name="Freeform 455" id="455"/>
            <p:cNvSpPr/>
            <p:nvPr/>
          </p:nvSpPr>
          <p:spPr>
            <a:xfrm flipH="false" flipV="false" rot="0">
              <a:off x="0" y="0"/>
              <a:ext cx="885063" cy="826897"/>
            </a:xfrm>
            <a:custGeom>
              <a:avLst/>
              <a:gdLst/>
              <a:ahLst/>
              <a:cxnLst/>
              <a:rect r="r" b="b" t="t" l="l"/>
              <a:pathLst>
                <a:path h="826897" w="885063">
                  <a:moveTo>
                    <a:pt x="0" y="0"/>
                  </a:moveTo>
                  <a:lnTo>
                    <a:pt x="885063" y="0"/>
                  </a:lnTo>
                  <a:lnTo>
                    <a:pt x="885063" y="826897"/>
                  </a:lnTo>
                  <a:lnTo>
                    <a:pt x="0" y="82689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56" id="456"/>
          <p:cNvGrpSpPr/>
          <p:nvPr/>
        </p:nvGrpSpPr>
        <p:grpSpPr>
          <a:xfrm rot="0">
            <a:off x="14422526" y="3628434"/>
            <a:ext cx="743217" cy="511635"/>
            <a:chOff x="0" y="0"/>
            <a:chExt cx="990956" cy="682180"/>
          </a:xfrm>
        </p:grpSpPr>
        <p:sp>
          <p:nvSpPr>
            <p:cNvPr name="Freeform 457" id="457"/>
            <p:cNvSpPr/>
            <p:nvPr/>
          </p:nvSpPr>
          <p:spPr>
            <a:xfrm flipH="false" flipV="false" rot="0">
              <a:off x="0" y="0"/>
              <a:ext cx="990981" cy="682244"/>
            </a:xfrm>
            <a:custGeom>
              <a:avLst/>
              <a:gdLst/>
              <a:ahLst/>
              <a:cxnLst/>
              <a:rect r="r" b="b" t="t" l="l"/>
              <a:pathLst>
                <a:path h="682244" w="990981">
                  <a:moveTo>
                    <a:pt x="0" y="0"/>
                  </a:moveTo>
                  <a:lnTo>
                    <a:pt x="990981" y="0"/>
                  </a:lnTo>
                  <a:lnTo>
                    <a:pt x="990981" y="682244"/>
                  </a:lnTo>
                  <a:lnTo>
                    <a:pt x="0" y="682244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58" id="458"/>
          <p:cNvGrpSpPr/>
          <p:nvPr/>
        </p:nvGrpSpPr>
        <p:grpSpPr>
          <a:xfrm rot="0">
            <a:off x="14366110" y="3628434"/>
            <a:ext cx="799624" cy="387267"/>
            <a:chOff x="0" y="0"/>
            <a:chExt cx="1066165" cy="516357"/>
          </a:xfrm>
        </p:grpSpPr>
        <p:sp>
          <p:nvSpPr>
            <p:cNvPr name="Freeform 459" id="459"/>
            <p:cNvSpPr/>
            <p:nvPr/>
          </p:nvSpPr>
          <p:spPr>
            <a:xfrm flipH="false" flipV="false" rot="0">
              <a:off x="0" y="0"/>
              <a:ext cx="1066165" cy="516382"/>
            </a:xfrm>
            <a:custGeom>
              <a:avLst/>
              <a:gdLst/>
              <a:ahLst/>
              <a:cxnLst/>
              <a:rect r="r" b="b" t="t" l="l"/>
              <a:pathLst>
                <a:path h="516382" w="1066165">
                  <a:moveTo>
                    <a:pt x="0" y="0"/>
                  </a:moveTo>
                  <a:lnTo>
                    <a:pt x="1066165" y="0"/>
                  </a:lnTo>
                  <a:lnTo>
                    <a:pt x="1066165" y="516382"/>
                  </a:lnTo>
                  <a:lnTo>
                    <a:pt x="0" y="516382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60" id="460"/>
          <p:cNvGrpSpPr/>
          <p:nvPr/>
        </p:nvGrpSpPr>
        <p:grpSpPr>
          <a:xfrm rot="0">
            <a:off x="14334506" y="3628434"/>
            <a:ext cx="831237" cy="250879"/>
            <a:chOff x="0" y="0"/>
            <a:chExt cx="1108316" cy="334505"/>
          </a:xfrm>
        </p:grpSpPr>
        <p:sp>
          <p:nvSpPr>
            <p:cNvPr name="Freeform 461" id="461"/>
            <p:cNvSpPr/>
            <p:nvPr/>
          </p:nvSpPr>
          <p:spPr>
            <a:xfrm flipH="false" flipV="false" rot="0">
              <a:off x="0" y="0"/>
              <a:ext cx="1108329" cy="334518"/>
            </a:xfrm>
            <a:custGeom>
              <a:avLst/>
              <a:gdLst/>
              <a:ahLst/>
              <a:cxnLst/>
              <a:rect r="r" b="b" t="t" l="l"/>
              <a:pathLst>
                <a:path h="334518" w="1108329">
                  <a:moveTo>
                    <a:pt x="0" y="0"/>
                  </a:moveTo>
                  <a:lnTo>
                    <a:pt x="1108329" y="0"/>
                  </a:lnTo>
                  <a:lnTo>
                    <a:pt x="1108329" y="334518"/>
                  </a:lnTo>
                  <a:lnTo>
                    <a:pt x="0" y="334518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62" id="462"/>
          <p:cNvGrpSpPr/>
          <p:nvPr/>
        </p:nvGrpSpPr>
        <p:grpSpPr>
          <a:xfrm rot="0">
            <a:off x="14328667" y="3587677"/>
            <a:ext cx="837067" cy="147476"/>
            <a:chOff x="0" y="0"/>
            <a:chExt cx="1116089" cy="196634"/>
          </a:xfrm>
        </p:grpSpPr>
        <p:sp>
          <p:nvSpPr>
            <p:cNvPr name="Freeform 463" id="463"/>
            <p:cNvSpPr/>
            <p:nvPr/>
          </p:nvSpPr>
          <p:spPr>
            <a:xfrm flipH="false" flipV="false" rot="0">
              <a:off x="0" y="0"/>
              <a:ext cx="1116076" cy="196596"/>
            </a:xfrm>
            <a:custGeom>
              <a:avLst/>
              <a:gdLst/>
              <a:ahLst/>
              <a:cxnLst/>
              <a:rect r="r" b="b" t="t" l="l"/>
              <a:pathLst>
                <a:path h="196596" w="1116076">
                  <a:moveTo>
                    <a:pt x="0" y="0"/>
                  </a:moveTo>
                  <a:lnTo>
                    <a:pt x="1116076" y="0"/>
                  </a:lnTo>
                  <a:lnTo>
                    <a:pt x="1116076" y="196596"/>
                  </a:lnTo>
                  <a:lnTo>
                    <a:pt x="0" y="196596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64" id="464"/>
          <p:cNvGrpSpPr/>
          <p:nvPr/>
        </p:nvGrpSpPr>
        <p:grpSpPr>
          <a:xfrm rot="0">
            <a:off x="14328667" y="3441468"/>
            <a:ext cx="837067" cy="186957"/>
            <a:chOff x="0" y="0"/>
            <a:chExt cx="1116089" cy="249276"/>
          </a:xfrm>
        </p:grpSpPr>
        <p:sp>
          <p:nvSpPr>
            <p:cNvPr name="Freeform 465" id="465"/>
            <p:cNvSpPr/>
            <p:nvPr/>
          </p:nvSpPr>
          <p:spPr>
            <a:xfrm flipH="false" flipV="false" rot="0">
              <a:off x="0" y="0"/>
              <a:ext cx="1116076" cy="249301"/>
            </a:xfrm>
            <a:custGeom>
              <a:avLst/>
              <a:gdLst/>
              <a:ahLst/>
              <a:cxnLst/>
              <a:rect r="r" b="b" t="t" l="l"/>
              <a:pathLst>
                <a:path h="249301" w="1116076">
                  <a:moveTo>
                    <a:pt x="0" y="0"/>
                  </a:moveTo>
                  <a:lnTo>
                    <a:pt x="1116076" y="0"/>
                  </a:lnTo>
                  <a:lnTo>
                    <a:pt x="1116076" y="249301"/>
                  </a:lnTo>
                  <a:lnTo>
                    <a:pt x="0" y="24930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66" id="466"/>
          <p:cNvGrpSpPr/>
          <p:nvPr/>
        </p:nvGrpSpPr>
        <p:grpSpPr>
          <a:xfrm rot="0">
            <a:off x="14348803" y="3301060"/>
            <a:ext cx="816940" cy="327374"/>
            <a:chOff x="0" y="0"/>
            <a:chExt cx="1089254" cy="436499"/>
          </a:xfrm>
        </p:grpSpPr>
        <p:sp>
          <p:nvSpPr>
            <p:cNvPr name="Freeform 467" id="467"/>
            <p:cNvSpPr/>
            <p:nvPr/>
          </p:nvSpPr>
          <p:spPr>
            <a:xfrm flipH="false" flipV="false" rot="0">
              <a:off x="0" y="0"/>
              <a:ext cx="1089279" cy="436499"/>
            </a:xfrm>
            <a:custGeom>
              <a:avLst/>
              <a:gdLst/>
              <a:ahLst/>
              <a:cxnLst/>
              <a:rect r="r" b="b" t="t" l="l"/>
              <a:pathLst>
                <a:path h="436499" w="1089279">
                  <a:moveTo>
                    <a:pt x="0" y="0"/>
                  </a:moveTo>
                  <a:lnTo>
                    <a:pt x="1089279" y="0"/>
                  </a:lnTo>
                  <a:lnTo>
                    <a:pt x="1089279" y="436499"/>
                  </a:lnTo>
                  <a:lnTo>
                    <a:pt x="0" y="436499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68" id="468"/>
          <p:cNvGrpSpPr/>
          <p:nvPr/>
        </p:nvGrpSpPr>
        <p:grpSpPr>
          <a:xfrm rot="0">
            <a:off x="14394266" y="3170806"/>
            <a:ext cx="771477" cy="457629"/>
            <a:chOff x="0" y="0"/>
            <a:chExt cx="1028636" cy="610172"/>
          </a:xfrm>
        </p:grpSpPr>
        <p:sp>
          <p:nvSpPr>
            <p:cNvPr name="Freeform 469" id="469"/>
            <p:cNvSpPr/>
            <p:nvPr/>
          </p:nvSpPr>
          <p:spPr>
            <a:xfrm flipH="false" flipV="false" rot="0">
              <a:off x="0" y="0"/>
              <a:ext cx="1028573" cy="610108"/>
            </a:xfrm>
            <a:custGeom>
              <a:avLst/>
              <a:gdLst/>
              <a:ahLst/>
              <a:cxnLst/>
              <a:rect r="r" b="b" t="t" l="l"/>
              <a:pathLst>
                <a:path h="610108" w="1028573">
                  <a:moveTo>
                    <a:pt x="0" y="0"/>
                  </a:moveTo>
                  <a:lnTo>
                    <a:pt x="1028573" y="0"/>
                  </a:lnTo>
                  <a:lnTo>
                    <a:pt x="1028573" y="610108"/>
                  </a:lnTo>
                  <a:lnTo>
                    <a:pt x="0" y="610108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70" id="470"/>
          <p:cNvGrpSpPr/>
          <p:nvPr/>
        </p:nvGrpSpPr>
        <p:grpSpPr>
          <a:xfrm rot="0">
            <a:off x="14463655" y="3054734"/>
            <a:ext cx="702088" cy="573691"/>
            <a:chOff x="0" y="0"/>
            <a:chExt cx="936117" cy="764921"/>
          </a:xfrm>
        </p:grpSpPr>
        <p:sp>
          <p:nvSpPr>
            <p:cNvPr name="Freeform 471" id="471"/>
            <p:cNvSpPr/>
            <p:nvPr/>
          </p:nvSpPr>
          <p:spPr>
            <a:xfrm flipH="false" flipV="false" rot="0">
              <a:off x="0" y="0"/>
              <a:ext cx="936117" cy="764921"/>
            </a:xfrm>
            <a:custGeom>
              <a:avLst/>
              <a:gdLst/>
              <a:ahLst/>
              <a:cxnLst/>
              <a:rect r="r" b="b" t="t" l="l"/>
              <a:pathLst>
                <a:path h="764921" w="936117">
                  <a:moveTo>
                    <a:pt x="0" y="0"/>
                  </a:moveTo>
                  <a:lnTo>
                    <a:pt x="936117" y="0"/>
                  </a:lnTo>
                  <a:lnTo>
                    <a:pt x="936117" y="764921"/>
                  </a:lnTo>
                  <a:lnTo>
                    <a:pt x="0" y="764921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72" id="472"/>
          <p:cNvGrpSpPr/>
          <p:nvPr/>
        </p:nvGrpSpPr>
        <p:grpSpPr>
          <a:xfrm rot="0">
            <a:off x="15107545" y="3991099"/>
            <a:ext cx="549069" cy="301990"/>
            <a:chOff x="0" y="0"/>
            <a:chExt cx="732092" cy="402654"/>
          </a:xfrm>
        </p:grpSpPr>
        <p:sp>
          <p:nvSpPr>
            <p:cNvPr name="Freeform 473" id="473"/>
            <p:cNvSpPr/>
            <p:nvPr/>
          </p:nvSpPr>
          <p:spPr>
            <a:xfrm flipH="false" flipV="false" rot="0">
              <a:off x="0" y="0"/>
              <a:ext cx="732092" cy="402651"/>
            </a:xfrm>
            <a:custGeom>
              <a:avLst/>
              <a:gdLst/>
              <a:ahLst/>
              <a:cxnLst/>
              <a:rect r="r" b="b" t="t" l="l"/>
              <a:pathLst>
                <a:path h="402651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567" t="0" r="-20567" b="0"/>
              </a:stretch>
            </a:blipFill>
          </p:spPr>
        </p:sp>
        <p:sp>
          <p:nvSpPr>
            <p:cNvPr name="TextBox 474" id="474"/>
            <p:cNvSpPr txBox="true"/>
            <p:nvPr/>
          </p:nvSpPr>
          <p:spPr>
            <a:xfrm>
              <a:off x="0" y="-28575"/>
              <a:ext cx="732092" cy="431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Active</a:t>
              </a:r>
            </a:p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87%</a:t>
              </a:r>
            </a:p>
          </p:txBody>
        </p:sp>
      </p:grpSp>
      <p:grpSp>
        <p:nvGrpSpPr>
          <p:cNvPr name="Group 475" id="475"/>
          <p:cNvGrpSpPr/>
          <p:nvPr/>
        </p:nvGrpSpPr>
        <p:grpSpPr>
          <a:xfrm rot="0">
            <a:off x="14554819" y="2942768"/>
            <a:ext cx="610924" cy="685657"/>
            <a:chOff x="0" y="0"/>
            <a:chExt cx="814565" cy="914210"/>
          </a:xfrm>
        </p:grpSpPr>
        <p:sp>
          <p:nvSpPr>
            <p:cNvPr name="Freeform 476" id="476"/>
            <p:cNvSpPr/>
            <p:nvPr/>
          </p:nvSpPr>
          <p:spPr>
            <a:xfrm flipH="false" flipV="false" rot="0">
              <a:off x="0" y="0"/>
              <a:ext cx="814578" cy="914273"/>
            </a:xfrm>
            <a:custGeom>
              <a:avLst/>
              <a:gdLst/>
              <a:ahLst/>
              <a:cxnLst/>
              <a:rect r="r" b="b" t="t" l="l"/>
              <a:pathLst>
                <a:path h="914273" w="814578">
                  <a:moveTo>
                    <a:pt x="0" y="0"/>
                  </a:moveTo>
                  <a:lnTo>
                    <a:pt x="814578" y="0"/>
                  </a:lnTo>
                  <a:lnTo>
                    <a:pt x="814578" y="914273"/>
                  </a:lnTo>
                  <a:lnTo>
                    <a:pt x="0" y="914273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477" id="477"/>
          <p:cNvGrpSpPr/>
          <p:nvPr/>
        </p:nvGrpSpPr>
        <p:grpSpPr>
          <a:xfrm rot="0">
            <a:off x="14683854" y="2859291"/>
            <a:ext cx="481889" cy="769134"/>
            <a:chOff x="0" y="0"/>
            <a:chExt cx="642518" cy="1025512"/>
          </a:xfrm>
        </p:grpSpPr>
        <p:sp>
          <p:nvSpPr>
            <p:cNvPr name="Freeform 478" id="478"/>
            <p:cNvSpPr/>
            <p:nvPr/>
          </p:nvSpPr>
          <p:spPr>
            <a:xfrm flipH="false" flipV="false" rot="0">
              <a:off x="0" y="0"/>
              <a:ext cx="642493" cy="1025525"/>
            </a:xfrm>
            <a:custGeom>
              <a:avLst/>
              <a:gdLst/>
              <a:ahLst/>
              <a:cxnLst/>
              <a:rect r="r" b="b" t="t" l="l"/>
              <a:pathLst>
                <a:path h="1025525" w="642493">
                  <a:moveTo>
                    <a:pt x="0" y="0"/>
                  </a:moveTo>
                  <a:lnTo>
                    <a:pt x="642493" y="0"/>
                  </a:lnTo>
                  <a:lnTo>
                    <a:pt x="642493" y="1025525"/>
                  </a:lnTo>
                  <a:lnTo>
                    <a:pt x="0" y="1025525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479" id="479"/>
          <p:cNvGrpSpPr/>
          <p:nvPr/>
        </p:nvGrpSpPr>
        <p:grpSpPr>
          <a:xfrm rot="0">
            <a:off x="14832911" y="2807779"/>
            <a:ext cx="332832" cy="820645"/>
            <a:chOff x="0" y="0"/>
            <a:chExt cx="443776" cy="1094194"/>
          </a:xfrm>
        </p:grpSpPr>
        <p:sp>
          <p:nvSpPr>
            <p:cNvPr name="Freeform 480" id="480"/>
            <p:cNvSpPr/>
            <p:nvPr/>
          </p:nvSpPr>
          <p:spPr>
            <a:xfrm flipH="false" flipV="false" rot="0">
              <a:off x="0" y="0"/>
              <a:ext cx="443738" cy="1094232"/>
            </a:xfrm>
            <a:custGeom>
              <a:avLst/>
              <a:gdLst/>
              <a:ahLst/>
              <a:cxnLst/>
              <a:rect r="r" b="b" t="t" l="l"/>
              <a:pathLst>
                <a:path h="1094232" w="443738">
                  <a:moveTo>
                    <a:pt x="0" y="0"/>
                  </a:moveTo>
                  <a:lnTo>
                    <a:pt x="443738" y="0"/>
                  </a:lnTo>
                  <a:lnTo>
                    <a:pt x="443738" y="1094232"/>
                  </a:lnTo>
                  <a:lnTo>
                    <a:pt x="0" y="109423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481" id="481"/>
          <p:cNvGrpSpPr/>
          <p:nvPr/>
        </p:nvGrpSpPr>
        <p:grpSpPr>
          <a:xfrm rot="0">
            <a:off x="14995789" y="2790368"/>
            <a:ext cx="169945" cy="838057"/>
            <a:chOff x="0" y="0"/>
            <a:chExt cx="226593" cy="1117410"/>
          </a:xfrm>
        </p:grpSpPr>
        <p:sp>
          <p:nvSpPr>
            <p:cNvPr name="Freeform 482" id="482"/>
            <p:cNvSpPr/>
            <p:nvPr/>
          </p:nvSpPr>
          <p:spPr>
            <a:xfrm flipH="false" flipV="false" rot="0">
              <a:off x="0" y="0"/>
              <a:ext cx="226568" cy="1117473"/>
            </a:xfrm>
            <a:custGeom>
              <a:avLst/>
              <a:gdLst/>
              <a:ahLst/>
              <a:cxnLst/>
              <a:rect r="r" b="b" t="t" l="l"/>
              <a:pathLst>
                <a:path h="1117473" w="226568">
                  <a:moveTo>
                    <a:pt x="0" y="0"/>
                  </a:moveTo>
                  <a:lnTo>
                    <a:pt x="226568" y="0"/>
                  </a:lnTo>
                  <a:lnTo>
                    <a:pt x="226568" y="1117473"/>
                  </a:lnTo>
                  <a:lnTo>
                    <a:pt x="0" y="1117473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483" id="483"/>
          <p:cNvGrpSpPr/>
          <p:nvPr/>
        </p:nvGrpSpPr>
        <p:grpSpPr>
          <a:xfrm rot="0">
            <a:off x="14674863" y="2991221"/>
            <a:ext cx="549069" cy="301990"/>
            <a:chOff x="0" y="0"/>
            <a:chExt cx="732092" cy="402654"/>
          </a:xfrm>
        </p:grpSpPr>
        <p:sp>
          <p:nvSpPr>
            <p:cNvPr name="Freeform 484" id="484"/>
            <p:cNvSpPr/>
            <p:nvPr/>
          </p:nvSpPr>
          <p:spPr>
            <a:xfrm flipH="false" flipV="false" rot="0">
              <a:off x="0" y="0"/>
              <a:ext cx="732092" cy="402651"/>
            </a:xfrm>
            <a:custGeom>
              <a:avLst/>
              <a:gdLst/>
              <a:ahLst/>
              <a:cxnLst/>
              <a:rect r="r" b="b" t="t" l="l"/>
              <a:pathLst>
                <a:path h="402651" w="732092">
                  <a:moveTo>
                    <a:pt x="0" y="0"/>
                  </a:moveTo>
                  <a:lnTo>
                    <a:pt x="732092" y="0"/>
                  </a:lnTo>
                  <a:lnTo>
                    <a:pt x="732092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567" t="0" r="-20567" b="0"/>
              </a:stretch>
            </a:blipFill>
          </p:spPr>
        </p:sp>
        <p:sp>
          <p:nvSpPr>
            <p:cNvPr name="TextBox 485" id="485"/>
            <p:cNvSpPr txBox="true"/>
            <p:nvPr/>
          </p:nvSpPr>
          <p:spPr>
            <a:xfrm>
              <a:off x="0" y="-28575"/>
              <a:ext cx="732092" cy="431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Inactive</a:t>
              </a:r>
            </a:p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13%</a:t>
              </a:r>
            </a:p>
          </p:txBody>
        </p:sp>
      </p:grpSp>
      <p:grpSp>
        <p:nvGrpSpPr>
          <p:cNvPr name="Group 486" id="486"/>
          <p:cNvGrpSpPr/>
          <p:nvPr/>
        </p:nvGrpSpPr>
        <p:grpSpPr>
          <a:xfrm rot="0">
            <a:off x="14303654" y="2766346"/>
            <a:ext cx="1724168" cy="1724168"/>
            <a:chOff x="0" y="0"/>
            <a:chExt cx="2298890" cy="2298890"/>
          </a:xfrm>
        </p:grpSpPr>
        <p:sp>
          <p:nvSpPr>
            <p:cNvPr name="Freeform 487" id="487"/>
            <p:cNvSpPr/>
            <p:nvPr/>
          </p:nvSpPr>
          <p:spPr>
            <a:xfrm flipH="false" flipV="false" rot="0">
              <a:off x="0" y="0"/>
              <a:ext cx="2298954" cy="2298954"/>
            </a:xfrm>
            <a:custGeom>
              <a:avLst/>
              <a:gdLst/>
              <a:ahLst/>
              <a:cxnLst/>
              <a:rect r="r" b="b" t="t" l="l"/>
              <a:pathLst>
                <a:path h="2298954" w="2298954">
                  <a:moveTo>
                    <a:pt x="0" y="1149477"/>
                  </a:moveTo>
                  <a:cubicBezTo>
                    <a:pt x="0" y="514604"/>
                    <a:pt x="514604" y="0"/>
                    <a:pt x="1149477" y="0"/>
                  </a:cubicBezTo>
                  <a:lnTo>
                    <a:pt x="1149477" y="32004"/>
                  </a:lnTo>
                  <a:lnTo>
                    <a:pt x="1149477" y="0"/>
                  </a:lnTo>
                  <a:cubicBezTo>
                    <a:pt x="1784350" y="0"/>
                    <a:pt x="2298954" y="514604"/>
                    <a:pt x="2298954" y="1149477"/>
                  </a:cubicBezTo>
                  <a:lnTo>
                    <a:pt x="2266950" y="1149477"/>
                  </a:lnTo>
                  <a:lnTo>
                    <a:pt x="2298954" y="1149477"/>
                  </a:lnTo>
                  <a:cubicBezTo>
                    <a:pt x="2298954" y="1784350"/>
                    <a:pt x="1784350" y="2298954"/>
                    <a:pt x="1149477" y="2298954"/>
                  </a:cubicBezTo>
                  <a:lnTo>
                    <a:pt x="1149477" y="2266950"/>
                  </a:lnTo>
                  <a:lnTo>
                    <a:pt x="1149477" y="2298954"/>
                  </a:lnTo>
                  <a:cubicBezTo>
                    <a:pt x="514604" y="2298827"/>
                    <a:pt x="0" y="1784223"/>
                    <a:pt x="0" y="1149477"/>
                  </a:cubicBezTo>
                  <a:lnTo>
                    <a:pt x="32004" y="1149477"/>
                  </a:lnTo>
                  <a:lnTo>
                    <a:pt x="64008" y="1149477"/>
                  </a:lnTo>
                  <a:lnTo>
                    <a:pt x="32004" y="1149477"/>
                  </a:lnTo>
                  <a:lnTo>
                    <a:pt x="0" y="1149477"/>
                  </a:lnTo>
                  <a:moveTo>
                    <a:pt x="64008" y="1149477"/>
                  </a:moveTo>
                  <a:cubicBezTo>
                    <a:pt x="64008" y="1167130"/>
                    <a:pt x="49657" y="1181481"/>
                    <a:pt x="32004" y="1181481"/>
                  </a:cubicBezTo>
                  <a:cubicBezTo>
                    <a:pt x="14351" y="1181481"/>
                    <a:pt x="0" y="1167130"/>
                    <a:pt x="0" y="1149477"/>
                  </a:cubicBezTo>
                  <a:cubicBezTo>
                    <a:pt x="0" y="1131824"/>
                    <a:pt x="14351" y="1117473"/>
                    <a:pt x="32004" y="1117473"/>
                  </a:cubicBezTo>
                  <a:cubicBezTo>
                    <a:pt x="49657" y="1117473"/>
                    <a:pt x="64008" y="1131824"/>
                    <a:pt x="64008" y="1149477"/>
                  </a:cubicBezTo>
                  <a:cubicBezTo>
                    <a:pt x="64008" y="1748917"/>
                    <a:pt x="549910" y="2234819"/>
                    <a:pt x="1149350" y="2234819"/>
                  </a:cubicBezTo>
                  <a:cubicBezTo>
                    <a:pt x="1748790" y="2234819"/>
                    <a:pt x="2234692" y="1748917"/>
                    <a:pt x="2234692" y="1149477"/>
                  </a:cubicBezTo>
                  <a:cubicBezTo>
                    <a:pt x="2234692" y="550037"/>
                    <a:pt x="1748917" y="64008"/>
                    <a:pt x="1149477" y="64008"/>
                  </a:cubicBezTo>
                  <a:lnTo>
                    <a:pt x="1149477" y="32004"/>
                  </a:lnTo>
                  <a:lnTo>
                    <a:pt x="1149477" y="64008"/>
                  </a:lnTo>
                  <a:cubicBezTo>
                    <a:pt x="550037" y="64008"/>
                    <a:pt x="64135" y="549910"/>
                    <a:pt x="64135" y="11493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8" id="488"/>
          <p:cNvGrpSpPr/>
          <p:nvPr/>
        </p:nvGrpSpPr>
        <p:grpSpPr>
          <a:xfrm rot="0">
            <a:off x="12294565" y="4511516"/>
            <a:ext cx="5742346" cy="192176"/>
            <a:chOff x="0" y="0"/>
            <a:chExt cx="7656462" cy="256235"/>
          </a:xfrm>
        </p:grpSpPr>
        <p:sp>
          <p:nvSpPr>
            <p:cNvPr name="Freeform 489" id="489"/>
            <p:cNvSpPr/>
            <p:nvPr/>
          </p:nvSpPr>
          <p:spPr>
            <a:xfrm flipH="false" flipV="false" rot="0">
              <a:off x="0" y="0"/>
              <a:ext cx="7656461" cy="256232"/>
            </a:xfrm>
            <a:custGeom>
              <a:avLst/>
              <a:gdLst/>
              <a:ahLst/>
              <a:cxnLst/>
              <a:rect r="r" b="b" t="t" l="l"/>
              <a:pathLst>
                <a:path h="256232" w="7656461">
                  <a:moveTo>
                    <a:pt x="0" y="0"/>
                  </a:moveTo>
                  <a:lnTo>
                    <a:pt x="7656461" y="0"/>
                  </a:lnTo>
                  <a:lnTo>
                    <a:pt x="765646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230" r="0" b="-532232"/>
              </a:stretch>
            </a:blipFill>
          </p:spPr>
        </p:sp>
        <p:sp>
          <p:nvSpPr>
            <p:cNvPr name="TextBox 490" id="490"/>
            <p:cNvSpPr txBox="true"/>
            <p:nvPr/>
          </p:nvSpPr>
          <p:spPr>
            <a:xfrm>
              <a:off x="0" y="-19050"/>
              <a:ext cx="7656462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i="true">
                  <a:solidFill>
                    <a:srgbClr val="7777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87% of partners listed ≥1 bag</a:t>
              </a:r>
            </a:p>
          </p:txBody>
        </p:sp>
      </p:grpSp>
      <p:grpSp>
        <p:nvGrpSpPr>
          <p:cNvPr name="Group 491" id="491"/>
          <p:cNvGrpSpPr/>
          <p:nvPr/>
        </p:nvGrpSpPr>
        <p:grpSpPr>
          <a:xfrm rot="0">
            <a:off x="186166" y="4821231"/>
            <a:ext cx="5891622" cy="2574331"/>
            <a:chOff x="0" y="0"/>
            <a:chExt cx="7855496" cy="3432442"/>
          </a:xfrm>
        </p:grpSpPr>
        <p:sp>
          <p:nvSpPr>
            <p:cNvPr name="Freeform 492" id="492"/>
            <p:cNvSpPr/>
            <p:nvPr/>
          </p:nvSpPr>
          <p:spPr>
            <a:xfrm flipH="false" flipV="false" rot="0">
              <a:off x="8001" y="8001"/>
              <a:ext cx="783945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3416427"/>
                  </a:lnTo>
                  <a:lnTo>
                    <a:pt x="0" y="3416427"/>
                  </a:lnTo>
                  <a:close/>
                </a:path>
              </a:pathLst>
            </a:custGeom>
            <a:solidFill>
              <a:srgbClr val="F6FDF8"/>
            </a:solidFill>
          </p:spPr>
        </p:sp>
        <p:sp>
          <p:nvSpPr>
            <p:cNvPr name="Freeform 493" id="493"/>
            <p:cNvSpPr/>
            <p:nvPr/>
          </p:nvSpPr>
          <p:spPr>
            <a:xfrm flipH="false" flipV="false" rot="0">
              <a:off x="0" y="0"/>
              <a:ext cx="7855458" cy="3432429"/>
            </a:xfrm>
            <a:custGeom>
              <a:avLst/>
              <a:gdLst/>
              <a:ahLst/>
              <a:cxnLst/>
              <a:rect r="r" b="b" t="t" l="l"/>
              <a:pathLst>
                <a:path h="3432429" w="7855458">
                  <a:moveTo>
                    <a:pt x="8001" y="0"/>
                  </a:moveTo>
                  <a:lnTo>
                    <a:pt x="7847457" y="0"/>
                  </a:lnTo>
                  <a:cubicBezTo>
                    <a:pt x="7851901" y="0"/>
                    <a:pt x="7855458" y="3556"/>
                    <a:pt x="7855458" y="8001"/>
                  </a:cubicBezTo>
                  <a:lnTo>
                    <a:pt x="7855458" y="3424428"/>
                  </a:lnTo>
                  <a:cubicBezTo>
                    <a:pt x="7855458" y="3428873"/>
                    <a:pt x="7851901" y="3432429"/>
                    <a:pt x="7847457" y="3432429"/>
                  </a:cubicBezTo>
                  <a:lnTo>
                    <a:pt x="8001" y="3432429"/>
                  </a:lnTo>
                  <a:cubicBezTo>
                    <a:pt x="3556" y="3432429"/>
                    <a:pt x="0" y="3428873"/>
                    <a:pt x="0" y="3424428"/>
                  </a:cubicBezTo>
                  <a:lnTo>
                    <a:pt x="0" y="8001"/>
                  </a:lnTo>
                  <a:cubicBezTo>
                    <a:pt x="0" y="3556"/>
                    <a:pt x="3556" y="0"/>
                    <a:pt x="8001" y="0"/>
                  </a:cubicBezTo>
                  <a:moveTo>
                    <a:pt x="8001" y="16002"/>
                  </a:moveTo>
                  <a:lnTo>
                    <a:pt x="8001" y="8001"/>
                  </a:lnTo>
                  <a:lnTo>
                    <a:pt x="16002" y="8001"/>
                  </a:lnTo>
                  <a:lnTo>
                    <a:pt x="16002" y="3424428"/>
                  </a:lnTo>
                  <a:lnTo>
                    <a:pt x="8001" y="3424428"/>
                  </a:lnTo>
                  <a:lnTo>
                    <a:pt x="8001" y="3416427"/>
                  </a:lnTo>
                  <a:lnTo>
                    <a:pt x="7847457" y="3416427"/>
                  </a:lnTo>
                  <a:lnTo>
                    <a:pt x="7847457" y="3424428"/>
                  </a:lnTo>
                  <a:lnTo>
                    <a:pt x="7839456" y="3424428"/>
                  </a:lnTo>
                  <a:lnTo>
                    <a:pt x="7839456" y="8001"/>
                  </a:lnTo>
                  <a:lnTo>
                    <a:pt x="7847457" y="8001"/>
                  </a:lnTo>
                  <a:lnTo>
                    <a:pt x="7847457" y="16002"/>
                  </a:lnTo>
                  <a:lnTo>
                    <a:pt x="8001" y="1600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494" id="494"/>
          <p:cNvGrpSpPr/>
          <p:nvPr/>
        </p:nvGrpSpPr>
        <p:grpSpPr>
          <a:xfrm rot="0">
            <a:off x="192176" y="4827232"/>
            <a:ext cx="5879611" cy="356892"/>
            <a:chOff x="0" y="0"/>
            <a:chExt cx="7839481" cy="475856"/>
          </a:xfrm>
        </p:grpSpPr>
        <p:sp>
          <p:nvSpPr>
            <p:cNvPr name="Freeform 495" id="495"/>
            <p:cNvSpPr/>
            <p:nvPr/>
          </p:nvSpPr>
          <p:spPr>
            <a:xfrm flipH="false" flipV="false" rot="0">
              <a:off x="0" y="0"/>
              <a:ext cx="7839456" cy="475869"/>
            </a:xfrm>
            <a:custGeom>
              <a:avLst/>
              <a:gdLst/>
              <a:ahLst/>
              <a:cxnLst/>
              <a:rect r="r" b="b" t="t" l="l"/>
              <a:pathLst>
                <a:path h="475869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496" id="496"/>
          <p:cNvGrpSpPr/>
          <p:nvPr/>
        </p:nvGrpSpPr>
        <p:grpSpPr>
          <a:xfrm rot="0">
            <a:off x="301990" y="4882134"/>
            <a:ext cx="5714895" cy="274539"/>
            <a:chOff x="0" y="0"/>
            <a:chExt cx="7619860" cy="366052"/>
          </a:xfrm>
        </p:grpSpPr>
        <p:sp>
          <p:nvSpPr>
            <p:cNvPr name="Freeform 497" id="497"/>
            <p:cNvSpPr/>
            <p:nvPr/>
          </p:nvSpPr>
          <p:spPr>
            <a:xfrm flipH="false" flipV="false" rot="0">
              <a:off x="0" y="0"/>
              <a:ext cx="7619857" cy="366046"/>
            </a:xfrm>
            <a:custGeom>
              <a:avLst/>
              <a:gdLst/>
              <a:ahLst/>
              <a:cxnLst/>
              <a:rect r="r" b="b" t="t" l="l"/>
              <a:pathLst>
                <a:path h="366046" w="7619857">
                  <a:moveTo>
                    <a:pt x="0" y="0"/>
                  </a:moveTo>
                  <a:lnTo>
                    <a:pt x="7619857" y="0"/>
                  </a:lnTo>
                  <a:lnTo>
                    <a:pt x="76198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12" r="0" b="-355614"/>
              </a:stretch>
            </a:blipFill>
          </p:spPr>
        </p:sp>
        <p:sp>
          <p:nvSpPr>
            <p:cNvPr name="TextBox 498" id="498"/>
            <p:cNvSpPr txBox="true"/>
            <p:nvPr/>
          </p:nvSpPr>
          <p:spPr>
            <a:xfrm>
              <a:off x="0" y="-19050"/>
              <a:ext cx="7619860" cy="38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🟩  CO₂ Saved (tonnes)  —  Jan–Dec 2024</a:t>
              </a:r>
            </a:p>
          </p:txBody>
        </p:sp>
      </p:grpSp>
      <p:grpSp>
        <p:nvGrpSpPr>
          <p:cNvPr name="Group 499" id="499"/>
          <p:cNvGrpSpPr/>
          <p:nvPr/>
        </p:nvGrpSpPr>
        <p:grpSpPr>
          <a:xfrm rot="0">
            <a:off x="494167" y="6646021"/>
            <a:ext cx="5467807" cy="5486"/>
            <a:chOff x="0" y="0"/>
            <a:chExt cx="7290410" cy="7315"/>
          </a:xfrm>
        </p:grpSpPr>
        <p:sp>
          <p:nvSpPr>
            <p:cNvPr name="Freeform 500" id="500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501" id="501"/>
          <p:cNvGrpSpPr/>
          <p:nvPr/>
        </p:nvGrpSpPr>
        <p:grpSpPr>
          <a:xfrm rot="0">
            <a:off x="205902" y="6522482"/>
            <a:ext cx="247079" cy="178451"/>
            <a:chOff x="0" y="0"/>
            <a:chExt cx="329438" cy="237934"/>
          </a:xfrm>
        </p:grpSpPr>
        <p:sp>
          <p:nvSpPr>
            <p:cNvPr name="Freeform 502" id="502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503" id="503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194</a:t>
              </a:r>
            </a:p>
          </p:txBody>
        </p:sp>
      </p:grpSp>
      <p:grpSp>
        <p:nvGrpSpPr>
          <p:cNvPr name="Group 504" id="504"/>
          <p:cNvGrpSpPr/>
          <p:nvPr/>
        </p:nvGrpSpPr>
        <p:grpSpPr>
          <a:xfrm rot="0">
            <a:off x="494167" y="6204480"/>
            <a:ext cx="5467807" cy="5486"/>
            <a:chOff x="0" y="0"/>
            <a:chExt cx="7290410" cy="7315"/>
          </a:xfrm>
        </p:grpSpPr>
        <p:sp>
          <p:nvSpPr>
            <p:cNvPr name="Freeform 505" id="505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506" id="506"/>
          <p:cNvGrpSpPr/>
          <p:nvPr/>
        </p:nvGrpSpPr>
        <p:grpSpPr>
          <a:xfrm rot="0">
            <a:off x="205902" y="6080941"/>
            <a:ext cx="247079" cy="178451"/>
            <a:chOff x="0" y="0"/>
            <a:chExt cx="329438" cy="237934"/>
          </a:xfrm>
        </p:grpSpPr>
        <p:sp>
          <p:nvSpPr>
            <p:cNvPr name="Freeform 507" id="507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508" id="508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388</a:t>
              </a:r>
            </a:p>
          </p:txBody>
        </p:sp>
      </p:grpSp>
      <p:grpSp>
        <p:nvGrpSpPr>
          <p:cNvPr name="Group 509" id="509"/>
          <p:cNvGrpSpPr/>
          <p:nvPr/>
        </p:nvGrpSpPr>
        <p:grpSpPr>
          <a:xfrm rot="0">
            <a:off x="494167" y="5762939"/>
            <a:ext cx="5467807" cy="5486"/>
            <a:chOff x="0" y="0"/>
            <a:chExt cx="7290410" cy="7315"/>
          </a:xfrm>
        </p:grpSpPr>
        <p:sp>
          <p:nvSpPr>
            <p:cNvPr name="Freeform 510" id="510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511" id="511"/>
          <p:cNvGrpSpPr/>
          <p:nvPr/>
        </p:nvGrpSpPr>
        <p:grpSpPr>
          <a:xfrm rot="0">
            <a:off x="205902" y="5639400"/>
            <a:ext cx="247079" cy="178451"/>
            <a:chOff x="0" y="0"/>
            <a:chExt cx="329438" cy="237934"/>
          </a:xfrm>
        </p:grpSpPr>
        <p:sp>
          <p:nvSpPr>
            <p:cNvPr name="Freeform 512" id="512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513" id="513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581</a:t>
              </a:r>
            </a:p>
          </p:txBody>
        </p:sp>
      </p:grpSp>
      <p:grpSp>
        <p:nvGrpSpPr>
          <p:cNvPr name="Group 514" id="514"/>
          <p:cNvGrpSpPr/>
          <p:nvPr/>
        </p:nvGrpSpPr>
        <p:grpSpPr>
          <a:xfrm rot="0">
            <a:off x="494167" y="5321389"/>
            <a:ext cx="5467807" cy="5486"/>
            <a:chOff x="0" y="0"/>
            <a:chExt cx="7290410" cy="7315"/>
          </a:xfrm>
        </p:grpSpPr>
        <p:sp>
          <p:nvSpPr>
            <p:cNvPr name="Freeform 515" id="515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516" id="516"/>
          <p:cNvGrpSpPr/>
          <p:nvPr/>
        </p:nvGrpSpPr>
        <p:grpSpPr>
          <a:xfrm rot="0">
            <a:off x="205902" y="5197850"/>
            <a:ext cx="247079" cy="178451"/>
            <a:chOff x="0" y="0"/>
            <a:chExt cx="329438" cy="237934"/>
          </a:xfrm>
        </p:grpSpPr>
        <p:sp>
          <p:nvSpPr>
            <p:cNvPr name="Freeform 517" id="517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518" id="518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775</a:t>
              </a:r>
            </a:p>
          </p:txBody>
        </p:sp>
      </p:grpSp>
      <p:grpSp>
        <p:nvGrpSpPr>
          <p:cNvPr name="Group 519" id="519"/>
          <p:cNvGrpSpPr/>
          <p:nvPr/>
        </p:nvGrpSpPr>
        <p:grpSpPr>
          <a:xfrm rot="0">
            <a:off x="494167" y="5366680"/>
            <a:ext cx="2398786" cy="98117"/>
            <a:chOff x="0" y="0"/>
            <a:chExt cx="3198381" cy="130823"/>
          </a:xfrm>
        </p:grpSpPr>
        <p:sp>
          <p:nvSpPr>
            <p:cNvPr name="Freeform 520" id="520"/>
            <p:cNvSpPr/>
            <p:nvPr/>
          </p:nvSpPr>
          <p:spPr>
            <a:xfrm flipH="false" flipV="false" rot="0">
              <a:off x="0" y="0"/>
              <a:ext cx="3198368" cy="130810"/>
            </a:xfrm>
            <a:custGeom>
              <a:avLst/>
              <a:gdLst/>
              <a:ahLst/>
              <a:cxnLst/>
              <a:rect r="r" b="b" t="t" l="l"/>
              <a:pathLst>
                <a:path h="130810" w="3198368">
                  <a:moveTo>
                    <a:pt x="0" y="0"/>
                  </a:moveTo>
                  <a:lnTo>
                    <a:pt x="3198368" y="0"/>
                  </a:lnTo>
                  <a:lnTo>
                    <a:pt x="3198368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21" id="521"/>
          <p:cNvGrpSpPr/>
          <p:nvPr/>
        </p:nvGrpSpPr>
        <p:grpSpPr>
          <a:xfrm rot="0">
            <a:off x="2920394" y="5366680"/>
            <a:ext cx="343167" cy="98117"/>
            <a:chOff x="0" y="0"/>
            <a:chExt cx="457556" cy="130823"/>
          </a:xfrm>
        </p:grpSpPr>
        <p:sp>
          <p:nvSpPr>
            <p:cNvPr name="Freeform 522" id="522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23" id="523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340</a:t>
              </a:r>
            </a:p>
          </p:txBody>
        </p:sp>
      </p:grpSp>
      <p:grpSp>
        <p:nvGrpSpPr>
          <p:cNvPr name="Group 524" id="524"/>
          <p:cNvGrpSpPr/>
          <p:nvPr/>
        </p:nvGrpSpPr>
        <p:grpSpPr>
          <a:xfrm rot="0">
            <a:off x="205902" y="5366680"/>
            <a:ext cx="247079" cy="98117"/>
            <a:chOff x="0" y="0"/>
            <a:chExt cx="329438" cy="130823"/>
          </a:xfrm>
        </p:grpSpPr>
        <p:sp>
          <p:nvSpPr>
            <p:cNvPr name="Freeform 525" id="525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26" id="526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527" id="527"/>
          <p:cNvGrpSpPr/>
          <p:nvPr/>
        </p:nvGrpSpPr>
        <p:grpSpPr>
          <a:xfrm rot="0">
            <a:off x="494167" y="5510089"/>
            <a:ext cx="2539889" cy="98117"/>
            <a:chOff x="0" y="0"/>
            <a:chExt cx="3386518" cy="130823"/>
          </a:xfrm>
        </p:grpSpPr>
        <p:sp>
          <p:nvSpPr>
            <p:cNvPr name="Freeform 528" id="528"/>
            <p:cNvSpPr/>
            <p:nvPr/>
          </p:nvSpPr>
          <p:spPr>
            <a:xfrm flipH="false" flipV="false" rot="0">
              <a:off x="0" y="0"/>
              <a:ext cx="3386455" cy="130810"/>
            </a:xfrm>
            <a:custGeom>
              <a:avLst/>
              <a:gdLst/>
              <a:ahLst/>
              <a:cxnLst/>
              <a:rect r="r" b="b" t="t" l="l"/>
              <a:pathLst>
                <a:path h="130810" w="3386455">
                  <a:moveTo>
                    <a:pt x="0" y="0"/>
                  </a:moveTo>
                  <a:lnTo>
                    <a:pt x="3386455" y="0"/>
                  </a:lnTo>
                  <a:lnTo>
                    <a:pt x="3386455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29" id="529"/>
          <p:cNvGrpSpPr/>
          <p:nvPr/>
        </p:nvGrpSpPr>
        <p:grpSpPr>
          <a:xfrm rot="0">
            <a:off x="3061497" y="5510089"/>
            <a:ext cx="343167" cy="98117"/>
            <a:chOff x="0" y="0"/>
            <a:chExt cx="457556" cy="130823"/>
          </a:xfrm>
        </p:grpSpPr>
        <p:sp>
          <p:nvSpPr>
            <p:cNvPr name="Freeform 530" id="530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31" id="531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360</a:t>
              </a:r>
            </a:p>
          </p:txBody>
        </p:sp>
      </p:grpSp>
      <p:grpSp>
        <p:nvGrpSpPr>
          <p:cNvPr name="Group 532" id="532"/>
          <p:cNvGrpSpPr/>
          <p:nvPr/>
        </p:nvGrpSpPr>
        <p:grpSpPr>
          <a:xfrm rot="0">
            <a:off x="205902" y="5510089"/>
            <a:ext cx="247079" cy="98117"/>
            <a:chOff x="0" y="0"/>
            <a:chExt cx="329438" cy="130823"/>
          </a:xfrm>
        </p:grpSpPr>
        <p:sp>
          <p:nvSpPr>
            <p:cNvPr name="Freeform 533" id="533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34" id="534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</a:p>
          </p:txBody>
        </p:sp>
      </p:grpSp>
      <p:grpSp>
        <p:nvGrpSpPr>
          <p:cNvPr name="Group 535" id="535"/>
          <p:cNvGrpSpPr/>
          <p:nvPr/>
        </p:nvGrpSpPr>
        <p:grpSpPr>
          <a:xfrm rot="0">
            <a:off x="494167" y="5653497"/>
            <a:ext cx="2857367" cy="98117"/>
            <a:chOff x="0" y="0"/>
            <a:chExt cx="3809822" cy="130823"/>
          </a:xfrm>
        </p:grpSpPr>
        <p:sp>
          <p:nvSpPr>
            <p:cNvPr name="Freeform 536" id="536"/>
            <p:cNvSpPr/>
            <p:nvPr/>
          </p:nvSpPr>
          <p:spPr>
            <a:xfrm flipH="false" flipV="false" rot="0">
              <a:off x="0" y="0"/>
              <a:ext cx="3809873" cy="130810"/>
            </a:xfrm>
            <a:custGeom>
              <a:avLst/>
              <a:gdLst/>
              <a:ahLst/>
              <a:cxnLst/>
              <a:rect r="r" b="b" t="t" l="l"/>
              <a:pathLst>
                <a:path h="130810" w="3809873">
                  <a:moveTo>
                    <a:pt x="0" y="0"/>
                  </a:moveTo>
                  <a:lnTo>
                    <a:pt x="3809873" y="0"/>
                  </a:lnTo>
                  <a:lnTo>
                    <a:pt x="3809873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37" id="537"/>
          <p:cNvGrpSpPr/>
          <p:nvPr/>
        </p:nvGrpSpPr>
        <p:grpSpPr>
          <a:xfrm rot="0">
            <a:off x="3378984" y="5653497"/>
            <a:ext cx="343167" cy="98117"/>
            <a:chOff x="0" y="0"/>
            <a:chExt cx="457556" cy="130823"/>
          </a:xfrm>
        </p:grpSpPr>
        <p:sp>
          <p:nvSpPr>
            <p:cNvPr name="Freeform 538" id="538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39" id="539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405</a:t>
              </a:r>
            </a:p>
          </p:txBody>
        </p:sp>
      </p:grpSp>
      <p:grpSp>
        <p:nvGrpSpPr>
          <p:cNvPr name="Group 540" id="540"/>
          <p:cNvGrpSpPr/>
          <p:nvPr/>
        </p:nvGrpSpPr>
        <p:grpSpPr>
          <a:xfrm rot="0">
            <a:off x="205902" y="5653497"/>
            <a:ext cx="247079" cy="98117"/>
            <a:chOff x="0" y="0"/>
            <a:chExt cx="329438" cy="130823"/>
          </a:xfrm>
        </p:grpSpPr>
        <p:sp>
          <p:nvSpPr>
            <p:cNvPr name="Freeform 541" id="541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42" id="542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543" id="543"/>
          <p:cNvGrpSpPr/>
          <p:nvPr/>
        </p:nvGrpSpPr>
        <p:grpSpPr>
          <a:xfrm rot="0">
            <a:off x="494167" y="5796896"/>
            <a:ext cx="3069031" cy="98117"/>
            <a:chOff x="0" y="0"/>
            <a:chExt cx="4092042" cy="130823"/>
          </a:xfrm>
        </p:grpSpPr>
        <p:sp>
          <p:nvSpPr>
            <p:cNvPr name="Freeform 544" id="544"/>
            <p:cNvSpPr/>
            <p:nvPr/>
          </p:nvSpPr>
          <p:spPr>
            <a:xfrm flipH="false" flipV="false" rot="0">
              <a:off x="0" y="0"/>
              <a:ext cx="4092067" cy="130810"/>
            </a:xfrm>
            <a:custGeom>
              <a:avLst/>
              <a:gdLst/>
              <a:ahLst/>
              <a:cxnLst/>
              <a:rect r="r" b="b" t="t" l="l"/>
              <a:pathLst>
                <a:path h="130810" w="4092067">
                  <a:moveTo>
                    <a:pt x="0" y="0"/>
                  </a:moveTo>
                  <a:lnTo>
                    <a:pt x="4092067" y="0"/>
                  </a:lnTo>
                  <a:lnTo>
                    <a:pt x="4092067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45" id="545"/>
          <p:cNvGrpSpPr/>
          <p:nvPr/>
        </p:nvGrpSpPr>
        <p:grpSpPr>
          <a:xfrm rot="0">
            <a:off x="3590649" y="5796896"/>
            <a:ext cx="343167" cy="98117"/>
            <a:chOff x="0" y="0"/>
            <a:chExt cx="457556" cy="130823"/>
          </a:xfrm>
        </p:grpSpPr>
        <p:sp>
          <p:nvSpPr>
            <p:cNvPr name="Freeform 546" id="546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47" id="547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435</a:t>
              </a:r>
            </a:p>
          </p:txBody>
        </p:sp>
      </p:grpSp>
      <p:grpSp>
        <p:nvGrpSpPr>
          <p:cNvPr name="Group 548" id="548"/>
          <p:cNvGrpSpPr/>
          <p:nvPr/>
        </p:nvGrpSpPr>
        <p:grpSpPr>
          <a:xfrm rot="0">
            <a:off x="205902" y="5796896"/>
            <a:ext cx="247079" cy="98117"/>
            <a:chOff x="0" y="0"/>
            <a:chExt cx="329438" cy="130823"/>
          </a:xfrm>
        </p:grpSpPr>
        <p:sp>
          <p:nvSpPr>
            <p:cNvPr name="Freeform 549" id="549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50" id="550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551" id="551"/>
          <p:cNvGrpSpPr/>
          <p:nvPr/>
        </p:nvGrpSpPr>
        <p:grpSpPr>
          <a:xfrm rot="0">
            <a:off x="494167" y="5940304"/>
            <a:ext cx="3351238" cy="98117"/>
            <a:chOff x="0" y="0"/>
            <a:chExt cx="4468317" cy="130823"/>
          </a:xfrm>
        </p:grpSpPr>
        <p:sp>
          <p:nvSpPr>
            <p:cNvPr name="Freeform 552" id="552"/>
            <p:cNvSpPr/>
            <p:nvPr/>
          </p:nvSpPr>
          <p:spPr>
            <a:xfrm flipH="false" flipV="false" rot="0">
              <a:off x="0" y="0"/>
              <a:ext cx="4468368" cy="130810"/>
            </a:xfrm>
            <a:custGeom>
              <a:avLst/>
              <a:gdLst/>
              <a:ahLst/>
              <a:cxnLst/>
              <a:rect r="r" b="b" t="t" l="l"/>
              <a:pathLst>
                <a:path h="130810" w="4468368">
                  <a:moveTo>
                    <a:pt x="0" y="0"/>
                  </a:moveTo>
                  <a:lnTo>
                    <a:pt x="4468368" y="0"/>
                  </a:lnTo>
                  <a:lnTo>
                    <a:pt x="4468368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53" id="553"/>
          <p:cNvGrpSpPr/>
          <p:nvPr/>
        </p:nvGrpSpPr>
        <p:grpSpPr>
          <a:xfrm rot="0">
            <a:off x="3872855" y="5940304"/>
            <a:ext cx="343167" cy="98117"/>
            <a:chOff x="0" y="0"/>
            <a:chExt cx="457556" cy="130823"/>
          </a:xfrm>
        </p:grpSpPr>
        <p:sp>
          <p:nvSpPr>
            <p:cNvPr name="Freeform 554" id="554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55" id="555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475</a:t>
              </a:r>
            </a:p>
          </p:txBody>
        </p:sp>
      </p:grpSp>
      <p:grpSp>
        <p:nvGrpSpPr>
          <p:cNvPr name="Group 556" id="556"/>
          <p:cNvGrpSpPr/>
          <p:nvPr/>
        </p:nvGrpSpPr>
        <p:grpSpPr>
          <a:xfrm rot="0">
            <a:off x="205902" y="5940304"/>
            <a:ext cx="247079" cy="98117"/>
            <a:chOff x="0" y="0"/>
            <a:chExt cx="329438" cy="130823"/>
          </a:xfrm>
        </p:grpSpPr>
        <p:sp>
          <p:nvSpPr>
            <p:cNvPr name="Freeform 557" id="557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58" id="558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559" id="559"/>
          <p:cNvGrpSpPr/>
          <p:nvPr/>
        </p:nvGrpSpPr>
        <p:grpSpPr>
          <a:xfrm rot="0">
            <a:off x="494167" y="6083713"/>
            <a:ext cx="3704006" cy="98117"/>
            <a:chOff x="0" y="0"/>
            <a:chExt cx="4938674" cy="130823"/>
          </a:xfrm>
        </p:grpSpPr>
        <p:sp>
          <p:nvSpPr>
            <p:cNvPr name="Freeform 560" id="560"/>
            <p:cNvSpPr/>
            <p:nvPr/>
          </p:nvSpPr>
          <p:spPr>
            <a:xfrm flipH="false" flipV="false" rot="0">
              <a:off x="0" y="0"/>
              <a:ext cx="4938649" cy="130810"/>
            </a:xfrm>
            <a:custGeom>
              <a:avLst/>
              <a:gdLst/>
              <a:ahLst/>
              <a:cxnLst/>
              <a:rect r="r" b="b" t="t" l="l"/>
              <a:pathLst>
                <a:path h="130810" w="4938649">
                  <a:moveTo>
                    <a:pt x="0" y="0"/>
                  </a:moveTo>
                  <a:lnTo>
                    <a:pt x="4938649" y="0"/>
                  </a:lnTo>
                  <a:lnTo>
                    <a:pt x="4938649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61" id="561"/>
          <p:cNvGrpSpPr/>
          <p:nvPr/>
        </p:nvGrpSpPr>
        <p:grpSpPr>
          <a:xfrm rot="0">
            <a:off x="4225614" y="6083713"/>
            <a:ext cx="343167" cy="98117"/>
            <a:chOff x="0" y="0"/>
            <a:chExt cx="457556" cy="130823"/>
          </a:xfrm>
        </p:grpSpPr>
        <p:sp>
          <p:nvSpPr>
            <p:cNvPr name="Freeform 562" id="562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63" id="563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525</a:t>
              </a:r>
            </a:p>
          </p:txBody>
        </p:sp>
      </p:grpSp>
      <p:grpSp>
        <p:nvGrpSpPr>
          <p:cNvPr name="Group 564" id="564"/>
          <p:cNvGrpSpPr/>
          <p:nvPr/>
        </p:nvGrpSpPr>
        <p:grpSpPr>
          <a:xfrm rot="0">
            <a:off x="205902" y="6083713"/>
            <a:ext cx="247079" cy="98117"/>
            <a:chOff x="0" y="0"/>
            <a:chExt cx="329438" cy="130823"/>
          </a:xfrm>
        </p:grpSpPr>
        <p:sp>
          <p:nvSpPr>
            <p:cNvPr name="Freeform 565" id="565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66" id="566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567" id="567"/>
          <p:cNvGrpSpPr/>
          <p:nvPr/>
        </p:nvGrpSpPr>
        <p:grpSpPr>
          <a:xfrm rot="0">
            <a:off x="494167" y="6227121"/>
            <a:ext cx="3950932" cy="98117"/>
            <a:chOff x="0" y="0"/>
            <a:chExt cx="5267909" cy="130823"/>
          </a:xfrm>
        </p:grpSpPr>
        <p:sp>
          <p:nvSpPr>
            <p:cNvPr name="Freeform 568" id="568"/>
            <p:cNvSpPr/>
            <p:nvPr/>
          </p:nvSpPr>
          <p:spPr>
            <a:xfrm flipH="false" flipV="false" rot="0">
              <a:off x="0" y="0"/>
              <a:ext cx="5267960" cy="130810"/>
            </a:xfrm>
            <a:custGeom>
              <a:avLst/>
              <a:gdLst/>
              <a:ahLst/>
              <a:cxnLst/>
              <a:rect r="r" b="b" t="t" l="l"/>
              <a:pathLst>
                <a:path h="130810" w="5267960">
                  <a:moveTo>
                    <a:pt x="0" y="0"/>
                  </a:moveTo>
                  <a:lnTo>
                    <a:pt x="5267960" y="0"/>
                  </a:lnTo>
                  <a:lnTo>
                    <a:pt x="5267960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69" id="569"/>
          <p:cNvGrpSpPr/>
          <p:nvPr/>
        </p:nvGrpSpPr>
        <p:grpSpPr>
          <a:xfrm rot="0">
            <a:off x="4472549" y="6227121"/>
            <a:ext cx="343167" cy="98117"/>
            <a:chOff x="0" y="0"/>
            <a:chExt cx="457556" cy="130823"/>
          </a:xfrm>
        </p:grpSpPr>
        <p:sp>
          <p:nvSpPr>
            <p:cNvPr name="Freeform 570" id="570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71" id="571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560</a:t>
              </a:r>
            </a:p>
          </p:txBody>
        </p:sp>
      </p:grpSp>
      <p:grpSp>
        <p:nvGrpSpPr>
          <p:cNvPr name="Group 572" id="572"/>
          <p:cNvGrpSpPr/>
          <p:nvPr/>
        </p:nvGrpSpPr>
        <p:grpSpPr>
          <a:xfrm rot="0">
            <a:off x="205902" y="6227121"/>
            <a:ext cx="247079" cy="98117"/>
            <a:chOff x="0" y="0"/>
            <a:chExt cx="329438" cy="130823"/>
          </a:xfrm>
        </p:grpSpPr>
        <p:sp>
          <p:nvSpPr>
            <p:cNvPr name="Freeform 573" id="573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74" id="574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575" id="575"/>
          <p:cNvGrpSpPr/>
          <p:nvPr/>
        </p:nvGrpSpPr>
        <p:grpSpPr>
          <a:xfrm rot="0">
            <a:off x="494167" y="6370530"/>
            <a:ext cx="4233148" cy="98117"/>
            <a:chOff x="0" y="0"/>
            <a:chExt cx="5644198" cy="130823"/>
          </a:xfrm>
        </p:grpSpPr>
        <p:sp>
          <p:nvSpPr>
            <p:cNvPr name="Freeform 576" id="576"/>
            <p:cNvSpPr/>
            <p:nvPr/>
          </p:nvSpPr>
          <p:spPr>
            <a:xfrm flipH="false" flipV="false" rot="0">
              <a:off x="0" y="0"/>
              <a:ext cx="5644134" cy="130810"/>
            </a:xfrm>
            <a:custGeom>
              <a:avLst/>
              <a:gdLst/>
              <a:ahLst/>
              <a:cxnLst/>
              <a:rect r="r" b="b" t="t" l="l"/>
              <a:pathLst>
                <a:path h="130810" w="5644134">
                  <a:moveTo>
                    <a:pt x="0" y="0"/>
                  </a:moveTo>
                  <a:lnTo>
                    <a:pt x="5644134" y="0"/>
                  </a:lnTo>
                  <a:lnTo>
                    <a:pt x="5644134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77" id="577"/>
          <p:cNvGrpSpPr/>
          <p:nvPr/>
        </p:nvGrpSpPr>
        <p:grpSpPr>
          <a:xfrm rot="0">
            <a:off x="4754756" y="6370530"/>
            <a:ext cx="343167" cy="98117"/>
            <a:chOff x="0" y="0"/>
            <a:chExt cx="457556" cy="130823"/>
          </a:xfrm>
        </p:grpSpPr>
        <p:sp>
          <p:nvSpPr>
            <p:cNvPr name="Freeform 578" id="578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79" id="579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600</a:t>
              </a:r>
            </a:p>
          </p:txBody>
        </p:sp>
      </p:grpSp>
      <p:grpSp>
        <p:nvGrpSpPr>
          <p:cNvPr name="Group 580" id="580"/>
          <p:cNvGrpSpPr/>
          <p:nvPr/>
        </p:nvGrpSpPr>
        <p:grpSpPr>
          <a:xfrm rot="0">
            <a:off x="205902" y="6370530"/>
            <a:ext cx="247079" cy="98117"/>
            <a:chOff x="0" y="0"/>
            <a:chExt cx="329438" cy="130823"/>
          </a:xfrm>
        </p:grpSpPr>
        <p:sp>
          <p:nvSpPr>
            <p:cNvPr name="Freeform 581" id="581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82" id="582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583" id="583"/>
          <p:cNvGrpSpPr/>
          <p:nvPr/>
        </p:nvGrpSpPr>
        <p:grpSpPr>
          <a:xfrm rot="0">
            <a:off x="494167" y="6513938"/>
            <a:ext cx="4515355" cy="98117"/>
            <a:chOff x="0" y="0"/>
            <a:chExt cx="6020473" cy="130823"/>
          </a:xfrm>
        </p:grpSpPr>
        <p:sp>
          <p:nvSpPr>
            <p:cNvPr name="Freeform 584" id="584"/>
            <p:cNvSpPr/>
            <p:nvPr/>
          </p:nvSpPr>
          <p:spPr>
            <a:xfrm flipH="false" flipV="false" rot="0">
              <a:off x="0" y="0"/>
              <a:ext cx="6020435" cy="130810"/>
            </a:xfrm>
            <a:custGeom>
              <a:avLst/>
              <a:gdLst/>
              <a:ahLst/>
              <a:cxnLst/>
              <a:rect r="r" b="b" t="t" l="l"/>
              <a:pathLst>
                <a:path h="130810" w="6020435">
                  <a:moveTo>
                    <a:pt x="0" y="0"/>
                  </a:moveTo>
                  <a:lnTo>
                    <a:pt x="6020435" y="0"/>
                  </a:lnTo>
                  <a:lnTo>
                    <a:pt x="6020435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85" id="585"/>
          <p:cNvGrpSpPr/>
          <p:nvPr/>
        </p:nvGrpSpPr>
        <p:grpSpPr>
          <a:xfrm rot="0">
            <a:off x="5036972" y="6513938"/>
            <a:ext cx="343167" cy="98117"/>
            <a:chOff x="0" y="0"/>
            <a:chExt cx="457556" cy="130823"/>
          </a:xfrm>
        </p:grpSpPr>
        <p:sp>
          <p:nvSpPr>
            <p:cNvPr name="Freeform 586" id="586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87" id="587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640</a:t>
              </a:r>
            </a:p>
          </p:txBody>
        </p:sp>
      </p:grpSp>
      <p:grpSp>
        <p:nvGrpSpPr>
          <p:cNvPr name="Group 588" id="588"/>
          <p:cNvGrpSpPr/>
          <p:nvPr/>
        </p:nvGrpSpPr>
        <p:grpSpPr>
          <a:xfrm rot="0">
            <a:off x="205902" y="6513938"/>
            <a:ext cx="247079" cy="98117"/>
            <a:chOff x="0" y="0"/>
            <a:chExt cx="329438" cy="130823"/>
          </a:xfrm>
        </p:grpSpPr>
        <p:sp>
          <p:nvSpPr>
            <p:cNvPr name="Freeform 589" id="589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90" id="590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</a:p>
          </p:txBody>
        </p:sp>
      </p:grpSp>
      <p:grpSp>
        <p:nvGrpSpPr>
          <p:cNvPr name="Group 591" id="591"/>
          <p:cNvGrpSpPr/>
          <p:nvPr/>
        </p:nvGrpSpPr>
        <p:grpSpPr>
          <a:xfrm rot="0">
            <a:off x="494167" y="6657346"/>
            <a:ext cx="4762290" cy="98117"/>
            <a:chOff x="0" y="0"/>
            <a:chExt cx="6349721" cy="130823"/>
          </a:xfrm>
        </p:grpSpPr>
        <p:sp>
          <p:nvSpPr>
            <p:cNvPr name="Freeform 592" id="592"/>
            <p:cNvSpPr/>
            <p:nvPr/>
          </p:nvSpPr>
          <p:spPr>
            <a:xfrm flipH="false" flipV="false" rot="0">
              <a:off x="0" y="0"/>
              <a:ext cx="6349746" cy="130810"/>
            </a:xfrm>
            <a:custGeom>
              <a:avLst/>
              <a:gdLst/>
              <a:ahLst/>
              <a:cxnLst/>
              <a:rect r="r" b="b" t="t" l="l"/>
              <a:pathLst>
                <a:path h="130810" w="6349746">
                  <a:moveTo>
                    <a:pt x="0" y="0"/>
                  </a:moveTo>
                  <a:lnTo>
                    <a:pt x="6349746" y="0"/>
                  </a:lnTo>
                  <a:lnTo>
                    <a:pt x="6349746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593" id="593"/>
          <p:cNvGrpSpPr/>
          <p:nvPr/>
        </p:nvGrpSpPr>
        <p:grpSpPr>
          <a:xfrm rot="0">
            <a:off x="5283898" y="6657346"/>
            <a:ext cx="343167" cy="98117"/>
            <a:chOff x="0" y="0"/>
            <a:chExt cx="457556" cy="130823"/>
          </a:xfrm>
        </p:grpSpPr>
        <p:sp>
          <p:nvSpPr>
            <p:cNvPr name="Freeform 594" id="594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595" id="595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675</a:t>
              </a:r>
            </a:p>
          </p:txBody>
        </p:sp>
      </p:grpSp>
      <p:grpSp>
        <p:nvGrpSpPr>
          <p:cNvPr name="Group 596" id="596"/>
          <p:cNvGrpSpPr/>
          <p:nvPr/>
        </p:nvGrpSpPr>
        <p:grpSpPr>
          <a:xfrm rot="0">
            <a:off x="205902" y="6657346"/>
            <a:ext cx="247079" cy="98117"/>
            <a:chOff x="0" y="0"/>
            <a:chExt cx="329438" cy="130823"/>
          </a:xfrm>
        </p:grpSpPr>
        <p:sp>
          <p:nvSpPr>
            <p:cNvPr name="Freeform 597" id="597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598" id="598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</a:p>
          </p:txBody>
        </p:sp>
      </p:grpSp>
      <p:grpSp>
        <p:nvGrpSpPr>
          <p:cNvPr name="Group 599" id="599"/>
          <p:cNvGrpSpPr/>
          <p:nvPr/>
        </p:nvGrpSpPr>
        <p:grpSpPr>
          <a:xfrm rot="0">
            <a:off x="494167" y="6800745"/>
            <a:ext cx="5009217" cy="98117"/>
            <a:chOff x="0" y="0"/>
            <a:chExt cx="6678955" cy="130823"/>
          </a:xfrm>
        </p:grpSpPr>
        <p:sp>
          <p:nvSpPr>
            <p:cNvPr name="Freeform 600" id="600"/>
            <p:cNvSpPr/>
            <p:nvPr/>
          </p:nvSpPr>
          <p:spPr>
            <a:xfrm flipH="false" flipV="false" rot="0">
              <a:off x="0" y="0"/>
              <a:ext cx="6678930" cy="130810"/>
            </a:xfrm>
            <a:custGeom>
              <a:avLst/>
              <a:gdLst/>
              <a:ahLst/>
              <a:cxnLst/>
              <a:rect r="r" b="b" t="t" l="l"/>
              <a:pathLst>
                <a:path h="130810" w="6678930">
                  <a:moveTo>
                    <a:pt x="0" y="0"/>
                  </a:moveTo>
                  <a:lnTo>
                    <a:pt x="6678930" y="0"/>
                  </a:lnTo>
                  <a:lnTo>
                    <a:pt x="6678930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601" id="601"/>
          <p:cNvGrpSpPr/>
          <p:nvPr/>
        </p:nvGrpSpPr>
        <p:grpSpPr>
          <a:xfrm rot="0">
            <a:off x="5530834" y="6800745"/>
            <a:ext cx="343167" cy="98117"/>
            <a:chOff x="0" y="0"/>
            <a:chExt cx="457556" cy="130823"/>
          </a:xfrm>
        </p:grpSpPr>
        <p:sp>
          <p:nvSpPr>
            <p:cNvPr name="Freeform 602" id="602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603" id="603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710</a:t>
              </a:r>
            </a:p>
          </p:txBody>
        </p:sp>
      </p:grpSp>
      <p:grpSp>
        <p:nvGrpSpPr>
          <p:cNvPr name="Group 604" id="604"/>
          <p:cNvGrpSpPr/>
          <p:nvPr/>
        </p:nvGrpSpPr>
        <p:grpSpPr>
          <a:xfrm rot="0">
            <a:off x="205902" y="6800745"/>
            <a:ext cx="247079" cy="98117"/>
            <a:chOff x="0" y="0"/>
            <a:chExt cx="329438" cy="130823"/>
          </a:xfrm>
        </p:grpSpPr>
        <p:sp>
          <p:nvSpPr>
            <p:cNvPr name="Freeform 605" id="605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606" id="606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</a:t>
              </a:r>
            </a:p>
          </p:txBody>
        </p:sp>
      </p:grpSp>
      <p:grpSp>
        <p:nvGrpSpPr>
          <p:cNvPr name="Group 607" id="607"/>
          <p:cNvGrpSpPr/>
          <p:nvPr/>
        </p:nvGrpSpPr>
        <p:grpSpPr>
          <a:xfrm rot="0">
            <a:off x="494167" y="6944154"/>
            <a:ext cx="5467807" cy="98117"/>
            <a:chOff x="0" y="0"/>
            <a:chExt cx="7290410" cy="130823"/>
          </a:xfrm>
        </p:grpSpPr>
        <p:sp>
          <p:nvSpPr>
            <p:cNvPr name="Freeform 608" id="608"/>
            <p:cNvSpPr/>
            <p:nvPr/>
          </p:nvSpPr>
          <p:spPr>
            <a:xfrm flipH="false" flipV="false" rot="0">
              <a:off x="0" y="0"/>
              <a:ext cx="7290435" cy="130810"/>
            </a:xfrm>
            <a:custGeom>
              <a:avLst/>
              <a:gdLst/>
              <a:ahLst/>
              <a:cxnLst/>
              <a:rect r="r" b="b" t="t" l="l"/>
              <a:pathLst>
                <a:path h="130810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130810"/>
                  </a:lnTo>
                  <a:lnTo>
                    <a:pt x="0" y="13081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609" id="609"/>
          <p:cNvGrpSpPr/>
          <p:nvPr/>
        </p:nvGrpSpPr>
        <p:grpSpPr>
          <a:xfrm rot="0">
            <a:off x="5989425" y="6944154"/>
            <a:ext cx="343167" cy="98117"/>
            <a:chOff x="0" y="0"/>
            <a:chExt cx="457556" cy="130823"/>
          </a:xfrm>
        </p:grpSpPr>
        <p:sp>
          <p:nvSpPr>
            <p:cNvPr name="Freeform 610" id="610"/>
            <p:cNvSpPr/>
            <p:nvPr/>
          </p:nvSpPr>
          <p:spPr>
            <a:xfrm flipH="false" flipV="false" rot="0">
              <a:off x="0" y="0"/>
              <a:ext cx="457557" cy="130826"/>
            </a:xfrm>
            <a:custGeom>
              <a:avLst/>
              <a:gdLst/>
              <a:ahLst/>
              <a:cxnLst/>
              <a:rect r="r" b="b" t="t" l="l"/>
              <a:pathLst>
                <a:path h="130826" w="457557">
                  <a:moveTo>
                    <a:pt x="0" y="0"/>
                  </a:moveTo>
                  <a:lnTo>
                    <a:pt x="457557" y="0"/>
                  </a:lnTo>
                  <a:lnTo>
                    <a:pt x="457557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48" r="0" b="-18146"/>
              </a:stretch>
            </a:blipFill>
          </p:spPr>
        </p:sp>
        <p:sp>
          <p:nvSpPr>
            <p:cNvPr name="TextBox 611" id="611"/>
            <p:cNvSpPr txBox="true"/>
            <p:nvPr/>
          </p:nvSpPr>
          <p:spPr>
            <a:xfrm>
              <a:off x="0" y="-9525"/>
              <a:ext cx="457556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775</a:t>
              </a:r>
            </a:p>
          </p:txBody>
        </p:sp>
      </p:grpSp>
      <p:grpSp>
        <p:nvGrpSpPr>
          <p:cNvPr name="Group 612" id="612"/>
          <p:cNvGrpSpPr/>
          <p:nvPr/>
        </p:nvGrpSpPr>
        <p:grpSpPr>
          <a:xfrm rot="0">
            <a:off x="205902" y="6944154"/>
            <a:ext cx="247079" cy="98117"/>
            <a:chOff x="0" y="0"/>
            <a:chExt cx="329438" cy="130823"/>
          </a:xfrm>
        </p:grpSpPr>
        <p:sp>
          <p:nvSpPr>
            <p:cNvPr name="Freeform 613" id="613"/>
            <p:cNvSpPr/>
            <p:nvPr/>
          </p:nvSpPr>
          <p:spPr>
            <a:xfrm flipH="false" flipV="false" rot="0">
              <a:off x="0" y="0"/>
              <a:ext cx="329441" cy="130826"/>
            </a:xfrm>
            <a:custGeom>
              <a:avLst/>
              <a:gdLst/>
              <a:ahLst/>
              <a:cxnLst/>
              <a:rect r="r" b="b" t="t" l="l"/>
              <a:pathLst>
                <a:path h="130826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130826"/>
                  </a:lnTo>
                  <a:lnTo>
                    <a:pt x="0" y="1308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50" t="0" r="-949" b="2"/>
              </a:stretch>
            </a:blipFill>
          </p:spPr>
        </p:sp>
        <p:sp>
          <p:nvSpPr>
            <p:cNvPr name="TextBox 614" id="614"/>
            <p:cNvSpPr txBox="true"/>
            <p:nvPr/>
          </p:nvSpPr>
          <p:spPr>
            <a:xfrm>
              <a:off x="0" y="-9525"/>
              <a:ext cx="329438" cy="140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</p:txBody>
        </p:sp>
      </p:grpSp>
      <p:grpSp>
        <p:nvGrpSpPr>
          <p:cNvPr name="Group 615" id="615"/>
          <p:cNvGrpSpPr/>
          <p:nvPr/>
        </p:nvGrpSpPr>
        <p:grpSpPr>
          <a:xfrm rot="0">
            <a:off x="494167" y="7087562"/>
            <a:ext cx="5467807" cy="8239"/>
            <a:chOff x="0" y="0"/>
            <a:chExt cx="7290410" cy="10986"/>
          </a:xfrm>
        </p:grpSpPr>
        <p:sp>
          <p:nvSpPr>
            <p:cNvPr name="Freeform 616" id="616"/>
            <p:cNvSpPr/>
            <p:nvPr/>
          </p:nvSpPr>
          <p:spPr>
            <a:xfrm flipH="false" flipV="false" rot="0">
              <a:off x="0" y="0"/>
              <a:ext cx="7290435" cy="10922"/>
            </a:xfrm>
            <a:custGeom>
              <a:avLst/>
              <a:gdLst/>
              <a:ahLst/>
              <a:cxnLst/>
              <a:rect r="r" b="b" t="t" l="l"/>
              <a:pathLst>
                <a:path h="10922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10922"/>
                  </a:lnTo>
                  <a:lnTo>
                    <a:pt x="0" y="10922"/>
                  </a:lnTo>
                  <a:close/>
                </a:path>
              </a:pathLst>
            </a:custGeom>
            <a:solidFill>
              <a:srgbClr val="AACCBB"/>
            </a:solidFill>
          </p:spPr>
        </p:sp>
      </p:grpSp>
      <p:grpSp>
        <p:nvGrpSpPr>
          <p:cNvPr name="Group 617" id="617"/>
          <p:cNvGrpSpPr/>
          <p:nvPr/>
        </p:nvGrpSpPr>
        <p:grpSpPr>
          <a:xfrm rot="0">
            <a:off x="260804" y="7169925"/>
            <a:ext cx="5742346" cy="192176"/>
            <a:chOff x="0" y="0"/>
            <a:chExt cx="7656462" cy="256235"/>
          </a:xfrm>
        </p:grpSpPr>
        <p:sp>
          <p:nvSpPr>
            <p:cNvPr name="Freeform 618" id="618"/>
            <p:cNvSpPr/>
            <p:nvPr/>
          </p:nvSpPr>
          <p:spPr>
            <a:xfrm flipH="false" flipV="false" rot="0">
              <a:off x="0" y="0"/>
              <a:ext cx="7656461" cy="256232"/>
            </a:xfrm>
            <a:custGeom>
              <a:avLst/>
              <a:gdLst/>
              <a:ahLst/>
              <a:cxnLst/>
              <a:rect r="r" b="b" t="t" l="l"/>
              <a:pathLst>
                <a:path h="256232" w="7656461">
                  <a:moveTo>
                    <a:pt x="0" y="0"/>
                  </a:moveTo>
                  <a:lnTo>
                    <a:pt x="7656461" y="0"/>
                  </a:lnTo>
                  <a:lnTo>
                    <a:pt x="765646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230" r="0" b="-532232"/>
              </a:stretch>
            </a:blipFill>
          </p:spPr>
        </p:sp>
        <p:sp>
          <p:nvSpPr>
            <p:cNvPr name="TextBox 619" id="619"/>
            <p:cNvSpPr txBox="true"/>
            <p:nvPr/>
          </p:nvSpPr>
          <p:spPr>
            <a:xfrm>
              <a:off x="0" y="-19050"/>
              <a:ext cx="7656462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i="true">
                  <a:solidFill>
                    <a:srgbClr val="7777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775T in Dec — cumulative 6,300T FY2024</a:t>
              </a:r>
            </a:p>
          </p:txBody>
        </p:sp>
      </p:grpSp>
      <p:grpSp>
        <p:nvGrpSpPr>
          <p:cNvPr name="Group 620" id="620"/>
          <p:cNvGrpSpPr/>
          <p:nvPr/>
        </p:nvGrpSpPr>
        <p:grpSpPr>
          <a:xfrm rot="0">
            <a:off x="6203051" y="4821231"/>
            <a:ext cx="5891622" cy="2574331"/>
            <a:chOff x="0" y="0"/>
            <a:chExt cx="7855496" cy="3432442"/>
          </a:xfrm>
        </p:grpSpPr>
        <p:sp>
          <p:nvSpPr>
            <p:cNvPr name="Freeform 621" id="621"/>
            <p:cNvSpPr/>
            <p:nvPr/>
          </p:nvSpPr>
          <p:spPr>
            <a:xfrm flipH="false" flipV="false" rot="0">
              <a:off x="8001" y="8001"/>
              <a:ext cx="783945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3416427"/>
                  </a:lnTo>
                  <a:lnTo>
                    <a:pt x="0" y="3416427"/>
                  </a:lnTo>
                  <a:close/>
                </a:path>
              </a:pathLst>
            </a:custGeom>
            <a:solidFill>
              <a:srgbClr val="F6FDF8"/>
            </a:solidFill>
          </p:spPr>
        </p:sp>
        <p:sp>
          <p:nvSpPr>
            <p:cNvPr name="Freeform 622" id="622"/>
            <p:cNvSpPr/>
            <p:nvPr/>
          </p:nvSpPr>
          <p:spPr>
            <a:xfrm flipH="false" flipV="false" rot="0">
              <a:off x="0" y="0"/>
              <a:ext cx="7855458" cy="3432429"/>
            </a:xfrm>
            <a:custGeom>
              <a:avLst/>
              <a:gdLst/>
              <a:ahLst/>
              <a:cxnLst/>
              <a:rect r="r" b="b" t="t" l="l"/>
              <a:pathLst>
                <a:path h="3432429" w="7855458">
                  <a:moveTo>
                    <a:pt x="8001" y="0"/>
                  </a:moveTo>
                  <a:lnTo>
                    <a:pt x="7847457" y="0"/>
                  </a:lnTo>
                  <a:cubicBezTo>
                    <a:pt x="7851901" y="0"/>
                    <a:pt x="7855458" y="3556"/>
                    <a:pt x="7855458" y="8001"/>
                  </a:cubicBezTo>
                  <a:lnTo>
                    <a:pt x="7855458" y="3424428"/>
                  </a:lnTo>
                  <a:cubicBezTo>
                    <a:pt x="7855458" y="3428873"/>
                    <a:pt x="7851901" y="3432429"/>
                    <a:pt x="7847457" y="3432429"/>
                  </a:cubicBezTo>
                  <a:lnTo>
                    <a:pt x="8001" y="3432429"/>
                  </a:lnTo>
                  <a:cubicBezTo>
                    <a:pt x="3556" y="3432429"/>
                    <a:pt x="0" y="3428873"/>
                    <a:pt x="0" y="3424428"/>
                  </a:cubicBezTo>
                  <a:lnTo>
                    <a:pt x="0" y="8001"/>
                  </a:lnTo>
                  <a:cubicBezTo>
                    <a:pt x="0" y="3556"/>
                    <a:pt x="3556" y="0"/>
                    <a:pt x="8001" y="0"/>
                  </a:cubicBezTo>
                  <a:moveTo>
                    <a:pt x="8001" y="16002"/>
                  </a:moveTo>
                  <a:lnTo>
                    <a:pt x="8001" y="8001"/>
                  </a:lnTo>
                  <a:lnTo>
                    <a:pt x="16002" y="8001"/>
                  </a:lnTo>
                  <a:lnTo>
                    <a:pt x="16002" y="3424428"/>
                  </a:lnTo>
                  <a:lnTo>
                    <a:pt x="8001" y="3424428"/>
                  </a:lnTo>
                  <a:lnTo>
                    <a:pt x="8001" y="3416427"/>
                  </a:lnTo>
                  <a:lnTo>
                    <a:pt x="7847457" y="3416427"/>
                  </a:lnTo>
                  <a:lnTo>
                    <a:pt x="7847457" y="3424428"/>
                  </a:lnTo>
                  <a:lnTo>
                    <a:pt x="7839456" y="3424428"/>
                  </a:lnTo>
                  <a:lnTo>
                    <a:pt x="7839456" y="8001"/>
                  </a:lnTo>
                  <a:lnTo>
                    <a:pt x="7847457" y="8001"/>
                  </a:lnTo>
                  <a:lnTo>
                    <a:pt x="7847457" y="16002"/>
                  </a:lnTo>
                  <a:lnTo>
                    <a:pt x="8001" y="1600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623" id="623"/>
          <p:cNvGrpSpPr/>
          <p:nvPr/>
        </p:nvGrpSpPr>
        <p:grpSpPr>
          <a:xfrm rot="0">
            <a:off x="6209052" y="4827232"/>
            <a:ext cx="5879611" cy="356892"/>
            <a:chOff x="0" y="0"/>
            <a:chExt cx="7839481" cy="475856"/>
          </a:xfrm>
        </p:grpSpPr>
        <p:sp>
          <p:nvSpPr>
            <p:cNvPr name="Freeform 624" id="624"/>
            <p:cNvSpPr/>
            <p:nvPr/>
          </p:nvSpPr>
          <p:spPr>
            <a:xfrm flipH="false" flipV="false" rot="0">
              <a:off x="0" y="0"/>
              <a:ext cx="7839456" cy="475869"/>
            </a:xfrm>
            <a:custGeom>
              <a:avLst/>
              <a:gdLst/>
              <a:ahLst/>
              <a:cxnLst/>
              <a:rect r="r" b="b" t="t" l="l"/>
              <a:pathLst>
                <a:path h="475869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25" id="625"/>
          <p:cNvGrpSpPr/>
          <p:nvPr/>
        </p:nvGrpSpPr>
        <p:grpSpPr>
          <a:xfrm rot="0">
            <a:off x="6318866" y="4882134"/>
            <a:ext cx="5714895" cy="274539"/>
            <a:chOff x="0" y="0"/>
            <a:chExt cx="7619860" cy="366052"/>
          </a:xfrm>
        </p:grpSpPr>
        <p:sp>
          <p:nvSpPr>
            <p:cNvPr name="Freeform 626" id="626"/>
            <p:cNvSpPr/>
            <p:nvPr/>
          </p:nvSpPr>
          <p:spPr>
            <a:xfrm flipH="false" flipV="false" rot="0">
              <a:off x="0" y="0"/>
              <a:ext cx="7619857" cy="366046"/>
            </a:xfrm>
            <a:custGeom>
              <a:avLst/>
              <a:gdLst/>
              <a:ahLst/>
              <a:cxnLst/>
              <a:rect r="r" b="b" t="t" l="l"/>
              <a:pathLst>
                <a:path h="366046" w="7619857">
                  <a:moveTo>
                    <a:pt x="0" y="0"/>
                  </a:moveTo>
                  <a:lnTo>
                    <a:pt x="7619857" y="0"/>
                  </a:lnTo>
                  <a:lnTo>
                    <a:pt x="76198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12" r="0" b="-355614"/>
              </a:stretch>
            </a:blipFill>
          </p:spPr>
        </p:sp>
        <p:sp>
          <p:nvSpPr>
            <p:cNvPr name="TextBox 627" id="627"/>
            <p:cNvSpPr txBox="true"/>
            <p:nvPr/>
          </p:nvSpPr>
          <p:spPr>
            <a:xfrm>
              <a:off x="0" y="-19050"/>
              <a:ext cx="7619860" cy="38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📉  Customer Retention Rate %  —  Jan–Dec 2024</a:t>
              </a:r>
            </a:p>
          </p:txBody>
        </p:sp>
      </p:grpSp>
      <p:grpSp>
        <p:nvGrpSpPr>
          <p:cNvPr name="Group 628" id="628"/>
          <p:cNvGrpSpPr/>
          <p:nvPr/>
        </p:nvGrpSpPr>
        <p:grpSpPr>
          <a:xfrm rot="0">
            <a:off x="6511042" y="6498841"/>
            <a:ext cx="5467807" cy="5486"/>
            <a:chOff x="0" y="0"/>
            <a:chExt cx="7290410" cy="7315"/>
          </a:xfrm>
        </p:grpSpPr>
        <p:sp>
          <p:nvSpPr>
            <p:cNvPr name="Freeform 629" id="629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630" id="630"/>
          <p:cNvGrpSpPr/>
          <p:nvPr/>
        </p:nvGrpSpPr>
        <p:grpSpPr>
          <a:xfrm rot="0">
            <a:off x="6222778" y="6375302"/>
            <a:ext cx="247079" cy="178451"/>
            <a:chOff x="0" y="0"/>
            <a:chExt cx="329438" cy="237934"/>
          </a:xfrm>
        </p:grpSpPr>
        <p:sp>
          <p:nvSpPr>
            <p:cNvPr name="Freeform 631" id="631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632" id="632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61%</a:t>
              </a:r>
            </a:p>
          </p:txBody>
        </p:sp>
      </p:grpSp>
      <p:grpSp>
        <p:nvGrpSpPr>
          <p:cNvPr name="Group 633" id="633"/>
          <p:cNvGrpSpPr/>
          <p:nvPr/>
        </p:nvGrpSpPr>
        <p:grpSpPr>
          <a:xfrm rot="0">
            <a:off x="6511042" y="5910120"/>
            <a:ext cx="5467807" cy="5486"/>
            <a:chOff x="0" y="0"/>
            <a:chExt cx="7290410" cy="7315"/>
          </a:xfrm>
        </p:grpSpPr>
        <p:sp>
          <p:nvSpPr>
            <p:cNvPr name="Freeform 634" id="634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635" id="635"/>
          <p:cNvGrpSpPr/>
          <p:nvPr/>
        </p:nvGrpSpPr>
        <p:grpSpPr>
          <a:xfrm rot="0">
            <a:off x="6222778" y="5786580"/>
            <a:ext cx="247079" cy="178451"/>
            <a:chOff x="0" y="0"/>
            <a:chExt cx="329438" cy="237934"/>
          </a:xfrm>
        </p:grpSpPr>
        <p:sp>
          <p:nvSpPr>
            <p:cNvPr name="Freeform 636" id="636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637" id="637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68%</a:t>
              </a:r>
            </a:p>
          </p:txBody>
        </p:sp>
      </p:grpSp>
      <p:grpSp>
        <p:nvGrpSpPr>
          <p:cNvPr name="Group 638" id="638"/>
          <p:cNvGrpSpPr/>
          <p:nvPr/>
        </p:nvGrpSpPr>
        <p:grpSpPr>
          <a:xfrm rot="0">
            <a:off x="6511042" y="5321389"/>
            <a:ext cx="5467807" cy="5486"/>
            <a:chOff x="0" y="0"/>
            <a:chExt cx="7290410" cy="7315"/>
          </a:xfrm>
        </p:grpSpPr>
        <p:sp>
          <p:nvSpPr>
            <p:cNvPr name="Freeform 639" id="639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640" id="640"/>
          <p:cNvGrpSpPr/>
          <p:nvPr/>
        </p:nvGrpSpPr>
        <p:grpSpPr>
          <a:xfrm rot="0">
            <a:off x="6222778" y="5197850"/>
            <a:ext cx="247079" cy="178451"/>
            <a:chOff x="0" y="0"/>
            <a:chExt cx="329438" cy="237934"/>
          </a:xfrm>
        </p:grpSpPr>
        <p:sp>
          <p:nvSpPr>
            <p:cNvPr name="Freeform 641" id="641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642" id="642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74%</a:t>
              </a:r>
            </a:p>
          </p:txBody>
        </p:sp>
      </p:grpSp>
      <p:grpSp>
        <p:nvGrpSpPr>
          <p:cNvPr name="Group 643" id="643"/>
          <p:cNvGrpSpPr/>
          <p:nvPr/>
        </p:nvGrpSpPr>
        <p:grpSpPr>
          <a:xfrm rot="0">
            <a:off x="6493888" y="6616351"/>
            <a:ext cx="542373" cy="227876"/>
            <a:chOff x="0" y="0"/>
            <a:chExt cx="723163" cy="303835"/>
          </a:xfrm>
        </p:grpSpPr>
        <p:sp>
          <p:nvSpPr>
            <p:cNvPr name="Freeform 644" id="644"/>
            <p:cNvSpPr/>
            <p:nvPr/>
          </p:nvSpPr>
          <p:spPr>
            <a:xfrm flipH="false" flipV="false" rot="0">
              <a:off x="0" y="0"/>
              <a:ext cx="723138" cy="303784"/>
            </a:xfrm>
            <a:custGeom>
              <a:avLst/>
              <a:gdLst/>
              <a:ahLst/>
              <a:cxnLst/>
              <a:rect r="r" b="b" t="t" l="l"/>
              <a:pathLst>
                <a:path h="303784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80924"/>
                  </a:lnTo>
                  <a:cubicBezTo>
                    <a:pt x="723138" y="293497"/>
                    <a:pt x="712851" y="303784"/>
                    <a:pt x="700278" y="303784"/>
                  </a:cubicBezTo>
                  <a:lnTo>
                    <a:pt x="22860" y="303784"/>
                  </a:lnTo>
                  <a:cubicBezTo>
                    <a:pt x="10287" y="303784"/>
                    <a:pt x="0" y="293497"/>
                    <a:pt x="0" y="280924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80924"/>
                  </a:lnTo>
                  <a:lnTo>
                    <a:pt x="22860" y="280924"/>
                  </a:lnTo>
                  <a:lnTo>
                    <a:pt x="22860" y="258064"/>
                  </a:lnTo>
                  <a:lnTo>
                    <a:pt x="700278" y="258064"/>
                  </a:lnTo>
                  <a:lnTo>
                    <a:pt x="700278" y="280924"/>
                  </a:lnTo>
                  <a:lnTo>
                    <a:pt x="677418" y="280924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45" id="645"/>
          <p:cNvGrpSpPr/>
          <p:nvPr/>
        </p:nvGrpSpPr>
        <p:grpSpPr>
          <a:xfrm rot="0">
            <a:off x="6990959" y="6523692"/>
            <a:ext cx="542373" cy="135217"/>
            <a:chOff x="0" y="0"/>
            <a:chExt cx="723163" cy="180289"/>
          </a:xfrm>
        </p:grpSpPr>
        <p:sp>
          <p:nvSpPr>
            <p:cNvPr name="Freeform 646" id="646"/>
            <p:cNvSpPr/>
            <p:nvPr/>
          </p:nvSpPr>
          <p:spPr>
            <a:xfrm flipH="false" flipV="false" rot="0">
              <a:off x="0" y="0"/>
              <a:ext cx="723138" cy="180213"/>
            </a:xfrm>
            <a:custGeom>
              <a:avLst/>
              <a:gdLst/>
              <a:ahLst/>
              <a:cxnLst/>
              <a:rect r="r" b="b" t="t" l="l"/>
              <a:pathLst>
                <a:path h="18021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57353"/>
                  </a:lnTo>
                  <a:cubicBezTo>
                    <a:pt x="723138" y="169926"/>
                    <a:pt x="712851" y="180213"/>
                    <a:pt x="700278" y="180213"/>
                  </a:cubicBezTo>
                  <a:lnTo>
                    <a:pt x="22860" y="180213"/>
                  </a:lnTo>
                  <a:cubicBezTo>
                    <a:pt x="10287" y="180213"/>
                    <a:pt x="0" y="169926"/>
                    <a:pt x="0" y="157353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57353"/>
                  </a:lnTo>
                  <a:lnTo>
                    <a:pt x="22860" y="157353"/>
                  </a:lnTo>
                  <a:lnTo>
                    <a:pt x="22860" y="134493"/>
                  </a:lnTo>
                  <a:lnTo>
                    <a:pt x="700278" y="134493"/>
                  </a:lnTo>
                  <a:lnTo>
                    <a:pt x="700278" y="157353"/>
                  </a:lnTo>
                  <a:lnTo>
                    <a:pt x="677418" y="157353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47" id="647"/>
          <p:cNvGrpSpPr/>
          <p:nvPr/>
        </p:nvGrpSpPr>
        <p:grpSpPr>
          <a:xfrm rot="0">
            <a:off x="7488031" y="6338364"/>
            <a:ext cx="542373" cy="227876"/>
            <a:chOff x="0" y="0"/>
            <a:chExt cx="723163" cy="303835"/>
          </a:xfrm>
        </p:grpSpPr>
        <p:sp>
          <p:nvSpPr>
            <p:cNvPr name="Freeform 648" id="648"/>
            <p:cNvSpPr/>
            <p:nvPr/>
          </p:nvSpPr>
          <p:spPr>
            <a:xfrm flipH="false" flipV="false" rot="0">
              <a:off x="0" y="0"/>
              <a:ext cx="723138" cy="303784"/>
            </a:xfrm>
            <a:custGeom>
              <a:avLst/>
              <a:gdLst/>
              <a:ahLst/>
              <a:cxnLst/>
              <a:rect r="r" b="b" t="t" l="l"/>
              <a:pathLst>
                <a:path h="303784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80924"/>
                  </a:lnTo>
                  <a:cubicBezTo>
                    <a:pt x="723138" y="293497"/>
                    <a:pt x="712851" y="303784"/>
                    <a:pt x="700278" y="303784"/>
                  </a:cubicBezTo>
                  <a:lnTo>
                    <a:pt x="22860" y="303784"/>
                  </a:lnTo>
                  <a:cubicBezTo>
                    <a:pt x="10287" y="303784"/>
                    <a:pt x="0" y="293497"/>
                    <a:pt x="0" y="280924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80924"/>
                  </a:lnTo>
                  <a:lnTo>
                    <a:pt x="22860" y="280924"/>
                  </a:lnTo>
                  <a:lnTo>
                    <a:pt x="22860" y="258064"/>
                  </a:lnTo>
                  <a:lnTo>
                    <a:pt x="700278" y="258064"/>
                  </a:lnTo>
                  <a:lnTo>
                    <a:pt x="700278" y="280924"/>
                  </a:lnTo>
                  <a:lnTo>
                    <a:pt x="677418" y="280924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49" id="649"/>
          <p:cNvGrpSpPr/>
          <p:nvPr/>
        </p:nvGrpSpPr>
        <p:grpSpPr>
          <a:xfrm rot="0">
            <a:off x="7985103" y="6153036"/>
            <a:ext cx="542373" cy="227876"/>
            <a:chOff x="0" y="0"/>
            <a:chExt cx="723163" cy="303835"/>
          </a:xfrm>
        </p:grpSpPr>
        <p:sp>
          <p:nvSpPr>
            <p:cNvPr name="Freeform 650" id="650"/>
            <p:cNvSpPr/>
            <p:nvPr/>
          </p:nvSpPr>
          <p:spPr>
            <a:xfrm flipH="false" flipV="false" rot="0">
              <a:off x="0" y="0"/>
              <a:ext cx="723138" cy="303784"/>
            </a:xfrm>
            <a:custGeom>
              <a:avLst/>
              <a:gdLst/>
              <a:ahLst/>
              <a:cxnLst/>
              <a:rect r="r" b="b" t="t" l="l"/>
              <a:pathLst>
                <a:path h="303784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280924"/>
                  </a:lnTo>
                  <a:cubicBezTo>
                    <a:pt x="723138" y="293497"/>
                    <a:pt x="712851" y="303784"/>
                    <a:pt x="700278" y="303784"/>
                  </a:cubicBezTo>
                  <a:lnTo>
                    <a:pt x="22860" y="303784"/>
                  </a:lnTo>
                  <a:cubicBezTo>
                    <a:pt x="10287" y="303784"/>
                    <a:pt x="0" y="293497"/>
                    <a:pt x="0" y="280924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280924"/>
                  </a:lnTo>
                  <a:lnTo>
                    <a:pt x="22860" y="280924"/>
                  </a:lnTo>
                  <a:lnTo>
                    <a:pt x="22860" y="258064"/>
                  </a:lnTo>
                  <a:lnTo>
                    <a:pt x="700278" y="258064"/>
                  </a:lnTo>
                  <a:lnTo>
                    <a:pt x="700278" y="280924"/>
                  </a:lnTo>
                  <a:lnTo>
                    <a:pt x="677418" y="280924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51" id="651"/>
          <p:cNvGrpSpPr/>
          <p:nvPr/>
        </p:nvGrpSpPr>
        <p:grpSpPr>
          <a:xfrm rot="0">
            <a:off x="8482174" y="6060367"/>
            <a:ext cx="542373" cy="135217"/>
            <a:chOff x="0" y="0"/>
            <a:chExt cx="723163" cy="180289"/>
          </a:xfrm>
        </p:grpSpPr>
        <p:sp>
          <p:nvSpPr>
            <p:cNvPr name="Freeform 652" id="652"/>
            <p:cNvSpPr/>
            <p:nvPr/>
          </p:nvSpPr>
          <p:spPr>
            <a:xfrm flipH="false" flipV="false" rot="0">
              <a:off x="0" y="0"/>
              <a:ext cx="723138" cy="180213"/>
            </a:xfrm>
            <a:custGeom>
              <a:avLst/>
              <a:gdLst/>
              <a:ahLst/>
              <a:cxnLst/>
              <a:rect r="r" b="b" t="t" l="l"/>
              <a:pathLst>
                <a:path h="18021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57353"/>
                  </a:lnTo>
                  <a:cubicBezTo>
                    <a:pt x="723138" y="169926"/>
                    <a:pt x="712851" y="180213"/>
                    <a:pt x="700278" y="180213"/>
                  </a:cubicBezTo>
                  <a:lnTo>
                    <a:pt x="22860" y="180213"/>
                  </a:lnTo>
                  <a:cubicBezTo>
                    <a:pt x="10287" y="180213"/>
                    <a:pt x="0" y="169926"/>
                    <a:pt x="0" y="157353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57353"/>
                  </a:lnTo>
                  <a:lnTo>
                    <a:pt x="22860" y="157353"/>
                  </a:lnTo>
                  <a:lnTo>
                    <a:pt x="22860" y="134493"/>
                  </a:lnTo>
                  <a:lnTo>
                    <a:pt x="700278" y="134493"/>
                  </a:lnTo>
                  <a:lnTo>
                    <a:pt x="700278" y="157353"/>
                  </a:lnTo>
                  <a:lnTo>
                    <a:pt x="677418" y="157353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53" id="653"/>
          <p:cNvGrpSpPr/>
          <p:nvPr/>
        </p:nvGrpSpPr>
        <p:grpSpPr>
          <a:xfrm rot="0">
            <a:off x="8979256" y="5967708"/>
            <a:ext cx="542373" cy="135217"/>
            <a:chOff x="0" y="0"/>
            <a:chExt cx="723163" cy="180289"/>
          </a:xfrm>
        </p:grpSpPr>
        <p:sp>
          <p:nvSpPr>
            <p:cNvPr name="Freeform 654" id="654"/>
            <p:cNvSpPr/>
            <p:nvPr/>
          </p:nvSpPr>
          <p:spPr>
            <a:xfrm flipH="false" flipV="false" rot="0">
              <a:off x="0" y="0"/>
              <a:ext cx="723138" cy="180213"/>
            </a:xfrm>
            <a:custGeom>
              <a:avLst/>
              <a:gdLst/>
              <a:ahLst/>
              <a:cxnLst/>
              <a:rect r="r" b="b" t="t" l="l"/>
              <a:pathLst>
                <a:path h="18021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57353"/>
                  </a:lnTo>
                  <a:cubicBezTo>
                    <a:pt x="723138" y="169926"/>
                    <a:pt x="712851" y="180213"/>
                    <a:pt x="700278" y="180213"/>
                  </a:cubicBezTo>
                  <a:lnTo>
                    <a:pt x="22860" y="180213"/>
                  </a:lnTo>
                  <a:cubicBezTo>
                    <a:pt x="10287" y="180213"/>
                    <a:pt x="0" y="169926"/>
                    <a:pt x="0" y="157353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57353"/>
                  </a:lnTo>
                  <a:lnTo>
                    <a:pt x="22860" y="157353"/>
                  </a:lnTo>
                  <a:lnTo>
                    <a:pt x="22860" y="134493"/>
                  </a:lnTo>
                  <a:lnTo>
                    <a:pt x="700278" y="134493"/>
                  </a:lnTo>
                  <a:lnTo>
                    <a:pt x="700278" y="157353"/>
                  </a:lnTo>
                  <a:lnTo>
                    <a:pt x="677418" y="157353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55" id="655"/>
          <p:cNvGrpSpPr/>
          <p:nvPr/>
        </p:nvGrpSpPr>
        <p:grpSpPr>
          <a:xfrm rot="0">
            <a:off x="9476327" y="5875039"/>
            <a:ext cx="542373" cy="135217"/>
            <a:chOff x="0" y="0"/>
            <a:chExt cx="723163" cy="180289"/>
          </a:xfrm>
        </p:grpSpPr>
        <p:sp>
          <p:nvSpPr>
            <p:cNvPr name="Freeform 656" id="656"/>
            <p:cNvSpPr/>
            <p:nvPr/>
          </p:nvSpPr>
          <p:spPr>
            <a:xfrm flipH="false" flipV="false" rot="0">
              <a:off x="0" y="0"/>
              <a:ext cx="723138" cy="180213"/>
            </a:xfrm>
            <a:custGeom>
              <a:avLst/>
              <a:gdLst/>
              <a:ahLst/>
              <a:cxnLst/>
              <a:rect r="r" b="b" t="t" l="l"/>
              <a:pathLst>
                <a:path h="18021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57353"/>
                  </a:lnTo>
                  <a:cubicBezTo>
                    <a:pt x="723138" y="169926"/>
                    <a:pt x="712851" y="180213"/>
                    <a:pt x="700278" y="180213"/>
                  </a:cubicBezTo>
                  <a:lnTo>
                    <a:pt x="22860" y="180213"/>
                  </a:lnTo>
                  <a:cubicBezTo>
                    <a:pt x="10287" y="180213"/>
                    <a:pt x="0" y="169926"/>
                    <a:pt x="0" y="157353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57353"/>
                  </a:lnTo>
                  <a:lnTo>
                    <a:pt x="22860" y="157353"/>
                  </a:lnTo>
                  <a:lnTo>
                    <a:pt x="22860" y="134493"/>
                  </a:lnTo>
                  <a:lnTo>
                    <a:pt x="700278" y="134493"/>
                  </a:lnTo>
                  <a:lnTo>
                    <a:pt x="700278" y="157353"/>
                  </a:lnTo>
                  <a:lnTo>
                    <a:pt x="677418" y="157353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57" id="657"/>
          <p:cNvGrpSpPr/>
          <p:nvPr/>
        </p:nvGrpSpPr>
        <p:grpSpPr>
          <a:xfrm rot="0">
            <a:off x="9973399" y="5782380"/>
            <a:ext cx="542373" cy="135217"/>
            <a:chOff x="0" y="0"/>
            <a:chExt cx="723163" cy="180289"/>
          </a:xfrm>
        </p:grpSpPr>
        <p:sp>
          <p:nvSpPr>
            <p:cNvPr name="Freeform 658" id="658"/>
            <p:cNvSpPr/>
            <p:nvPr/>
          </p:nvSpPr>
          <p:spPr>
            <a:xfrm flipH="false" flipV="false" rot="0">
              <a:off x="0" y="0"/>
              <a:ext cx="723138" cy="180213"/>
            </a:xfrm>
            <a:custGeom>
              <a:avLst/>
              <a:gdLst/>
              <a:ahLst/>
              <a:cxnLst/>
              <a:rect r="r" b="b" t="t" l="l"/>
              <a:pathLst>
                <a:path h="18021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57353"/>
                  </a:lnTo>
                  <a:cubicBezTo>
                    <a:pt x="723138" y="169926"/>
                    <a:pt x="712851" y="180213"/>
                    <a:pt x="700278" y="180213"/>
                  </a:cubicBezTo>
                  <a:lnTo>
                    <a:pt x="22860" y="180213"/>
                  </a:lnTo>
                  <a:cubicBezTo>
                    <a:pt x="10287" y="180213"/>
                    <a:pt x="0" y="169926"/>
                    <a:pt x="0" y="157353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57353"/>
                  </a:lnTo>
                  <a:lnTo>
                    <a:pt x="22860" y="157353"/>
                  </a:lnTo>
                  <a:lnTo>
                    <a:pt x="22860" y="134493"/>
                  </a:lnTo>
                  <a:lnTo>
                    <a:pt x="700278" y="134493"/>
                  </a:lnTo>
                  <a:lnTo>
                    <a:pt x="700278" y="157353"/>
                  </a:lnTo>
                  <a:lnTo>
                    <a:pt x="677418" y="157353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59" id="659"/>
          <p:cNvGrpSpPr/>
          <p:nvPr/>
        </p:nvGrpSpPr>
        <p:grpSpPr>
          <a:xfrm rot="0">
            <a:off x="10470471" y="5689711"/>
            <a:ext cx="542373" cy="135217"/>
            <a:chOff x="0" y="0"/>
            <a:chExt cx="723163" cy="180289"/>
          </a:xfrm>
        </p:grpSpPr>
        <p:sp>
          <p:nvSpPr>
            <p:cNvPr name="Freeform 660" id="660"/>
            <p:cNvSpPr/>
            <p:nvPr/>
          </p:nvSpPr>
          <p:spPr>
            <a:xfrm flipH="false" flipV="false" rot="0">
              <a:off x="0" y="0"/>
              <a:ext cx="723138" cy="180213"/>
            </a:xfrm>
            <a:custGeom>
              <a:avLst/>
              <a:gdLst/>
              <a:ahLst/>
              <a:cxnLst/>
              <a:rect r="r" b="b" t="t" l="l"/>
              <a:pathLst>
                <a:path h="18021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57353"/>
                  </a:lnTo>
                  <a:cubicBezTo>
                    <a:pt x="723138" y="169926"/>
                    <a:pt x="712851" y="180213"/>
                    <a:pt x="700278" y="180213"/>
                  </a:cubicBezTo>
                  <a:lnTo>
                    <a:pt x="22860" y="180213"/>
                  </a:lnTo>
                  <a:cubicBezTo>
                    <a:pt x="10287" y="180213"/>
                    <a:pt x="0" y="169926"/>
                    <a:pt x="0" y="157353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57353"/>
                  </a:lnTo>
                  <a:lnTo>
                    <a:pt x="22860" y="157353"/>
                  </a:lnTo>
                  <a:lnTo>
                    <a:pt x="22860" y="134493"/>
                  </a:lnTo>
                  <a:lnTo>
                    <a:pt x="700278" y="134493"/>
                  </a:lnTo>
                  <a:lnTo>
                    <a:pt x="700278" y="157353"/>
                  </a:lnTo>
                  <a:lnTo>
                    <a:pt x="677418" y="157353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61" id="661"/>
          <p:cNvGrpSpPr/>
          <p:nvPr/>
        </p:nvGrpSpPr>
        <p:grpSpPr>
          <a:xfrm rot="0">
            <a:off x="10967552" y="5597052"/>
            <a:ext cx="542373" cy="135217"/>
            <a:chOff x="0" y="0"/>
            <a:chExt cx="723163" cy="180289"/>
          </a:xfrm>
        </p:grpSpPr>
        <p:sp>
          <p:nvSpPr>
            <p:cNvPr name="Freeform 662" id="662"/>
            <p:cNvSpPr/>
            <p:nvPr/>
          </p:nvSpPr>
          <p:spPr>
            <a:xfrm flipH="false" flipV="false" rot="0">
              <a:off x="0" y="0"/>
              <a:ext cx="723138" cy="180213"/>
            </a:xfrm>
            <a:custGeom>
              <a:avLst/>
              <a:gdLst/>
              <a:ahLst/>
              <a:cxnLst/>
              <a:rect r="r" b="b" t="t" l="l"/>
              <a:pathLst>
                <a:path h="18021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57353"/>
                  </a:lnTo>
                  <a:cubicBezTo>
                    <a:pt x="723138" y="169926"/>
                    <a:pt x="712851" y="180213"/>
                    <a:pt x="700278" y="180213"/>
                  </a:cubicBezTo>
                  <a:lnTo>
                    <a:pt x="22860" y="180213"/>
                  </a:lnTo>
                  <a:cubicBezTo>
                    <a:pt x="10287" y="180213"/>
                    <a:pt x="0" y="169926"/>
                    <a:pt x="0" y="157353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57353"/>
                  </a:lnTo>
                  <a:lnTo>
                    <a:pt x="22860" y="157353"/>
                  </a:lnTo>
                  <a:lnTo>
                    <a:pt x="22860" y="134493"/>
                  </a:lnTo>
                  <a:lnTo>
                    <a:pt x="700278" y="134493"/>
                  </a:lnTo>
                  <a:lnTo>
                    <a:pt x="700278" y="157353"/>
                  </a:lnTo>
                  <a:lnTo>
                    <a:pt x="677418" y="157353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63" id="663"/>
          <p:cNvGrpSpPr/>
          <p:nvPr/>
        </p:nvGrpSpPr>
        <p:grpSpPr>
          <a:xfrm rot="0">
            <a:off x="11464623" y="5504383"/>
            <a:ext cx="542373" cy="135217"/>
            <a:chOff x="0" y="0"/>
            <a:chExt cx="723163" cy="180289"/>
          </a:xfrm>
        </p:grpSpPr>
        <p:sp>
          <p:nvSpPr>
            <p:cNvPr name="Freeform 664" id="664"/>
            <p:cNvSpPr/>
            <p:nvPr/>
          </p:nvSpPr>
          <p:spPr>
            <a:xfrm flipH="false" flipV="false" rot="0">
              <a:off x="0" y="0"/>
              <a:ext cx="723138" cy="180213"/>
            </a:xfrm>
            <a:custGeom>
              <a:avLst/>
              <a:gdLst/>
              <a:ahLst/>
              <a:cxnLst/>
              <a:rect r="r" b="b" t="t" l="l"/>
              <a:pathLst>
                <a:path h="18021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157353"/>
                  </a:lnTo>
                  <a:cubicBezTo>
                    <a:pt x="723138" y="169926"/>
                    <a:pt x="712851" y="180213"/>
                    <a:pt x="700278" y="180213"/>
                  </a:cubicBezTo>
                  <a:lnTo>
                    <a:pt x="22860" y="180213"/>
                  </a:lnTo>
                  <a:cubicBezTo>
                    <a:pt x="10287" y="180213"/>
                    <a:pt x="0" y="169926"/>
                    <a:pt x="0" y="157353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157353"/>
                  </a:lnTo>
                  <a:lnTo>
                    <a:pt x="22860" y="157353"/>
                  </a:lnTo>
                  <a:lnTo>
                    <a:pt x="22860" y="134493"/>
                  </a:lnTo>
                  <a:lnTo>
                    <a:pt x="700278" y="134493"/>
                  </a:lnTo>
                  <a:lnTo>
                    <a:pt x="700278" y="157353"/>
                  </a:lnTo>
                  <a:lnTo>
                    <a:pt x="677418" y="157353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665" id="665"/>
          <p:cNvGrpSpPr/>
          <p:nvPr/>
        </p:nvGrpSpPr>
        <p:grpSpPr>
          <a:xfrm rot="0">
            <a:off x="6436919" y="6744719"/>
            <a:ext cx="148247" cy="148247"/>
            <a:chOff x="0" y="0"/>
            <a:chExt cx="197663" cy="197663"/>
          </a:xfrm>
        </p:grpSpPr>
        <p:sp>
          <p:nvSpPr>
            <p:cNvPr name="Freeform 666" id="666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667" id="667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8" id="668"/>
          <p:cNvGrpSpPr/>
          <p:nvPr/>
        </p:nvGrpSpPr>
        <p:grpSpPr>
          <a:xfrm rot="0">
            <a:off x="6346327" y="6558029"/>
            <a:ext cx="329441" cy="178451"/>
            <a:chOff x="0" y="0"/>
            <a:chExt cx="439255" cy="237934"/>
          </a:xfrm>
        </p:grpSpPr>
        <p:sp>
          <p:nvSpPr>
            <p:cNvPr name="Freeform 669" id="669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670" id="670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58%</a:t>
              </a:r>
            </a:p>
          </p:txBody>
        </p:sp>
      </p:grpSp>
      <p:grpSp>
        <p:nvGrpSpPr>
          <p:cNvPr name="Group 671" id="671"/>
          <p:cNvGrpSpPr/>
          <p:nvPr/>
        </p:nvGrpSpPr>
        <p:grpSpPr>
          <a:xfrm rot="0">
            <a:off x="6414954" y="7115023"/>
            <a:ext cx="192176" cy="192176"/>
            <a:chOff x="0" y="0"/>
            <a:chExt cx="256235" cy="256235"/>
          </a:xfrm>
        </p:grpSpPr>
        <p:sp>
          <p:nvSpPr>
            <p:cNvPr name="Freeform 672" id="672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673" id="673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674" id="674"/>
          <p:cNvGrpSpPr/>
          <p:nvPr/>
        </p:nvGrpSpPr>
        <p:grpSpPr>
          <a:xfrm rot="0">
            <a:off x="6933990" y="6559391"/>
            <a:ext cx="148247" cy="148247"/>
            <a:chOff x="0" y="0"/>
            <a:chExt cx="197663" cy="197663"/>
          </a:xfrm>
        </p:grpSpPr>
        <p:sp>
          <p:nvSpPr>
            <p:cNvPr name="Freeform 675" id="675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676" id="676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7" id="677"/>
          <p:cNvGrpSpPr/>
          <p:nvPr/>
        </p:nvGrpSpPr>
        <p:grpSpPr>
          <a:xfrm rot="0">
            <a:off x="6843398" y="6372701"/>
            <a:ext cx="329441" cy="178451"/>
            <a:chOff x="0" y="0"/>
            <a:chExt cx="439255" cy="237934"/>
          </a:xfrm>
        </p:grpSpPr>
        <p:sp>
          <p:nvSpPr>
            <p:cNvPr name="Freeform 678" id="678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679" id="679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60%</a:t>
              </a:r>
            </a:p>
          </p:txBody>
        </p:sp>
      </p:grpSp>
      <p:grpSp>
        <p:nvGrpSpPr>
          <p:cNvPr name="Group 680" id="680"/>
          <p:cNvGrpSpPr/>
          <p:nvPr/>
        </p:nvGrpSpPr>
        <p:grpSpPr>
          <a:xfrm rot="0">
            <a:off x="6912026" y="7115023"/>
            <a:ext cx="192176" cy="192176"/>
            <a:chOff x="0" y="0"/>
            <a:chExt cx="256235" cy="256235"/>
          </a:xfrm>
        </p:grpSpPr>
        <p:sp>
          <p:nvSpPr>
            <p:cNvPr name="Freeform 681" id="681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682" id="682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</a:p>
          </p:txBody>
        </p:sp>
      </p:grpSp>
      <p:grpSp>
        <p:nvGrpSpPr>
          <p:cNvPr name="Group 683" id="683"/>
          <p:cNvGrpSpPr/>
          <p:nvPr/>
        </p:nvGrpSpPr>
        <p:grpSpPr>
          <a:xfrm rot="0">
            <a:off x="7431062" y="6466723"/>
            <a:ext cx="148247" cy="148247"/>
            <a:chOff x="0" y="0"/>
            <a:chExt cx="197663" cy="197663"/>
          </a:xfrm>
        </p:grpSpPr>
        <p:sp>
          <p:nvSpPr>
            <p:cNvPr name="Freeform 684" id="684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685" id="685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86" id="686"/>
          <p:cNvGrpSpPr/>
          <p:nvPr/>
        </p:nvGrpSpPr>
        <p:grpSpPr>
          <a:xfrm rot="0">
            <a:off x="7340470" y="6280042"/>
            <a:ext cx="329441" cy="178451"/>
            <a:chOff x="0" y="0"/>
            <a:chExt cx="439255" cy="237934"/>
          </a:xfrm>
        </p:grpSpPr>
        <p:sp>
          <p:nvSpPr>
            <p:cNvPr name="Freeform 687" id="687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688" id="688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61%</a:t>
              </a:r>
            </a:p>
          </p:txBody>
        </p:sp>
      </p:grpSp>
      <p:grpSp>
        <p:nvGrpSpPr>
          <p:cNvPr name="Group 689" id="689"/>
          <p:cNvGrpSpPr/>
          <p:nvPr/>
        </p:nvGrpSpPr>
        <p:grpSpPr>
          <a:xfrm rot="0">
            <a:off x="7409107" y="7115023"/>
            <a:ext cx="192176" cy="192176"/>
            <a:chOff x="0" y="0"/>
            <a:chExt cx="256235" cy="256235"/>
          </a:xfrm>
        </p:grpSpPr>
        <p:sp>
          <p:nvSpPr>
            <p:cNvPr name="Freeform 690" id="690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691" id="691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692" id="692"/>
          <p:cNvGrpSpPr/>
          <p:nvPr/>
        </p:nvGrpSpPr>
        <p:grpSpPr>
          <a:xfrm rot="0">
            <a:off x="7928143" y="6281395"/>
            <a:ext cx="148247" cy="148247"/>
            <a:chOff x="0" y="0"/>
            <a:chExt cx="197663" cy="197663"/>
          </a:xfrm>
        </p:grpSpPr>
        <p:sp>
          <p:nvSpPr>
            <p:cNvPr name="Freeform 693" id="693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694" id="694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5" id="695"/>
          <p:cNvGrpSpPr/>
          <p:nvPr/>
        </p:nvGrpSpPr>
        <p:grpSpPr>
          <a:xfrm rot="0">
            <a:off x="7837541" y="6094714"/>
            <a:ext cx="329441" cy="178451"/>
            <a:chOff x="0" y="0"/>
            <a:chExt cx="439255" cy="237934"/>
          </a:xfrm>
        </p:grpSpPr>
        <p:sp>
          <p:nvSpPr>
            <p:cNvPr name="Freeform 696" id="696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697" id="697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63%</a:t>
              </a:r>
            </a:p>
          </p:txBody>
        </p:sp>
      </p:grpSp>
      <p:grpSp>
        <p:nvGrpSpPr>
          <p:cNvPr name="Group 698" id="698"/>
          <p:cNvGrpSpPr/>
          <p:nvPr/>
        </p:nvGrpSpPr>
        <p:grpSpPr>
          <a:xfrm rot="0">
            <a:off x="7906179" y="7115023"/>
            <a:ext cx="192176" cy="192176"/>
            <a:chOff x="0" y="0"/>
            <a:chExt cx="256235" cy="256235"/>
          </a:xfrm>
        </p:grpSpPr>
        <p:sp>
          <p:nvSpPr>
            <p:cNvPr name="Freeform 699" id="699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700" id="700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701" id="701"/>
          <p:cNvGrpSpPr/>
          <p:nvPr/>
        </p:nvGrpSpPr>
        <p:grpSpPr>
          <a:xfrm rot="0">
            <a:off x="8425215" y="6096067"/>
            <a:ext cx="148247" cy="148247"/>
            <a:chOff x="0" y="0"/>
            <a:chExt cx="197663" cy="197663"/>
          </a:xfrm>
        </p:grpSpPr>
        <p:sp>
          <p:nvSpPr>
            <p:cNvPr name="Freeform 702" id="702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703" id="703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04" id="704"/>
          <p:cNvGrpSpPr/>
          <p:nvPr/>
        </p:nvGrpSpPr>
        <p:grpSpPr>
          <a:xfrm rot="0">
            <a:off x="8334613" y="5909386"/>
            <a:ext cx="329441" cy="178451"/>
            <a:chOff x="0" y="0"/>
            <a:chExt cx="439255" cy="237934"/>
          </a:xfrm>
        </p:grpSpPr>
        <p:sp>
          <p:nvSpPr>
            <p:cNvPr name="Freeform 705" id="705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706" id="706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65%</a:t>
              </a:r>
            </a:p>
          </p:txBody>
        </p:sp>
      </p:grpSp>
      <p:grpSp>
        <p:nvGrpSpPr>
          <p:cNvPr name="Group 707" id="707"/>
          <p:cNvGrpSpPr/>
          <p:nvPr/>
        </p:nvGrpSpPr>
        <p:grpSpPr>
          <a:xfrm rot="0">
            <a:off x="8403250" y="7115023"/>
            <a:ext cx="192176" cy="192176"/>
            <a:chOff x="0" y="0"/>
            <a:chExt cx="256235" cy="256235"/>
          </a:xfrm>
        </p:grpSpPr>
        <p:sp>
          <p:nvSpPr>
            <p:cNvPr name="Freeform 708" id="708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709" id="709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710" id="710"/>
          <p:cNvGrpSpPr/>
          <p:nvPr/>
        </p:nvGrpSpPr>
        <p:grpSpPr>
          <a:xfrm rot="0">
            <a:off x="8922287" y="6003407"/>
            <a:ext cx="148247" cy="148247"/>
            <a:chOff x="0" y="0"/>
            <a:chExt cx="197663" cy="197663"/>
          </a:xfrm>
        </p:grpSpPr>
        <p:sp>
          <p:nvSpPr>
            <p:cNvPr name="Freeform 711" id="711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712" id="712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3" id="713"/>
          <p:cNvGrpSpPr/>
          <p:nvPr/>
        </p:nvGrpSpPr>
        <p:grpSpPr>
          <a:xfrm rot="0">
            <a:off x="8831694" y="5816717"/>
            <a:ext cx="329441" cy="178451"/>
            <a:chOff x="0" y="0"/>
            <a:chExt cx="439255" cy="237934"/>
          </a:xfrm>
        </p:grpSpPr>
        <p:sp>
          <p:nvSpPr>
            <p:cNvPr name="Freeform 714" id="714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715" id="715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66%</a:t>
              </a:r>
            </a:p>
          </p:txBody>
        </p:sp>
      </p:grpSp>
      <p:grpSp>
        <p:nvGrpSpPr>
          <p:cNvPr name="Group 716" id="716"/>
          <p:cNvGrpSpPr/>
          <p:nvPr/>
        </p:nvGrpSpPr>
        <p:grpSpPr>
          <a:xfrm rot="0">
            <a:off x="8900322" y="7115023"/>
            <a:ext cx="192176" cy="192176"/>
            <a:chOff x="0" y="0"/>
            <a:chExt cx="256235" cy="256235"/>
          </a:xfrm>
        </p:grpSpPr>
        <p:sp>
          <p:nvSpPr>
            <p:cNvPr name="Freeform 717" id="717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718" id="718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719" id="719"/>
          <p:cNvGrpSpPr/>
          <p:nvPr/>
        </p:nvGrpSpPr>
        <p:grpSpPr>
          <a:xfrm rot="0">
            <a:off x="9419358" y="5910739"/>
            <a:ext cx="148247" cy="148247"/>
            <a:chOff x="0" y="0"/>
            <a:chExt cx="197663" cy="197663"/>
          </a:xfrm>
        </p:grpSpPr>
        <p:sp>
          <p:nvSpPr>
            <p:cNvPr name="Freeform 720" id="720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721" id="721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2" id="722"/>
          <p:cNvGrpSpPr/>
          <p:nvPr/>
        </p:nvGrpSpPr>
        <p:grpSpPr>
          <a:xfrm rot="0">
            <a:off x="9328766" y="5724058"/>
            <a:ext cx="329441" cy="178451"/>
            <a:chOff x="0" y="0"/>
            <a:chExt cx="439255" cy="237934"/>
          </a:xfrm>
        </p:grpSpPr>
        <p:sp>
          <p:nvSpPr>
            <p:cNvPr name="Freeform 723" id="723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724" id="724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67%</a:t>
              </a:r>
            </a:p>
          </p:txBody>
        </p:sp>
      </p:grpSp>
      <p:grpSp>
        <p:nvGrpSpPr>
          <p:cNvPr name="Group 725" id="725"/>
          <p:cNvGrpSpPr/>
          <p:nvPr/>
        </p:nvGrpSpPr>
        <p:grpSpPr>
          <a:xfrm rot="0">
            <a:off x="9397394" y="7115023"/>
            <a:ext cx="192176" cy="192176"/>
            <a:chOff x="0" y="0"/>
            <a:chExt cx="256235" cy="256235"/>
          </a:xfrm>
        </p:grpSpPr>
        <p:sp>
          <p:nvSpPr>
            <p:cNvPr name="Freeform 726" id="726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727" id="727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728" id="728"/>
          <p:cNvGrpSpPr/>
          <p:nvPr/>
        </p:nvGrpSpPr>
        <p:grpSpPr>
          <a:xfrm rot="0">
            <a:off x="9916430" y="5818080"/>
            <a:ext cx="148247" cy="148247"/>
            <a:chOff x="0" y="0"/>
            <a:chExt cx="197663" cy="197663"/>
          </a:xfrm>
        </p:grpSpPr>
        <p:sp>
          <p:nvSpPr>
            <p:cNvPr name="Freeform 729" id="729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730" id="730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1" id="731"/>
          <p:cNvGrpSpPr/>
          <p:nvPr/>
        </p:nvGrpSpPr>
        <p:grpSpPr>
          <a:xfrm rot="0">
            <a:off x="9825838" y="5631390"/>
            <a:ext cx="329441" cy="178451"/>
            <a:chOff x="0" y="0"/>
            <a:chExt cx="439255" cy="237934"/>
          </a:xfrm>
        </p:grpSpPr>
        <p:sp>
          <p:nvSpPr>
            <p:cNvPr name="Freeform 732" id="732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733" id="733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68%</a:t>
              </a:r>
            </a:p>
          </p:txBody>
        </p:sp>
      </p:grpSp>
      <p:grpSp>
        <p:nvGrpSpPr>
          <p:cNvPr name="Group 734" id="734"/>
          <p:cNvGrpSpPr/>
          <p:nvPr/>
        </p:nvGrpSpPr>
        <p:grpSpPr>
          <a:xfrm rot="0">
            <a:off x="9894475" y="7115023"/>
            <a:ext cx="192176" cy="192176"/>
            <a:chOff x="0" y="0"/>
            <a:chExt cx="256235" cy="256235"/>
          </a:xfrm>
        </p:grpSpPr>
        <p:sp>
          <p:nvSpPr>
            <p:cNvPr name="Freeform 735" id="735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736" id="736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737" id="737"/>
          <p:cNvGrpSpPr/>
          <p:nvPr/>
        </p:nvGrpSpPr>
        <p:grpSpPr>
          <a:xfrm rot="0">
            <a:off x="10413511" y="5725411"/>
            <a:ext cx="148247" cy="148247"/>
            <a:chOff x="0" y="0"/>
            <a:chExt cx="197663" cy="197663"/>
          </a:xfrm>
        </p:grpSpPr>
        <p:sp>
          <p:nvSpPr>
            <p:cNvPr name="Freeform 738" id="738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739" id="739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40" id="740"/>
          <p:cNvGrpSpPr/>
          <p:nvPr/>
        </p:nvGrpSpPr>
        <p:grpSpPr>
          <a:xfrm rot="0">
            <a:off x="10322909" y="5538730"/>
            <a:ext cx="329441" cy="178451"/>
            <a:chOff x="0" y="0"/>
            <a:chExt cx="439255" cy="237934"/>
          </a:xfrm>
        </p:grpSpPr>
        <p:sp>
          <p:nvSpPr>
            <p:cNvPr name="Freeform 741" id="741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742" id="742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69%</a:t>
              </a:r>
            </a:p>
          </p:txBody>
        </p:sp>
      </p:grpSp>
      <p:grpSp>
        <p:nvGrpSpPr>
          <p:cNvPr name="Group 743" id="743"/>
          <p:cNvGrpSpPr/>
          <p:nvPr/>
        </p:nvGrpSpPr>
        <p:grpSpPr>
          <a:xfrm rot="0">
            <a:off x="10391546" y="7115023"/>
            <a:ext cx="192176" cy="192176"/>
            <a:chOff x="0" y="0"/>
            <a:chExt cx="256235" cy="256235"/>
          </a:xfrm>
        </p:grpSpPr>
        <p:sp>
          <p:nvSpPr>
            <p:cNvPr name="Freeform 744" id="744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745" id="745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</a:p>
          </p:txBody>
        </p:sp>
      </p:grpSp>
      <p:grpSp>
        <p:nvGrpSpPr>
          <p:cNvPr name="Group 746" id="746"/>
          <p:cNvGrpSpPr/>
          <p:nvPr/>
        </p:nvGrpSpPr>
        <p:grpSpPr>
          <a:xfrm rot="0">
            <a:off x="10910583" y="5632752"/>
            <a:ext cx="148247" cy="148247"/>
            <a:chOff x="0" y="0"/>
            <a:chExt cx="197663" cy="197663"/>
          </a:xfrm>
        </p:grpSpPr>
        <p:sp>
          <p:nvSpPr>
            <p:cNvPr name="Freeform 747" id="747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748" id="748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49" id="749"/>
          <p:cNvGrpSpPr/>
          <p:nvPr/>
        </p:nvGrpSpPr>
        <p:grpSpPr>
          <a:xfrm rot="0">
            <a:off x="10819981" y="5446062"/>
            <a:ext cx="329441" cy="178451"/>
            <a:chOff x="0" y="0"/>
            <a:chExt cx="439255" cy="237934"/>
          </a:xfrm>
        </p:grpSpPr>
        <p:sp>
          <p:nvSpPr>
            <p:cNvPr name="Freeform 750" id="750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751" id="751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70%</a:t>
              </a:r>
            </a:p>
          </p:txBody>
        </p:sp>
      </p:grpSp>
      <p:grpSp>
        <p:nvGrpSpPr>
          <p:cNvPr name="Group 752" id="752"/>
          <p:cNvGrpSpPr/>
          <p:nvPr/>
        </p:nvGrpSpPr>
        <p:grpSpPr>
          <a:xfrm rot="0">
            <a:off x="10888618" y="7115023"/>
            <a:ext cx="192176" cy="192176"/>
            <a:chOff x="0" y="0"/>
            <a:chExt cx="256235" cy="256235"/>
          </a:xfrm>
        </p:grpSpPr>
        <p:sp>
          <p:nvSpPr>
            <p:cNvPr name="Freeform 753" id="753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754" id="754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</a:p>
          </p:txBody>
        </p:sp>
      </p:grpSp>
      <p:grpSp>
        <p:nvGrpSpPr>
          <p:cNvPr name="Group 755" id="755"/>
          <p:cNvGrpSpPr/>
          <p:nvPr/>
        </p:nvGrpSpPr>
        <p:grpSpPr>
          <a:xfrm rot="0">
            <a:off x="11407654" y="5540083"/>
            <a:ext cx="148247" cy="148247"/>
            <a:chOff x="0" y="0"/>
            <a:chExt cx="197663" cy="197663"/>
          </a:xfrm>
        </p:grpSpPr>
        <p:sp>
          <p:nvSpPr>
            <p:cNvPr name="Freeform 756" id="756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757" id="757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8" id="758"/>
          <p:cNvGrpSpPr/>
          <p:nvPr/>
        </p:nvGrpSpPr>
        <p:grpSpPr>
          <a:xfrm rot="0">
            <a:off x="11317062" y="5353402"/>
            <a:ext cx="329441" cy="178451"/>
            <a:chOff x="0" y="0"/>
            <a:chExt cx="439255" cy="237934"/>
          </a:xfrm>
        </p:grpSpPr>
        <p:sp>
          <p:nvSpPr>
            <p:cNvPr name="Freeform 759" id="759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760" id="760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71%</a:t>
              </a:r>
            </a:p>
          </p:txBody>
        </p:sp>
      </p:grpSp>
      <p:grpSp>
        <p:nvGrpSpPr>
          <p:cNvPr name="Group 761" id="761"/>
          <p:cNvGrpSpPr/>
          <p:nvPr/>
        </p:nvGrpSpPr>
        <p:grpSpPr>
          <a:xfrm rot="0">
            <a:off x="11385690" y="7115023"/>
            <a:ext cx="192176" cy="192176"/>
            <a:chOff x="0" y="0"/>
            <a:chExt cx="256235" cy="256235"/>
          </a:xfrm>
        </p:grpSpPr>
        <p:sp>
          <p:nvSpPr>
            <p:cNvPr name="Freeform 762" id="762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763" id="763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</a:t>
              </a:r>
            </a:p>
          </p:txBody>
        </p:sp>
      </p:grpSp>
      <p:grpSp>
        <p:nvGrpSpPr>
          <p:cNvPr name="Group 764" id="764"/>
          <p:cNvGrpSpPr/>
          <p:nvPr/>
        </p:nvGrpSpPr>
        <p:grpSpPr>
          <a:xfrm rot="0">
            <a:off x="11904726" y="5447424"/>
            <a:ext cx="148247" cy="148247"/>
            <a:chOff x="0" y="0"/>
            <a:chExt cx="197663" cy="197663"/>
          </a:xfrm>
        </p:grpSpPr>
        <p:sp>
          <p:nvSpPr>
            <p:cNvPr name="Freeform 765" id="765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154B8C"/>
            </a:solidFill>
          </p:spPr>
        </p:sp>
        <p:sp>
          <p:nvSpPr>
            <p:cNvPr name="Freeform 766" id="766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7" id="767"/>
          <p:cNvGrpSpPr/>
          <p:nvPr/>
        </p:nvGrpSpPr>
        <p:grpSpPr>
          <a:xfrm rot="0">
            <a:off x="11814134" y="5260734"/>
            <a:ext cx="329441" cy="178451"/>
            <a:chOff x="0" y="0"/>
            <a:chExt cx="439255" cy="237934"/>
          </a:xfrm>
        </p:grpSpPr>
        <p:sp>
          <p:nvSpPr>
            <p:cNvPr name="Freeform 768" id="768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769" id="769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72%</a:t>
              </a:r>
            </a:p>
          </p:txBody>
        </p:sp>
      </p:grpSp>
      <p:grpSp>
        <p:nvGrpSpPr>
          <p:cNvPr name="Group 770" id="770"/>
          <p:cNvGrpSpPr/>
          <p:nvPr/>
        </p:nvGrpSpPr>
        <p:grpSpPr>
          <a:xfrm rot="0">
            <a:off x="11882771" y="7115023"/>
            <a:ext cx="192176" cy="192176"/>
            <a:chOff x="0" y="0"/>
            <a:chExt cx="256235" cy="256235"/>
          </a:xfrm>
        </p:grpSpPr>
        <p:sp>
          <p:nvSpPr>
            <p:cNvPr name="Freeform 771" id="771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772" id="772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</p:txBody>
        </p:sp>
      </p:grpSp>
      <p:grpSp>
        <p:nvGrpSpPr>
          <p:cNvPr name="Group 773" id="773"/>
          <p:cNvGrpSpPr/>
          <p:nvPr/>
        </p:nvGrpSpPr>
        <p:grpSpPr>
          <a:xfrm rot="0">
            <a:off x="6511042" y="7087562"/>
            <a:ext cx="5467807" cy="8239"/>
            <a:chOff x="0" y="0"/>
            <a:chExt cx="7290410" cy="10986"/>
          </a:xfrm>
        </p:grpSpPr>
        <p:sp>
          <p:nvSpPr>
            <p:cNvPr name="Freeform 774" id="774"/>
            <p:cNvSpPr/>
            <p:nvPr/>
          </p:nvSpPr>
          <p:spPr>
            <a:xfrm flipH="false" flipV="false" rot="0">
              <a:off x="0" y="0"/>
              <a:ext cx="7290435" cy="10922"/>
            </a:xfrm>
            <a:custGeom>
              <a:avLst/>
              <a:gdLst/>
              <a:ahLst/>
              <a:cxnLst/>
              <a:rect r="r" b="b" t="t" l="l"/>
              <a:pathLst>
                <a:path h="10922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10922"/>
                  </a:lnTo>
                  <a:lnTo>
                    <a:pt x="0" y="10922"/>
                  </a:lnTo>
                  <a:close/>
                </a:path>
              </a:pathLst>
            </a:custGeom>
            <a:solidFill>
              <a:srgbClr val="AACCBB"/>
            </a:solidFill>
          </p:spPr>
        </p:sp>
      </p:grpSp>
      <p:grpSp>
        <p:nvGrpSpPr>
          <p:cNvPr name="Group 775" id="775"/>
          <p:cNvGrpSpPr/>
          <p:nvPr/>
        </p:nvGrpSpPr>
        <p:grpSpPr>
          <a:xfrm rot="0">
            <a:off x="6277689" y="7169925"/>
            <a:ext cx="5742346" cy="192176"/>
            <a:chOff x="0" y="0"/>
            <a:chExt cx="7656462" cy="256235"/>
          </a:xfrm>
        </p:grpSpPr>
        <p:sp>
          <p:nvSpPr>
            <p:cNvPr name="Freeform 776" id="776"/>
            <p:cNvSpPr/>
            <p:nvPr/>
          </p:nvSpPr>
          <p:spPr>
            <a:xfrm flipH="false" flipV="false" rot="0">
              <a:off x="0" y="0"/>
              <a:ext cx="7656461" cy="256232"/>
            </a:xfrm>
            <a:custGeom>
              <a:avLst/>
              <a:gdLst/>
              <a:ahLst/>
              <a:cxnLst/>
              <a:rect r="r" b="b" t="t" l="l"/>
              <a:pathLst>
                <a:path h="256232" w="7656461">
                  <a:moveTo>
                    <a:pt x="0" y="0"/>
                  </a:moveTo>
                  <a:lnTo>
                    <a:pt x="7656461" y="0"/>
                  </a:lnTo>
                  <a:lnTo>
                    <a:pt x="765646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230" r="0" b="-532232"/>
              </a:stretch>
            </a:blipFill>
          </p:spPr>
        </p:sp>
        <p:sp>
          <p:nvSpPr>
            <p:cNvPr name="TextBox 777" id="777"/>
            <p:cNvSpPr txBox="true"/>
            <p:nvPr/>
          </p:nvSpPr>
          <p:spPr>
            <a:xfrm>
              <a:off x="0" y="-19050"/>
              <a:ext cx="7656462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i="true">
                  <a:solidFill>
                    <a:srgbClr val="7777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↑ 14pp growth — target 75% by mid-2025</a:t>
              </a:r>
            </a:p>
          </p:txBody>
        </p:sp>
      </p:grpSp>
      <p:grpSp>
        <p:nvGrpSpPr>
          <p:cNvPr name="Group 778" id="778"/>
          <p:cNvGrpSpPr/>
          <p:nvPr/>
        </p:nvGrpSpPr>
        <p:grpSpPr>
          <a:xfrm rot="0">
            <a:off x="12219927" y="4821231"/>
            <a:ext cx="5891622" cy="2574331"/>
            <a:chOff x="0" y="0"/>
            <a:chExt cx="7855496" cy="3432442"/>
          </a:xfrm>
        </p:grpSpPr>
        <p:sp>
          <p:nvSpPr>
            <p:cNvPr name="Freeform 779" id="779"/>
            <p:cNvSpPr/>
            <p:nvPr/>
          </p:nvSpPr>
          <p:spPr>
            <a:xfrm flipH="false" flipV="false" rot="0">
              <a:off x="8001" y="8001"/>
              <a:ext cx="783945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3416427"/>
                  </a:lnTo>
                  <a:lnTo>
                    <a:pt x="0" y="3416427"/>
                  </a:lnTo>
                  <a:close/>
                </a:path>
              </a:pathLst>
            </a:custGeom>
            <a:solidFill>
              <a:srgbClr val="F6FDF8"/>
            </a:solidFill>
          </p:spPr>
        </p:sp>
        <p:sp>
          <p:nvSpPr>
            <p:cNvPr name="Freeform 780" id="780"/>
            <p:cNvSpPr/>
            <p:nvPr/>
          </p:nvSpPr>
          <p:spPr>
            <a:xfrm flipH="false" flipV="false" rot="0">
              <a:off x="0" y="0"/>
              <a:ext cx="7855458" cy="3432429"/>
            </a:xfrm>
            <a:custGeom>
              <a:avLst/>
              <a:gdLst/>
              <a:ahLst/>
              <a:cxnLst/>
              <a:rect r="r" b="b" t="t" l="l"/>
              <a:pathLst>
                <a:path h="3432429" w="7855458">
                  <a:moveTo>
                    <a:pt x="8001" y="0"/>
                  </a:moveTo>
                  <a:lnTo>
                    <a:pt x="7847457" y="0"/>
                  </a:lnTo>
                  <a:cubicBezTo>
                    <a:pt x="7851901" y="0"/>
                    <a:pt x="7855458" y="3556"/>
                    <a:pt x="7855458" y="8001"/>
                  </a:cubicBezTo>
                  <a:lnTo>
                    <a:pt x="7855458" y="3424428"/>
                  </a:lnTo>
                  <a:cubicBezTo>
                    <a:pt x="7855458" y="3428873"/>
                    <a:pt x="7851901" y="3432429"/>
                    <a:pt x="7847457" y="3432429"/>
                  </a:cubicBezTo>
                  <a:lnTo>
                    <a:pt x="8001" y="3432429"/>
                  </a:lnTo>
                  <a:cubicBezTo>
                    <a:pt x="3556" y="3432429"/>
                    <a:pt x="0" y="3428873"/>
                    <a:pt x="0" y="3424428"/>
                  </a:cubicBezTo>
                  <a:lnTo>
                    <a:pt x="0" y="8001"/>
                  </a:lnTo>
                  <a:cubicBezTo>
                    <a:pt x="0" y="3556"/>
                    <a:pt x="3556" y="0"/>
                    <a:pt x="8001" y="0"/>
                  </a:cubicBezTo>
                  <a:moveTo>
                    <a:pt x="8001" y="16002"/>
                  </a:moveTo>
                  <a:lnTo>
                    <a:pt x="8001" y="8001"/>
                  </a:lnTo>
                  <a:lnTo>
                    <a:pt x="16002" y="8001"/>
                  </a:lnTo>
                  <a:lnTo>
                    <a:pt x="16002" y="3424428"/>
                  </a:lnTo>
                  <a:lnTo>
                    <a:pt x="8001" y="3424428"/>
                  </a:lnTo>
                  <a:lnTo>
                    <a:pt x="8001" y="3416427"/>
                  </a:lnTo>
                  <a:lnTo>
                    <a:pt x="7847457" y="3416427"/>
                  </a:lnTo>
                  <a:lnTo>
                    <a:pt x="7847457" y="3424428"/>
                  </a:lnTo>
                  <a:lnTo>
                    <a:pt x="7839456" y="3424428"/>
                  </a:lnTo>
                  <a:lnTo>
                    <a:pt x="7839456" y="8001"/>
                  </a:lnTo>
                  <a:lnTo>
                    <a:pt x="7847457" y="8001"/>
                  </a:lnTo>
                  <a:lnTo>
                    <a:pt x="7847457" y="16002"/>
                  </a:lnTo>
                  <a:lnTo>
                    <a:pt x="8001" y="1600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781" id="781"/>
          <p:cNvGrpSpPr/>
          <p:nvPr/>
        </p:nvGrpSpPr>
        <p:grpSpPr>
          <a:xfrm rot="0">
            <a:off x="12225938" y="4827232"/>
            <a:ext cx="5879611" cy="356892"/>
            <a:chOff x="0" y="0"/>
            <a:chExt cx="7839481" cy="475856"/>
          </a:xfrm>
        </p:grpSpPr>
        <p:sp>
          <p:nvSpPr>
            <p:cNvPr name="Freeform 782" id="782"/>
            <p:cNvSpPr/>
            <p:nvPr/>
          </p:nvSpPr>
          <p:spPr>
            <a:xfrm flipH="false" flipV="false" rot="0">
              <a:off x="0" y="0"/>
              <a:ext cx="7839456" cy="475869"/>
            </a:xfrm>
            <a:custGeom>
              <a:avLst/>
              <a:gdLst/>
              <a:ahLst/>
              <a:cxnLst/>
              <a:rect r="r" b="b" t="t" l="l"/>
              <a:pathLst>
                <a:path h="475869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783" id="783"/>
          <p:cNvGrpSpPr/>
          <p:nvPr/>
        </p:nvGrpSpPr>
        <p:grpSpPr>
          <a:xfrm rot="0">
            <a:off x="12335751" y="4882134"/>
            <a:ext cx="5714895" cy="274539"/>
            <a:chOff x="0" y="0"/>
            <a:chExt cx="7619860" cy="366052"/>
          </a:xfrm>
        </p:grpSpPr>
        <p:sp>
          <p:nvSpPr>
            <p:cNvPr name="Freeform 784" id="784"/>
            <p:cNvSpPr/>
            <p:nvPr/>
          </p:nvSpPr>
          <p:spPr>
            <a:xfrm flipH="false" flipV="false" rot="0">
              <a:off x="0" y="0"/>
              <a:ext cx="7619857" cy="366046"/>
            </a:xfrm>
            <a:custGeom>
              <a:avLst/>
              <a:gdLst/>
              <a:ahLst/>
              <a:cxnLst/>
              <a:rect r="r" b="b" t="t" l="l"/>
              <a:pathLst>
                <a:path h="366046" w="7619857">
                  <a:moveTo>
                    <a:pt x="0" y="0"/>
                  </a:moveTo>
                  <a:lnTo>
                    <a:pt x="7619857" y="0"/>
                  </a:lnTo>
                  <a:lnTo>
                    <a:pt x="76198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12" r="0" b="-355614"/>
              </a:stretch>
            </a:blipFill>
          </p:spPr>
        </p:sp>
        <p:sp>
          <p:nvSpPr>
            <p:cNvPr name="TextBox 785" id="785"/>
            <p:cNvSpPr txBox="true"/>
            <p:nvPr/>
          </p:nvSpPr>
          <p:spPr>
            <a:xfrm>
              <a:off x="0" y="-19050"/>
              <a:ext cx="7619860" cy="38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🍩  Meals Saved by Quarter  —  FY 2024</a:t>
              </a:r>
            </a:p>
          </p:txBody>
        </p:sp>
      </p:grpSp>
      <p:grpSp>
        <p:nvGrpSpPr>
          <p:cNvPr name="Group 786" id="786"/>
          <p:cNvGrpSpPr/>
          <p:nvPr/>
        </p:nvGrpSpPr>
        <p:grpSpPr>
          <a:xfrm rot="0">
            <a:off x="15165743" y="5492887"/>
            <a:ext cx="116281" cy="793956"/>
            <a:chOff x="0" y="0"/>
            <a:chExt cx="155042" cy="1058608"/>
          </a:xfrm>
        </p:grpSpPr>
        <p:sp>
          <p:nvSpPr>
            <p:cNvPr name="Freeform 787" id="787"/>
            <p:cNvSpPr/>
            <p:nvPr/>
          </p:nvSpPr>
          <p:spPr>
            <a:xfrm flipH="false" flipV="false" rot="0">
              <a:off x="0" y="0"/>
              <a:ext cx="155067" cy="1058545"/>
            </a:xfrm>
            <a:custGeom>
              <a:avLst/>
              <a:gdLst/>
              <a:ahLst/>
              <a:cxnLst/>
              <a:rect r="r" b="b" t="t" l="l"/>
              <a:pathLst>
                <a:path h="1058545" w="155067">
                  <a:moveTo>
                    <a:pt x="0" y="0"/>
                  </a:moveTo>
                  <a:lnTo>
                    <a:pt x="155067" y="0"/>
                  </a:lnTo>
                  <a:lnTo>
                    <a:pt x="155067" y="1058545"/>
                  </a:lnTo>
                  <a:lnTo>
                    <a:pt x="0" y="105854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788" id="788"/>
          <p:cNvGrpSpPr/>
          <p:nvPr/>
        </p:nvGrpSpPr>
        <p:grpSpPr>
          <a:xfrm rot="0">
            <a:off x="15165743" y="5501450"/>
            <a:ext cx="230057" cy="785393"/>
            <a:chOff x="0" y="0"/>
            <a:chExt cx="306743" cy="1047191"/>
          </a:xfrm>
        </p:grpSpPr>
        <p:sp>
          <p:nvSpPr>
            <p:cNvPr name="Freeform 789" id="789"/>
            <p:cNvSpPr/>
            <p:nvPr/>
          </p:nvSpPr>
          <p:spPr>
            <a:xfrm flipH="false" flipV="false" rot="0">
              <a:off x="0" y="0"/>
              <a:ext cx="306705" cy="1047242"/>
            </a:xfrm>
            <a:custGeom>
              <a:avLst/>
              <a:gdLst/>
              <a:ahLst/>
              <a:cxnLst/>
              <a:rect r="r" b="b" t="t" l="l"/>
              <a:pathLst>
                <a:path h="1047242" w="306705">
                  <a:moveTo>
                    <a:pt x="0" y="0"/>
                  </a:moveTo>
                  <a:lnTo>
                    <a:pt x="306705" y="0"/>
                  </a:lnTo>
                  <a:lnTo>
                    <a:pt x="306705" y="1047242"/>
                  </a:lnTo>
                  <a:lnTo>
                    <a:pt x="0" y="104724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790" id="790"/>
          <p:cNvGrpSpPr/>
          <p:nvPr/>
        </p:nvGrpSpPr>
        <p:grpSpPr>
          <a:xfrm rot="0">
            <a:off x="15165743" y="5526948"/>
            <a:ext cx="338880" cy="759895"/>
            <a:chOff x="0" y="0"/>
            <a:chExt cx="451841" cy="1013193"/>
          </a:xfrm>
        </p:grpSpPr>
        <p:sp>
          <p:nvSpPr>
            <p:cNvPr name="Freeform 791" id="791"/>
            <p:cNvSpPr/>
            <p:nvPr/>
          </p:nvSpPr>
          <p:spPr>
            <a:xfrm flipH="false" flipV="false" rot="0">
              <a:off x="0" y="0"/>
              <a:ext cx="451866" cy="1013206"/>
            </a:xfrm>
            <a:custGeom>
              <a:avLst/>
              <a:gdLst/>
              <a:ahLst/>
              <a:cxnLst/>
              <a:rect r="r" b="b" t="t" l="l"/>
              <a:pathLst>
                <a:path h="1013206" w="451866">
                  <a:moveTo>
                    <a:pt x="0" y="0"/>
                  </a:moveTo>
                  <a:lnTo>
                    <a:pt x="451866" y="0"/>
                  </a:lnTo>
                  <a:lnTo>
                    <a:pt x="451866" y="1013206"/>
                  </a:lnTo>
                  <a:lnTo>
                    <a:pt x="0" y="1013206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792" id="792"/>
          <p:cNvGrpSpPr/>
          <p:nvPr/>
        </p:nvGrpSpPr>
        <p:grpSpPr>
          <a:xfrm rot="0">
            <a:off x="15165743" y="5568839"/>
            <a:ext cx="440379" cy="718004"/>
            <a:chOff x="0" y="0"/>
            <a:chExt cx="587172" cy="957339"/>
          </a:xfrm>
        </p:grpSpPr>
        <p:sp>
          <p:nvSpPr>
            <p:cNvPr name="Freeform 793" id="793"/>
            <p:cNvSpPr/>
            <p:nvPr/>
          </p:nvSpPr>
          <p:spPr>
            <a:xfrm flipH="false" flipV="false" rot="0">
              <a:off x="0" y="0"/>
              <a:ext cx="587121" cy="957326"/>
            </a:xfrm>
            <a:custGeom>
              <a:avLst/>
              <a:gdLst/>
              <a:ahLst/>
              <a:cxnLst/>
              <a:rect r="r" b="b" t="t" l="l"/>
              <a:pathLst>
                <a:path h="957326" w="587121">
                  <a:moveTo>
                    <a:pt x="0" y="0"/>
                  </a:moveTo>
                  <a:lnTo>
                    <a:pt x="587121" y="0"/>
                  </a:lnTo>
                  <a:lnTo>
                    <a:pt x="587121" y="957326"/>
                  </a:lnTo>
                  <a:lnTo>
                    <a:pt x="0" y="957326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794" id="794"/>
          <p:cNvGrpSpPr/>
          <p:nvPr/>
        </p:nvGrpSpPr>
        <p:grpSpPr>
          <a:xfrm rot="0">
            <a:off x="15165743" y="5626217"/>
            <a:ext cx="532390" cy="660625"/>
            <a:chOff x="0" y="0"/>
            <a:chExt cx="709854" cy="880834"/>
          </a:xfrm>
        </p:grpSpPr>
        <p:sp>
          <p:nvSpPr>
            <p:cNvPr name="Freeform 795" id="795"/>
            <p:cNvSpPr/>
            <p:nvPr/>
          </p:nvSpPr>
          <p:spPr>
            <a:xfrm flipH="false" flipV="false" rot="0">
              <a:off x="0" y="0"/>
              <a:ext cx="709803" cy="880872"/>
            </a:xfrm>
            <a:custGeom>
              <a:avLst/>
              <a:gdLst/>
              <a:ahLst/>
              <a:cxnLst/>
              <a:rect r="r" b="b" t="t" l="l"/>
              <a:pathLst>
                <a:path h="880872" w="709803">
                  <a:moveTo>
                    <a:pt x="0" y="0"/>
                  </a:moveTo>
                  <a:lnTo>
                    <a:pt x="709803" y="0"/>
                  </a:lnTo>
                  <a:lnTo>
                    <a:pt x="709803" y="880872"/>
                  </a:lnTo>
                  <a:lnTo>
                    <a:pt x="0" y="88087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796" id="796"/>
          <p:cNvGrpSpPr/>
          <p:nvPr/>
        </p:nvGrpSpPr>
        <p:grpSpPr>
          <a:xfrm rot="0">
            <a:off x="15165743" y="5697836"/>
            <a:ext cx="612915" cy="588997"/>
            <a:chOff x="0" y="0"/>
            <a:chExt cx="817220" cy="785330"/>
          </a:xfrm>
        </p:grpSpPr>
        <p:sp>
          <p:nvSpPr>
            <p:cNvPr name="Freeform 797" id="797"/>
            <p:cNvSpPr/>
            <p:nvPr/>
          </p:nvSpPr>
          <p:spPr>
            <a:xfrm flipH="false" flipV="false" rot="0">
              <a:off x="0" y="0"/>
              <a:ext cx="817245" cy="785368"/>
            </a:xfrm>
            <a:custGeom>
              <a:avLst/>
              <a:gdLst/>
              <a:ahLst/>
              <a:cxnLst/>
              <a:rect r="r" b="b" t="t" l="l"/>
              <a:pathLst>
                <a:path h="785368" w="817245">
                  <a:moveTo>
                    <a:pt x="0" y="0"/>
                  </a:moveTo>
                  <a:lnTo>
                    <a:pt x="817245" y="0"/>
                  </a:lnTo>
                  <a:lnTo>
                    <a:pt x="817245" y="785368"/>
                  </a:lnTo>
                  <a:lnTo>
                    <a:pt x="0" y="785368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798" id="798"/>
          <p:cNvGrpSpPr/>
          <p:nvPr/>
        </p:nvGrpSpPr>
        <p:grpSpPr>
          <a:xfrm rot="0">
            <a:off x="15165743" y="5782170"/>
            <a:ext cx="680228" cy="504673"/>
            <a:chOff x="0" y="0"/>
            <a:chExt cx="906971" cy="672897"/>
          </a:xfrm>
        </p:grpSpPr>
        <p:sp>
          <p:nvSpPr>
            <p:cNvPr name="Freeform 799" id="799"/>
            <p:cNvSpPr/>
            <p:nvPr/>
          </p:nvSpPr>
          <p:spPr>
            <a:xfrm flipH="false" flipV="false" rot="0">
              <a:off x="0" y="0"/>
              <a:ext cx="906907" cy="672846"/>
            </a:xfrm>
            <a:custGeom>
              <a:avLst/>
              <a:gdLst/>
              <a:ahLst/>
              <a:cxnLst/>
              <a:rect r="r" b="b" t="t" l="l"/>
              <a:pathLst>
                <a:path h="672846" w="906907">
                  <a:moveTo>
                    <a:pt x="0" y="0"/>
                  </a:moveTo>
                  <a:lnTo>
                    <a:pt x="906907" y="0"/>
                  </a:lnTo>
                  <a:lnTo>
                    <a:pt x="906907" y="672846"/>
                  </a:lnTo>
                  <a:lnTo>
                    <a:pt x="0" y="672846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800" id="800"/>
          <p:cNvGrpSpPr/>
          <p:nvPr/>
        </p:nvGrpSpPr>
        <p:grpSpPr>
          <a:xfrm rot="0">
            <a:off x="15165743" y="5877382"/>
            <a:ext cx="732863" cy="409461"/>
            <a:chOff x="0" y="0"/>
            <a:chExt cx="977151" cy="545948"/>
          </a:xfrm>
        </p:grpSpPr>
        <p:sp>
          <p:nvSpPr>
            <p:cNvPr name="Freeform 801" id="801"/>
            <p:cNvSpPr/>
            <p:nvPr/>
          </p:nvSpPr>
          <p:spPr>
            <a:xfrm flipH="false" flipV="false" rot="0">
              <a:off x="0" y="0"/>
              <a:ext cx="977138" cy="545973"/>
            </a:xfrm>
            <a:custGeom>
              <a:avLst/>
              <a:gdLst/>
              <a:ahLst/>
              <a:cxnLst/>
              <a:rect r="r" b="b" t="t" l="l"/>
              <a:pathLst>
                <a:path h="545973" w="977138">
                  <a:moveTo>
                    <a:pt x="0" y="0"/>
                  </a:moveTo>
                  <a:lnTo>
                    <a:pt x="977138" y="0"/>
                  </a:lnTo>
                  <a:lnTo>
                    <a:pt x="977138" y="545973"/>
                  </a:lnTo>
                  <a:lnTo>
                    <a:pt x="0" y="545973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802" id="802"/>
          <p:cNvGrpSpPr/>
          <p:nvPr/>
        </p:nvGrpSpPr>
        <p:grpSpPr>
          <a:xfrm rot="0">
            <a:off x="15165743" y="5981424"/>
            <a:ext cx="769687" cy="305419"/>
            <a:chOff x="0" y="0"/>
            <a:chExt cx="1026249" cy="407226"/>
          </a:xfrm>
        </p:grpSpPr>
        <p:sp>
          <p:nvSpPr>
            <p:cNvPr name="Freeform 803" id="803"/>
            <p:cNvSpPr/>
            <p:nvPr/>
          </p:nvSpPr>
          <p:spPr>
            <a:xfrm flipH="false" flipV="false" rot="0">
              <a:off x="0" y="0"/>
              <a:ext cx="1026287" cy="407162"/>
            </a:xfrm>
            <a:custGeom>
              <a:avLst/>
              <a:gdLst/>
              <a:ahLst/>
              <a:cxnLst/>
              <a:rect r="r" b="b" t="t" l="l"/>
              <a:pathLst>
                <a:path h="407162" w="1026287">
                  <a:moveTo>
                    <a:pt x="0" y="0"/>
                  </a:moveTo>
                  <a:lnTo>
                    <a:pt x="1026287" y="0"/>
                  </a:lnTo>
                  <a:lnTo>
                    <a:pt x="1026287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804" id="804"/>
          <p:cNvGrpSpPr/>
          <p:nvPr/>
        </p:nvGrpSpPr>
        <p:grpSpPr>
          <a:xfrm rot="0">
            <a:off x="15165743" y="6092057"/>
            <a:ext cx="789918" cy="194786"/>
            <a:chOff x="0" y="0"/>
            <a:chExt cx="1053224" cy="259715"/>
          </a:xfrm>
        </p:grpSpPr>
        <p:sp>
          <p:nvSpPr>
            <p:cNvPr name="Freeform 805" id="805"/>
            <p:cNvSpPr/>
            <p:nvPr/>
          </p:nvSpPr>
          <p:spPr>
            <a:xfrm flipH="false" flipV="false" rot="0">
              <a:off x="0" y="0"/>
              <a:ext cx="1053211" cy="259715"/>
            </a:xfrm>
            <a:custGeom>
              <a:avLst/>
              <a:gdLst/>
              <a:ahLst/>
              <a:cxnLst/>
              <a:rect r="r" b="b" t="t" l="l"/>
              <a:pathLst>
                <a:path h="259715" w="1053211">
                  <a:moveTo>
                    <a:pt x="0" y="0"/>
                  </a:moveTo>
                  <a:lnTo>
                    <a:pt x="1053211" y="0"/>
                  </a:lnTo>
                  <a:lnTo>
                    <a:pt x="1053211" y="259715"/>
                  </a:lnTo>
                  <a:lnTo>
                    <a:pt x="0" y="25971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806" id="806"/>
          <p:cNvGrpSpPr/>
          <p:nvPr/>
        </p:nvGrpSpPr>
        <p:grpSpPr>
          <a:xfrm rot="0">
            <a:off x="15247077" y="5698036"/>
            <a:ext cx="603980" cy="356892"/>
            <a:chOff x="0" y="0"/>
            <a:chExt cx="805307" cy="475856"/>
          </a:xfrm>
        </p:grpSpPr>
        <p:sp>
          <p:nvSpPr>
            <p:cNvPr name="Freeform 807" id="807"/>
            <p:cNvSpPr/>
            <p:nvPr/>
          </p:nvSpPr>
          <p:spPr>
            <a:xfrm flipH="false" flipV="false" rot="0">
              <a:off x="0" y="0"/>
              <a:ext cx="805301" cy="475860"/>
            </a:xfrm>
            <a:custGeom>
              <a:avLst/>
              <a:gdLst/>
              <a:ahLst/>
              <a:cxnLst/>
              <a:rect r="r" b="b" t="t" l="l"/>
              <a:pathLst>
                <a:path h="475860" w="805301">
                  <a:moveTo>
                    <a:pt x="0" y="0"/>
                  </a:moveTo>
                  <a:lnTo>
                    <a:pt x="805301" y="0"/>
                  </a:lnTo>
                  <a:lnTo>
                    <a:pt x="80530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14" t="0" r="-25815" b="0"/>
              </a:stretch>
            </a:blipFill>
          </p:spPr>
        </p:sp>
        <p:sp>
          <p:nvSpPr>
            <p:cNvPr name="TextBox 808" id="808"/>
            <p:cNvSpPr txBox="true"/>
            <p:nvPr/>
          </p:nvSpPr>
          <p:spPr>
            <a:xfrm>
              <a:off x="0" y="-19050"/>
              <a:ext cx="805307" cy="494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Q1</a:t>
              </a:r>
            </a:p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23%</a:t>
              </a:r>
            </a:p>
          </p:txBody>
        </p:sp>
      </p:grpSp>
      <p:grpSp>
        <p:nvGrpSpPr>
          <p:cNvPr name="Group 809" id="809"/>
          <p:cNvGrpSpPr/>
          <p:nvPr/>
        </p:nvGrpSpPr>
        <p:grpSpPr>
          <a:xfrm rot="0">
            <a:off x="15165743" y="6206881"/>
            <a:ext cx="793004" cy="118843"/>
            <a:chOff x="0" y="0"/>
            <a:chExt cx="1057338" cy="158458"/>
          </a:xfrm>
        </p:grpSpPr>
        <p:sp>
          <p:nvSpPr>
            <p:cNvPr name="Freeform 810" id="810"/>
            <p:cNvSpPr/>
            <p:nvPr/>
          </p:nvSpPr>
          <p:spPr>
            <a:xfrm flipH="false" flipV="false" rot="0">
              <a:off x="0" y="0"/>
              <a:ext cx="1057275" cy="158496"/>
            </a:xfrm>
            <a:custGeom>
              <a:avLst/>
              <a:gdLst/>
              <a:ahLst/>
              <a:cxnLst/>
              <a:rect r="r" b="b" t="t" l="l"/>
              <a:pathLst>
                <a:path h="158496" w="1057275">
                  <a:moveTo>
                    <a:pt x="0" y="0"/>
                  </a:moveTo>
                  <a:lnTo>
                    <a:pt x="1057275" y="0"/>
                  </a:lnTo>
                  <a:lnTo>
                    <a:pt x="1057275" y="158496"/>
                  </a:lnTo>
                  <a:lnTo>
                    <a:pt x="0" y="158496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11" id="811"/>
          <p:cNvGrpSpPr/>
          <p:nvPr/>
        </p:nvGrpSpPr>
        <p:grpSpPr>
          <a:xfrm rot="0">
            <a:off x="15165743" y="6286843"/>
            <a:ext cx="793004" cy="156858"/>
            <a:chOff x="0" y="0"/>
            <a:chExt cx="1057338" cy="209144"/>
          </a:xfrm>
        </p:grpSpPr>
        <p:sp>
          <p:nvSpPr>
            <p:cNvPr name="Freeform 812" id="812"/>
            <p:cNvSpPr/>
            <p:nvPr/>
          </p:nvSpPr>
          <p:spPr>
            <a:xfrm flipH="false" flipV="false" rot="0">
              <a:off x="0" y="0"/>
              <a:ext cx="1057275" cy="209169"/>
            </a:xfrm>
            <a:custGeom>
              <a:avLst/>
              <a:gdLst/>
              <a:ahLst/>
              <a:cxnLst/>
              <a:rect r="r" b="b" t="t" l="l"/>
              <a:pathLst>
                <a:path h="209169" w="1057275">
                  <a:moveTo>
                    <a:pt x="0" y="0"/>
                  </a:moveTo>
                  <a:lnTo>
                    <a:pt x="1057275" y="0"/>
                  </a:lnTo>
                  <a:lnTo>
                    <a:pt x="1057275" y="209169"/>
                  </a:lnTo>
                  <a:lnTo>
                    <a:pt x="0" y="209169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13" id="813"/>
          <p:cNvGrpSpPr/>
          <p:nvPr/>
        </p:nvGrpSpPr>
        <p:grpSpPr>
          <a:xfrm rot="0">
            <a:off x="15165743" y="6286843"/>
            <a:ext cx="778307" cy="271310"/>
            <a:chOff x="0" y="0"/>
            <a:chExt cx="1037742" cy="361747"/>
          </a:xfrm>
        </p:grpSpPr>
        <p:sp>
          <p:nvSpPr>
            <p:cNvPr name="Freeform 814" id="814"/>
            <p:cNvSpPr/>
            <p:nvPr/>
          </p:nvSpPr>
          <p:spPr>
            <a:xfrm flipH="false" flipV="false" rot="0">
              <a:off x="0" y="0"/>
              <a:ext cx="1037717" cy="361696"/>
            </a:xfrm>
            <a:custGeom>
              <a:avLst/>
              <a:gdLst/>
              <a:ahLst/>
              <a:cxnLst/>
              <a:rect r="r" b="b" t="t" l="l"/>
              <a:pathLst>
                <a:path h="361696" w="1037717">
                  <a:moveTo>
                    <a:pt x="0" y="0"/>
                  </a:moveTo>
                  <a:lnTo>
                    <a:pt x="1037717" y="0"/>
                  </a:lnTo>
                  <a:lnTo>
                    <a:pt x="1037717" y="361696"/>
                  </a:lnTo>
                  <a:lnTo>
                    <a:pt x="0" y="361696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15" id="815"/>
          <p:cNvGrpSpPr/>
          <p:nvPr/>
        </p:nvGrpSpPr>
        <p:grpSpPr>
          <a:xfrm rot="0">
            <a:off x="15165743" y="6286843"/>
            <a:ext cx="746160" cy="379676"/>
            <a:chOff x="0" y="0"/>
            <a:chExt cx="994880" cy="506235"/>
          </a:xfrm>
        </p:grpSpPr>
        <p:sp>
          <p:nvSpPr>
            <p:cNvPr name="Freeform 816" id="816"/>
            <p:cNvSpPr/>
            <p:nvPr/>
          </p:nvSpPr>
          <p:spPr>
            <a:xfrm flipH="false" flipV="false" rot="0">
              <a:off x="0" y="0"/>
              <a:ext cx="994918" cy="506222"/>
            </a:xfrm>
            <a:custGeom>
              <a:avLst/>
              <a:gdLst/>
              <a:ahLst/>
              <a:cxnLst/>
              <a:rect r="r" b="b" t="t" l="l"/>
              <a:pathLst>
                <a:path h="506222" w="994918">
                  <a:moveTo>
                    <a:pt x="0" y="0"/>
                  </a:moveTo>
                  <a:lnTo>
                    <a:pt x="994918" y="0"/>
                  </a:lnTo>
                  <a:lnTo>
                    <a:pt x="994918" y="506222"/>
                  </a:lnTo>
                  <a:lnTo>
                    <a:pt x="0" y="506222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17" id="817"/>
          <p:cNvGrpSpPr/>
          <p:nvPr/>
        </p:nvGrpSpPr>
        <p:grpSpPr>
          <a:xfrm rot="0">
            <a:off x="15165743" y="6286843"/>
            <a:ext cx="697287" cy="479536"/>
            <a:chOff x="0" y="0"/>
            <a:chExt cx="929716" cy="639382"/>
          </a:xfrm>
        </p:grpSpPr>
        <p:sp>
          <p:nvSpPr>
            <p:cNvPr name="Freeform 818" id="818"/>
            <p:cNvSpPr/>
            <p:nvPr/>
          </p:nvSpPr>
          <p:spPr>
            <a:xfrm flipH="false" flipV="false" rot="0">
              <a:off x="0" y="0"/>
              <a:ext cx="929767" cy="639445"/>
            </a:xfrm>
            <a:custGeom>
              <a:avLst/>
              <a:gdLst/>
              <a:ahLst/>
              <a:cxnLst/>
              <a:rect r="r" b="b" t="t" l="l"/>
              <a:pathLst>
                <a:path h="639445" w="929767">
                  <a:moveTo>
                    <a:pt x="0" y="0"/>
                  </a:moveTo>
                  <a:lnTo>
                    <a:pt x="929767" y="0"/>
                  </a:lnTo>
                  <a:lnTo>
                    <a:pt x="929767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19" id="819"/>
          <p:cNvGrpSpPr/>
          <p:nvPr/>
        </p:nvGrpSpPr>
        <p:grpSpPr>
          <a:xfrm rot="0">
            <a:off x="15165743" y="6286843"/>
            <a:ext cx="632774" cy="568643"/>
            <a:chOff x="0" y="0"/>
            <a:chExt cx="843699" cy="758190"/>
          </a:xfrm>
        </p:grpSpPr>
        <p:sp>
          <p:nvSpPr>
            <p:cNvPr name="Freeform 820" id="820"/>
            <p:cNvSpPr/>
            <p:nvPr/>
          </p:nvSpPr>
          <p:spPr>
            <a:xfrm flipH="false" flipV="false" rot="0">
              <a:off x="0" y="0"/>
              <a:ext cx="843661" cy="758190"/>
            </a:xfrm>
            <a:custGeom>
              <a:avLst/>
              <a:gdLst/>
              <a:ahLst/>
              <a:cxnLst/>
              <a:rect r="r" b="b" t="t" l="l"/>
              <a:pathLst>
                <a:path h="758190" w="843661">
                  <a:moveTo>
                    <a:pt x="0" y="0"/>
                  </a:moveTo>
                  <a:lnTo>
                    <a:pt x="843661" y="0"/>
                  </a:lnTo>
                  <a:lnTo>
                    <a:pt x="843661" y="758190"/>
                  </a:lnTo>
                  <a:lnTo>
                    <a:pt x="0" y="758190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21" id="821"/>
          <p:cNvGrpSpPr/>
          <p:nvPr/>
        </p:nvGrpSpPr>
        <p:grpSpPr>
          <a:xfrm rot="0">
            <a:off x="15165743" y="6286843"/>
            <a:ext cx="554079" cy="645004"/>
            <a:chOff x="0" y="0"/>
            <a:chExt cx="738772" cy="860006"/>
          </a:xfrm>
        </p:grpSpPr>
        <p:sp>
          <p:nvSpPr>
            <p:cNvPr name="Freeform 822" id="822"/>
            <p:cNvSpPr/>
            <p:nvPr/>
          </p:nvSpPr>
          <p:spPr>
            <a:xfrm flipH="false" flipV="false" rot="0">
              <a:off x="0" y="0"/>
              <a:ext cx="738759" cy="860044"/>
            </a:xfrm>
            <a:custGeom>
              <a:avLst/>
              <a:gdLst/>
              <a:ahLst/>
              <a:cxnLst/>
              <a:rect r="r" b="b" t="t" l="l"/>
              <a:pathLst>
                <a:path h="860044" w="738759">
                  <a:moveTo>
                    <a:pt x="0" y="0"/>
                  </a:moveTo>
                  <a:lnTo>
                    <a:pt x="738759" y="0"/>
                  </a:lnTo>
                  <a:lnTo>
                    <a:pt x="738759" y="860044"/>
                  </a:lnTo>
                  <a:lnTo>
                    <a:pt x="0" y="860044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23" id="823"/>
          <p:cNvGrpSpPr/>
          <p:nvPr/>
        </p:nvGrpSpPr>
        <p:grpSpPr>
          <a:xfrm rot="0">
            <a:off x="15165743" y="6286843"/>
            <a:ext cx="462963" cy="706898"/>
            <a:chOff x="0" y="0"/>
            <a:chExt cx="617284" cy="942530"/>
          </a:xfrm>
        </p:grpSpPr>
        <p:sp>
          <p:nvSpPr>
            <p:cNvPr name="Freeform 824" id="824"/>
            <p:cNvSpPr/>
            <p:nvPr/>
          </p:nvSpPr>
          <p:spPr>
            <a:xfrm flipH="false" flipV="false" rot="0">
              <a:off x="0" y="0"/>
              <a:ext cx="617347" cy="942467"/>
            </a:xfrm>
            <a:custGeom>
              <a:avLst/>
              <a:gdLst/>
              <a:ahLst/>
              <a:cxnLst/>
              <a:rect r="r" b="b" t="t" l="l"/>
              <a:pathLst>
                <a:path h="942467" w="617347">
                  <a:moveTo>
                    <a:pt x="0" y="0"/>
                  </a:moveTo>
                  <a:lnTo>
                    <a:pt x="617347" y="0"/>
                  </a:lnTo>
                  <a:lnTo>
                    <a:pt x="617347" y="942467"/>
                  </a:lnTo>
                  <a:lnTo>
                    <a:pt x="0" y="94246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25" id="825"/>
          <p:cNvGrpSpPr/>
          <p:nvPr/>
        </p:nvGrpSpPr>
        <p:grpSpPr>
          <a:xfrm rot="0">
            <a:off x="15165743" y="6286843"/>
            <a:ext cx="361464" cy="752942"/>
            <a:chOff x="0" y="0"/>
            <a:chExt cx="481952" cy="1003922"/>
          </a:xfrm>
        </p:grpSpPr>
        <p:sp>
          <p:nvSpPr>
            <p:cNvPr name="Freeform 826" id="826"/>
            <p:cNvSpPr/>
            <p:nvPr/>
          </p:nvSpPr>
          <p:spPr>
            <a:xfrm flipH="false" flipV="false" rot="0">
              <a:off x="0" y="0"/>
              <a:ext cx="481965" cy="1003935"/>
            </a:xfrm>
            <a:custGeom>
              <a:avLst/>
              <a:gdLst/>
              <a:ahLst/>
              <a:cxnLst/>
              <a:rect r="r" b="b" t="t" l="l"/>
              <a:pathLst>
                <a:path h="1003935" w="481965">
                  <a:moveTo>
                    <a:pt x="0" y="0"/>
                  </a:moveTo>
                  <a:lnTo>
                    <a:pt x="481965" y="0"/>
                  </a:lnTo>
                  <a:lnTo>
                    <a:pt x="481965" y="1003935"/>
                  </a:lnTo>
                  <a:lnTo>
                    <a:pt x="0" y="1003935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27" id="827"/>
          <p:cNvGrpSpPr/>
          <p:nvPr/>
        </p:nvGrpSpPr>
        <p:grpSpPr>
          <a:xfrm rot="0">
            <a:off x="15165743" y="6286843"/>
            <a:ext cx="251860" cy="782107"/>
            <a:chOff x="0" y="0"/>
            <a:chExt cx="335813" cy="1042810"/>
          </a:xfrm>
        </p:grpSpPr>
        <p:sp>
          <p:nvSpPr>
            <p:cNvPr name="Freeform 828" id="828"/>
            <p:cNvSpPr/>
            <p:nvPr/>
          </p:nvSpPr>
          <p:spPr>
            <a:xfrm flipH="false" flipV="false" rot="0">
              <a:off x="0" y="0"/>
              <a:ext cx="335788" cy="1042797"/>
            </a:xfrm>
            <a:custGeom>
              <a:avLst/>
              <a:gdLst/>
              <a:ahLst/>
              <a:cxnLst/>
              <a:rect r="r" b="b" t="t" l="l"/>
              <a:pathLst>
                <a:path h="1042797" w="335788">
                  <a:moveTo>
                    <a:pt x="0" y="0"/>
                  </a:moveTo>
                  <a:lnTo>
                    <a:pt x="335788" y="0"/>
                  </a:lnTo>
                  <a:lnTo>
                    <a:pt x="335788" y="1042797"/>
                  </a:lnTo>
                  <a:lnTo>
                    <a:pt x="0" y="104279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29" id="829"/>
          <p:cNvGrpSpPr/>
          <p:nvPr/>
        </p:nvGrpSpPr>
        <p:grpSpPr>
          <a:xfrm rot="0">
            <a:off x="15319353" y="6467389"/>
            <a:ext cx="603980" cy="356892"/>
            <a:chOff x="0" y="0"/>
            <a:chExt cx="805307" cy="475856"/>
          </a:xfrm>
        </p:grpSpPr>
        <p:sp>
          <p:nvSpPr>
            <p:cNvPr name="Freeform 830" id="830"/>
            <p:cNvSpPr/>
            <p:nvPr/>
          </p:nvSpPr>
          <p:spPr>
            <a:xfrm flipH="false" flipV="false" rot="0">
              <a:off x="0" y="0"/>
              <a:ext cx="805301" cy="475860"/>
            </a:xfrm>
            <a:custGeom>
              <a:avLst/>
              <a:gdLst/>
              <a:ahLst/>
              <a:cxnLst/>
              <a:rect r="r" b="b" t="t" l="l"/>
              <a:pathLst>
                <a:path h="475860" w="805301">
                  <a:moveTo>
                    <a:pt x="0" y="0"/>
                  </a:moveTo>
                  <a:lnTo>
                    <a:pt x="805301" y="0"/>
                  </a:lnTo>
                  <a:lnTo>
                    <a:pt x="80530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14" t="0" r="-25815" b="0"/>
              </a:stretch>
            </a:blipFill>
          </p:spPr>
        </p:sp>
        <p:sp>
          <p:nvSpPr>
            <p:cNvPr name="TextBox 831" id="831"/>
            <p:cNvSpPr txBox="true"/>
            <p:nvPr/>
          </p:nvSpPr>
          <p:spPr>
            <a:xfrm>
              <a:off x="0" y="-19050"/>
              <a:ext cx="805307" cy="494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Q2</a:t>
              </a:r>
            </a:p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24%</a:t>
              </a:r>
            </a:p>
          </p:txBody>
        </p:sp>
      </p:grpSp>
      <p:grpSp>
        <p:nvGrpSpPr>
          <p:cNvPr name="Group 832" id="832"/>
          <p:cNvGrpSpPr/>
          <p:nvPr/>
        </p:nvGrpSpPr>
        <p:grpSpPr>
          <a:xfrm rot="0">
            <a:off x="15165743" y="6286843"/>
            <a:ext cx="136617" cy="793556"/>
            <a:chOff x="0" y="0"/>
            <a:chExt cx="182156" cy="1058075"/>
          </a:xfrm>
        </p:grpSpPr>
        <p:sp>
          <p:nvSpPr>
            <p:cNvPr name="Freeform 833" id="833"/>
            <p:cNvSpPr/>
            <p:nvPr/>
          </p:nvSpPr>
          <p:spPr>
            <a:xfrm flipH="false" flipV="false" rot="0">
              <a:off x="0" y="0"/>
              <a:ext cx="182118" cy="1058037"/>
            </a:xfrm>
            <a:custGeom>
              <a:avLst/>
              <a:gdLst/>
              <a:ahLst/>
              <a:cxnLst/>
              <a:rect r="r" b="b" t="t" l="l"/>
              <a:pathLst>
                <a:path h="1058037" w="182118">
                  <a:moveTo>
                    <a:pt x="0" y="0"/>
                  </a:moveTo>
                  <a:lnTo>
                    <a:pt x="182118" y="0"/>
                  </a:lnTo>
                  <a:lnTo>
                    <a:pt x="182118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34" id="834"/>
          <p:cNvGrpSpPr/>
          <p:nvPr/>
        </p:nvGrpSpPr>
        <p:grpSpPr>
          <a:xfrm rot="0">
            <a:off x="15078542" y="6286843"/>
            <a:ext cx="112157" cy="793556"/>
            <a:chOff x="0" y="0"/>
            <a:chExt cx="149542" cy="1058075"/>
          </a:xfrm>
        </p:grpSpPr>
        <p:sp>
          <p:nvSpPr>
            <p:cNvPr name="Freeform 835" id="835"/>
            <p:cNvSpPr/>
            <p:nvPr/>
          </p:nvSpPr>
          <p:spPr>
            <a:xfrm flipH="false" flipV="false" rot="0">
              <a:off x="0" y="0"/>
              <a:ext cx="14947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49479">
                  <a:moveTo>
                    <a:pt x="0" y="0"/>
                  </a:moveTo>
                  <a:lnTo>
                    <a:pt x="149479" y="0"/>
                  </a:lnTo>
                  <a:lnTo>
                    <a:pt x="14947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36" id="836"/>
          <p:cNvGrpSpPr/>
          <p:nvPr/>
        </p:nvGrpSpPr>
        <p:grpSpPr>
          <a:xfrm rot="0">
            <a:off x="14968128" y="6286843"/>
            <a:ext cx="197606" cy="789146"/>
            <a:chOff x="0" y="0"/>
            <a:chExt cx="263474" cy="1052195"/>
          </a:xfrm>
        </p:grpSpPr>
        <p:sp>
          <p:nvSpPr>
            <p:cNvPr name="Freeform 837" id="837"/>
            <p:cNvSpPr/>
            <p:nvPr/>
          </p:nvSpPr>
          <p:spPr>
            <a:xfrm flipH="false" flipV="false" rot="0">
              <a:off x="0" y="0"/>
              <a:ext cx="263525" cy="1052195"/>
            </a:xfrm>
            <a:custGeom>
              <a:avLst/>
              <a:gdLst/>
              <a:ahLst/>
              <a:cxnLst/>
              <a:rect r="r" b="b" t="t" l="l"/>
              <a:pathLst>
                <a:path h="1052195" w="263525">
                  <a:moveTo>
                    <a:pt x="0" y="0"/>
                  </a:moveTo>
                  <a:lnTo>
                    <a:pt x="263525" y="0"/>
                  </a:lnTo>
                  <a:lnTo>
                    <a:pt x="263525" y="1052195"/>
                  </a:lnTo>
                  <a:lnTo>
                    <a:pt x="0" y="1052195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38" id="838"/>
          <p:cNvGrpSpPr/>
          <p:nvPr/>
        </p:nvGrpSpPr>
        <p:grpSpPr>
          <a:xfrm rot="0">
            <a:off x="14861667" y="6286843"/>
            <a:ext cx="304076" cy="768972"/>
            <a:chOff x="0" y="0"/>
            <a:chExt cx="405435" cy="1025296"/>
          </a:xfrm>
        </p:grpSpPr>
        <p:sp>
          <p:nvSpPr>
            <p:cNvPr name="Freeform 839" id="839"/>
            <p:cNvSpPr/>
            <p:nvPr/>
          </p:nvSpPr>
          <p:spPr>
            <a:xfrm flipH="false" flipV="false" rot="0">
              <a:off x="0" y="0"/>
              <a:ext cx="405384" cy="1025271"/>
            </a:xfrm>
            <a:custGeom>
              <a:avLst/>
              <a:gdLst/>
              <a:ahLst/>
              <a:cxnLst/>
              <a:rect r="r" b="b" t="t" l="l"/>
              <a:pathLst>
                <a:path h="1025271" w="405384">
                  <a:moveTo>
                    <a:pt x="0" y="0"/>
                  </a:moveTo>
                  <a:lnTo>
                    <a:pt x="405384" y="0"/>
                  </a:lnTo>
                  <a:lnTo>
                    <a:pt x="405384" y="1025271"/>
                  </a:lnTo>
                  <a:lnTo>
                    <a:pt x="0" y="1025271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40" id="840"/>
          <p:cNvGrpSpPr/>
          <p:nvPr/>
        </p:nvGrpSpPr>
        <p:grpSpPr>
          <a:xfrm rot="0">
            <a:off x="14761283" y="6286843"/>
            <a:ext cx="404460" cy="733415"/>
            <a:chOff x="0" y="0"/>
            <a:chExt cx="539280" cy="977887"/>
          </a:xfrm>
        </p:grpSpPr>
        <p:sp>
          <p:nvSpPr>
            <p:cNvPr name="Freeform 841" id="841"/>
            <p:cNvSpPr/>
            <p:nvPr/>
          </p:nvSpPr>
          <p:spPr>
            <a:xfrm flipH="false" flipV="false" rot="0">
              <a:off x="0" y="0"/>
              <a:ext cx="539242" cy="977900"/>
            </a:xfrm>
            <a:custGeom>
              <a:avLst/>
              <a:gdLst/>
              <a:ahLst/>
              <a:cxnLst/>
              <a:rect r="r" b="b" t="t" l="l"/>
              <a:pathLst>
                <a:path h="977900" w="539242">
                  <a:moveTo>
                    <a:pt x="0" y="0"/>
                  </a:moveTo>
                  <a:lnTo>
                    <a:pt x="539242" y="0"/>
                  </a:lnTo>
                  <a:lnTo>
                    <a:pt x="539242" y="977900"/>
                  </a:lnTo>
                  <a:lnTo>
                    <a:pt x="0" y="977900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42" id="842"/>
          <p:cNvGrpSpPr/>
          <p:nvPr/>
        </p:nvGrpSpPr>
        <p:grpSpPr>
          <a:xfrm rot="0">
            <a:off x="14668976" y="6286843"/>
            <a:ext cx="496767" cy="683209"/>
            <a:chOff x="0" y="0"/>
            <a:chExt cx="662356" cy="910946"/>
          </a:xfrm>
        </p:grpSpPr>
        <p:sp>
          <p:nvSpPr>
            <p:cNvPr name="Freeform 843" id="843"/>
            <p:cNvSpPr/>
            <p:nvPr/>
          </p:nvSpPr>
          <p:spPr>
            <a:xfrm flipH="false" flipV="false" rot="0">
              <a:off x="0" y="0"/>
              <a:ext cx="662305" cy="910971"/>
            </a:xfrm>
            <a:custGeom>
              <a:avLst/>
              <a:gdLst/>
              <a:ahLst/>
              <a:cxnLst/>
              <a:rect r="r" b="b" t="t" l="l"/>
              <a:pathLst>
                <a:path h="910971" w="662305">
                  <a:moveTo>
                    <a:pt x="0" y="0"/>
                  </a:moveTo>
                  <a:lnTo>
                    <a:pt x="662305" y="0"/>
                  </a:lnTo>
                  <a:lnTo>
                    <a:pt x="662305" y="910971"/>
                  </a:lnTo>
                  <a:lnTo>
                    <a:pt x="0" y="910971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44" id="844"/>
          <p:cNvGrpSpPr/>
          <p:nvPr/>
        </p:nvGrpSpPr>
        <p:grpSpPr>
          <a:xfrm rot="0">
            <a:off x="14586604" y="6286843"/>
            <a:ext cx="579139" cy="619344"/>
            <a:chOff x="0" y="0"/>
            <a:chExt cx="772185" cy="825792"/>
          </a:xfrm>
        </p:grpSpPr>
        <p:sp>
          <p:nvSpPr>
            <p:cNvPr name="Freeform 845" id="845"/>
            <p:cNvSpPr/>
            <p:nvPr/>
          </p:nvSpPr>
          <p:spPr>
            <a:xfrm flipH="false" flipV="false" rot="0">
              <a:off x="0" y="0"/>
              <a:ext cx="772160" cy="825754"/>
            </a:xfrm>
            <a:custGeom>
              <a:avLst/>
              <a:gdLst/>
              <a:ahLst/>
              <a:cxnLst/>
              <a:rect r="r" b="b" t="t" l="l"/>
              <a:pathLst>
                <a:path h="825754" w="772160">
                  <a:moveTo>
                    <a:pt x="0" y="0"/>
                  </a:moveTo>
                  <a:lnTo>
                    <a:pt x="772160" y="0"/>
                  </a:lnTo>
                  <a:lnTo>
                    <a:pt x="772160" y="825754"/>
                  </a:lnTo>
                  <a:lnTo>
                    <a:pt x="0" y="825754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46" id="846"/>
          <p:cNvGrpSpPr/>
          <p:nvPr/>
        </p:nvGrpSpPr>
        <p:grpSpPr>
          <a:xfrm rot="0">
            <a:off x="14515805" y="6286843"/>
            <a:ext cx="649938" cy="543106"/>
            <a:chOff x="0" y="0"/>
            <a:chExt cx="866584" cy="724141"/>
          </a:xfrm>
        </p:grpSpPr>
        <p:sp>
          <p:nvSpPr>
            <p:cNvPr name="Freeform 847" id="847"/>
            <p:cNvSpPr/>
            <p:nvPr/>
          </p:nvSpPr>
          <p:spPr>
            <a:xfrm flipH="false" flipV="false" rot="0">
              <a:off x="0" y="0"/>
              <a:ext cx="866521" cy="724154"/>
            </a:xfrm>
            <a:custGeom>
              <a:avLst/>
              <a:gdLst/>
              <a:ahLst/>
              <a:cxnLst/>
              <a:rect r="r" b="b" t="t" l="l"/>
              <a:pathLst>
                <a:path h="724154" w="866521">
                  <a:moveTo>
                    <a:pt x="0" y="0"/>
                  </a:moveTo>
                  <a:lnTo>
                    <a:pt x="866521" y="0"/>
                  </a:lnTo>
                  <a:lnTo>
                    <a:pt x="866521" y="724154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48" id="848"/>
          <p:cNvGrpSpPr/>
          <p:nvPr/>
        </p:nvGrpSpPr>
        <p:grpSpPr>
          <a:xfrm rot="0">
            <a:off x="14457998" y="6286843"/>
            <a:ext cx="707746" cy="456009"/>
            <a:chOff x="0" y="0"/>
            <a:chExt cx="943661" cy="608012"/>
          </a:xfrm>
        </p:grpSpPr>
        <p:sp>
          <p:nvSpPr>
            <p:cNvPr name="Freeform 849" id="849"/>
            <p:cNvSpPr/>
            <p:nvPr/>
          </p:nvSpPr>
          <p:spPr>
            <a:xfrm flipH="false" flipV="false" rot="0">
              <a:off x="0" y="0"/>
              <a:ext cx="943610" cy="607949"/>
            </a:xfrm>
            <a:custGeom>
              <a:avLst/>
              <a:gdLst/>
              <a:ahLst/>
              <a:cxnLst/>
              <a:rect r="r" b="b" t="t" l="l"/>
              <a:pathLst>
                <a:path h="607949" w="943610">
                  <a:moveTo>
                    <a:pt x="0" y="0"/>
                  </a:moveTo>
                  <a:lnTo>
                    <a:pt x="943610" y="0"/>
                  </a:lnTo>
                  <a:lnTo>
                    <a:pt x="943610" y="607949"/>
                  </a:lnTo>
                  <a:lnTo>
                    <a:pt x="0" y="607949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50" id="850"/>
          <p:cNvGrpSpPr/>
          <p:nvPr/>
        </p:nvGrpSpPr>
        <p:grpSpPr>
          <a:xfrm rot="0">
            <a:off x="14414325" y="6286843"/>
            <a:ext cx="751418" cy="359797"/>
            <a:chOff x="0" y="0"/>
            <a:chExt cx="1001890" cy="479730"/>
          </a:xfrm>
        </p:grpSpPr>
        <p:sp>
          <p:nvSpPr>
            <p:cNvPr name="Freeform 851" id="851"/>
            <p:cNvSpPr/>
            <p:nvPr/>
          </p:nvSpPr>
          <p:spPr>
            <a:xfrm flipH="false" flipV="false" rot="0">
              <a:off x="0" y="0"/>
              <a:ext cx="1001903" cy="479679"/>
            </a:xfrm>
            <a:custGeom>
              <a:avLst/>
              <a:gdLst/>
              <a:ahLst/>
              <a:cxnLst/>
              <a:rect r="r" b="b" t="t" l="l"/>
              <a:pathLst>
                <a:path h="479679" w="1001903">
                  <a:moveTo>
                    <a:pt x="0" y="0"/>
                  </a:moveTo>
                  <a:lnTo>
                    <a:pt x="1001903" y="0"/>
                  </a:lnTo>
                  <a:lnTo>
                    <a:pt x="1001903" y="479679"/>
                  </a:lnTo>
                  <a:lnTo>
                    <a:pt x="0" y="479679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52" id="852"/>
          <p:cNvGrpSpPr/>
          <p:nvPr/>
        </p:nvGrpSpPr>
        <p:grpSpPr>
          <a:xfrm rot="0">
            <a:off x="14385684" y="6286843"/>
            <a:ext cx="780059" cy="256394"/>
            <a:chOff x="0" y="0"/>
            <a:chExt cx="1040079" cy="341859"/>
          </a:xfrm>
        </p:grpSpPr>
        <p:sp>
          <p:nvSpPr>
            <p:cNvPr name="Freeform 853" id="853"/>
            <p:cNvSpPr/>
            <p:nvPr/>
          </p:nvSpPr>
          <p:spPr>
            <a:xfrm flipH="false" flipV="false" rot="0">
              <a:off x="0" y="0"/>
              <a:ext cx="1040130" cy="341884"/>
            </a:xfrm>
            <a:custGeom>
              <a:avLst/>
              <a:gdLst/>
              <a:ahLst/>
              <a:cxnLst/>
              <a:rect r="r" b="b" t="t" l="l"/>
              <a:pathLst>
                <a:path h="341884" w="1040130">
                  <a:moveTo>
                    <a:pt x="0" y="0"/>
                  </a:moveTo>
                  <a:lnTo>
                    <a:pt x="1040130" y="0"/>
                  </a:lnTo>
                  <a:lnTo>
                    <a:pt x="1040130" y="341884"/>
                  </a:lnTo>
                  <a:lnTo>
                    <a:pt x="0" y="341884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854" id="854"/>
          <p:cNvGrpSpPr/>
          <p:nvPr/>
        </p:nvGrpSpPr>
        <p:grpSpPr>
          <a:xfrm rot="0">
            <a:off x="14538503" y="6592214"/>
            <a:ext cx="603980" cy="356892"/>
            <a:chOff x="0" y="0"/>
            <a:chExt cx="805307" cy="475856"/>
          </a:xfrm>
        </p:grpSpPr>
        <p:sp>
          <p:nvSpPr>
            <p:cNvPr name="Freeform 855" id="855"/>
            <p:cNvSpPr/>
            <p:nvPr/>
          </p:nvSpPr>
          <p:spPr>
            <a:xfrm flipH="false" flipV="false" rot="0">
              <a:off x="0" y="0"/>
              <a:ext cx="805301" cy="475860"/>
            </a:xfrm>
            <a:custGeom>
              <a:avLst/>
              <a:gdLst/>
              <a:ahLst/>
              <a:cxnLst/>
              <a:rect r="r" b="b" t="t" l="l"/>
              <a:pathLst>
                <a:path h="475860" w="805301">
                  <a:moveTo>
                    <a:pt x="0" y="0"/>
                  </a:moveTo>
                  <a:lnTo>
                    <a:pt x="805301" y="0"/>
                  </a:lnTo>
                  <a:lnTo>
                    <a:pt x="80530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14" t="0" r="-25815" b="0"/>
              </a:stretch>
            </a:blipFill>
          </p:spPr>
        </p:sp>
        <p:sp>
          <p:nvSpPr>
            <p:cNvPr name="TextBox 856" id="856"/>
            <p:cNvSpPr txBox="true"/>
            <p:nvPr/>
          </p:nvSpPr>
          <p:spPr>
            <a:xfrm>
              <a:off x="0" y="-19050"/>
              <a:ext cx="805307" cy="494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Q3</a:t>
              </a:r>
            </a:p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25%</a:t>
              </a:r>
            </a:p>
          </p:txBody>
        </p:sp>
      </p:grpSp>
      <p:grpSp>
        <p:nvGrpSpPr>
          <p:cNvPr name="Group 857" id="857"/>
          <p:cNvGrpSpPr/>
          <p:nvPr/>
        </p:nvGrpSpPr>
        <p:grpSpPr>
          <a:xfrm rot="0">
            <a:off x="14372453" y="6286843"/>
            <a:ext cx="793290" cy="147876"/>
            <a:chOff x="0" y="0"/>
            <a:chExt cx="1057720" cy="197168"/>
          </a:xfrm>
        </p:grpSpPr>
        <p:sp>
          <p:nvSpPr>
            <p:cNvPr name="Freeform 858" id="858"/>
            <p:cNvSpPr/>
            <p:nvPr/>
          </p:nvSpPr>
          <p:spPr>
            <a:xfrm flipH="false" flipV="false" rot="0">
              <a:off x="0" y="0"/>
              <a:ext cx="1057783" cy="197104"/>
            </a:xfrm>
            <a:custGeom>
              <a:avLst/>
              <a:gdLst/>
              <a:ahLst/>
              <a:cxnLst/>
              <a:rect r="r" b="b" t="t" l="l"/>
              <a:pathLst>
                <a:path h="197104" w="1057783">
                  <a:moveTo>
                    <a:pt x="0" y="0"/>
                  </a:moveTo>
                  <a:lnTo>
                    <a:pt x="1057783" y="0"/>
                  </a:lnTo>
                  <a:lnTo>
                    <a:pt x="1057783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59" id="859"/>
          <p:cNvGrpSpPr/>
          <p:nvPr/>
        </p:nvGrpSpPr>
        <p:grpSpPr>
          <a:xfrm rot="0">
            <a:off x="14372453" y="6203090"/>
            <a:ext cx="793290" cy="116157"/>
            <a:chOff x="0" y="0"/>
            <a:chExt cx="1057720" cy="154876"/>
          </a:xfrm>
        </p:grpSpPr>
        <p:sp>
          <p:nvSpPr>
            <p:cNvPr name="Freeform 860" id="860"/>
            <p:cNvSpPr/>
            <p:nvPr/>
          </p:nvSpPr>
          <p:spPr>
            <a:xfrm flipH="false" flipV="false" rot="0">
              <a:off x="0" y="0"/>
              <a:ext cx="1057783" cy="154940"/>
            </a:xfrm>
            <a:custGeom>
              <a:avLst/>
              <a:gdLst/>
              <a:ahLst/>
              <a:cxnLst/>
              <a:rect r="r" b="b" t="t" l="l"/>
              <a:pathLst>
                <a:path h="154940" w="1057783">
                  <a:moveTo>
                    <a:pt x="0" y="0"/>
                  </a:moveTo>
                  <a:lnTo>
                    <a:pt x="1057783" y="0"/>
                  </a:lnTo>
                  <a:lnTo>
                    <a:pt x="1057783" y="154940"/>
                  </a:lnTo>
                  <a:lnTo>
                    <a:pt x="0" y="15494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61" id="861"/>
          <p:cNvGrpSpPr/>
          <p:nvPr/>
        </p:nvGrpSpPr>
        <p:grpSpPr>
          <a:xfrm rot="0">
            <a:off x="14376216" y="6088723"/>
            <a:ext cx="789527" cy="198110"/>
            <a:chOff x="0" y="0"/>
            <a:chExt cx="1052703" cy="264147"/>
          </a:xfrm>
        </p:grpSpPr>
        <p:sp>
          <p:nvSpPr>
            <p:cNvPr name="Freeform 862" id="862"/>
            <p:cNvSpPr/>
            <p:nvPr/>
          </p:nvSpPr>
          <p:spPr>
            <a:xfrm flipH="false" flipV="false" rot="0">
              <a:off x="0" y="0"/>
              <a:ext cx="1052703" cy="264160"/>
            </a:xfrm>
            <a:custGeom>
              <a:avLst/>
              <a:gdLst/>
              <a:ahLst/>
              <a:cxnLst/>
              <a:rect r="r" b="b" t="t" l="l"/>
              <a:pathLst>
                <a:path h="264160" w="1052703">
                  <a:moveTo>
                    <a:pt x="0" y="0"/>
                  </a:moveTo>
                  <a:lnTo>
                    <a:pt x="1052703" y="0"/>
                  </a:lnTo>
                  <a:lnTo>
                    <a:pt x="1052703" y="264160"/>
                  </a:lnTo>
                  <a:lnTo>
                    <a:pt x="0" y="26416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63" id="863"/>
          <p:cNvGrpSpPr/>
          <p:nvPr/>
        </p:nvGrpSpPr>
        <p:grpSpPr>
          <a:xfrm rot="0">
            <a:off x="14396904" y="5978604"/>
            <a:ext cx="768839" cy="308229"/>
            <a:chOff x="0" y="0"/>
            <a:chExt cx="1025119" cy="410972"/>
          </a:xfrm>
        </p:grpSpPr>
        <p:sp>
          <p:nvSpPr>
            <p:cNvPr name="Freeform 864" id="864"/>
            <p:cNvSpPr/>
            <p:nvPr/>
          </p:nvSpPr>
          <p:spPr>
            <a:xfrm flipH="false" flipV="false" rot="0">
              <a:off x="0" y="0"/>
              <a:ext cx="1025144" cy="410972"/>
            </a:xfrm>
            <a:custGeom>
              <a:avLst/>
              <a:gdLst/>
              <a:ahLst/>
              <a:cxnLst/>
              <a:rect r="r" b="b" t="t" l="l"/>
              <a:pathLst>
                <a:path h="410972" w="1025144">
                  <a:moveTo>
                    <a:pt x="0" y="0"/>
                  </a:moveTo>
                  <a:lnTo>
                    <a:pt x="1025144" y="0"/>
                  </a:lnTo>
                  <a:lnTo>
                    <a:pt x="1025144" y="410972"/>
                  </a:lnTo>
                  <a:lnTo>
                    <a:pt x="0" y="410972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65" id="865"/>
          <p:cNvGrpSpPr/>
          <p:nvPr/>
        </p:nvGrpSpPr>
        <p:grpSpPr>
          <a:xfrm rot="0">
            <a:off x="14434061" y="5875096"/>
            <a:ext cx="731682" cy="411747"/>
            <a:chOff x="0" y="0"/>
            <a:chExt cx="975576" cy="548996"/>
          </a:xfrm>
        </p:grpSpPr>
        <p:sp>
          <p:nvSpPr>
            <p:cNvPr name="Freeform 866" id="866"/>
            <p:cNvSpPr/>
            <p:nvPr/>
          </p:nvSpPr>
          <p:spPr>
            <a:xfrm flipH="false" flipV="false" rot="0">
              <a:off x="0" y="0"/>
              <a:ext cx="975614" cy="549021"/>
            </a:xfrm>
            <a:custGeom>
              <a:avLst/>
              <a:gdLst/>
              <a:ahLst/>
              <a:cxnLst/>
              <a:rect r="r" b="b" t="t" l="l"/>
              <a:pathLst>
                <a:path h="549021" w="975614">
                  <a:moveTo>
                    <a:pt x="0" y="0"/>
                  </a:moveTo>
                  <a:lnTo>
                    <a:pt x="975614" y="0"/>
                  </a:lnTo>
                  <a:lnTo>
                    <a:pt x="975614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67" id="867"/>
          <p:cNvGrpSpPr/>
          <p:nvPr/>
        </p:nvGrpSpPr>
        <p:grpSpPr>
          <a:xfrm rot="0">
            <a:off x="14486896" y="5780399"/>
            <a:ext cx="678847" cy="506435"/>
            <a:chOff x="0" y="0"/>
            <a:chExt cx="905129" cy="675246"/>
          </a:xfrm>
        </p:grpSpPr>
        <p:sp>
          <p:nvSpPr>
            <p:cNvPr name="Freeform 868" id="868"/>
            <p:cNvSpPr/>
            <p:nvPr/>
          </p:nvSpPr>
          <p:spPr>
            <a:xfrm flipH="false" flipV="false" rot="0">
              <a:off x="0" y="0"/>
              <a:ext cx="905129" cy="675259"/>
            </a:xfrm>
            <a:custGeom>
              <a:avLst/>
              <a:gdLst/>
              <a:ahLst/>
              <a:cxnLst/>
              <a:rect r="r" b="b" t="t" l="l"/>
              <a:pathLst>
                <a:path h="675259" w="905129">
                  <a:moveTo>
                    <a:pt x="0" y="0"/>
                  </a:moveTo>
                  <a:lnTo>
                    <a:pt x="905129" y="0"/>
                  </a:lnTo>
                  <a:lnTo>
                    <a:pt x="905129" y="675259"/>
                  </a:lnTo>
                  <a:lnTo>
                    <a:pt x="0" y="67525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69" id="869"/>
          <p:cNvGrpSpPr/>
          <p:nvPr/>
        </p:nvGrpSpPr>
        <p:grpSpPr>
          <a:xfrm rot="0">
            <a:off x="14554286" y="5696560"/>
            <a:ext cx="611457" cy="590274"/>
            <a:chOff x="0" y="0"/>
            <a:chExt cx="815276" cy="787032"/>
          </a:xfrm>
        </p:grpSpPr>
        <p:sp>
          <p:nvSpPr>
            <p:cNvPr name="Freeform 870" id="870"/>
            <p:cNvSpPr/>
            <p:nvPr/>
          </p:nvSpPr>
          <p:spPr>
            <a:xfrm flipH="false" flipV="false" rot="0">
              <a:off x="0" y="0"/>
              <a:ext cx="815340" cy="787019"/>
            </a:xfrm>
            <a:custGeom>
              <a:avLst/>
              <a:gdLst/>
              <a:ahLst/>
              <a:cxnLst/>
              <a:rect r="r" b="b" t="t" l="l"/>
              <a:pathLst>
                <a:path h="787019" w="815340">
                  <a:moveTo>
                    <a:pt x="0" y="0"/>
                  </a:moveTo>
                  <a:lnTo>
                    <a:pt x="815340" y="0"/>
                  </a:lnTo>
                  <a:lnTo>
                    <a:pt x="815340" y="787019"/>
                  </a:lnTo>
                  <a:lnTo>
                    <a:pt x="0" y="78701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71" id="871"/>
          <p:cNvGrpSpPr/>
          <p:nvPr/>
        </p:nvGrpSpPr>
        <p:grpSpPr>
          <a:xfrm rot="0">
            <a:off x="14634762" y="5625370"/>
            <a:ext cx="530971" cy="661473"/>
            <a:chOff x="0" y="0"/>
            <a:chExt cx="707962" cy="881964"/>
          </a:xfrm>
        </p:grpSpPr>
        <p:sp>
          <p:nvSpPr>
            <p:cNvPr name="Freeform 872" id="872"/>
            <p:cNvSpPr/>
            <p:nvPr/>
          </p:nvSpPr>
          <p:spPr>
            <a:xfrm flipH="false" flipV="false" rot="0">
              <a:off x="0" y="0"/>
              <a:ext cx="708025" cy="882015"/>
            </a:xfrm>
            <a:custGeom>
              <a:avLst/>
              <a:gdLst/>
              <a:ahLst/>
              <a:cxnLst/>
              <a:rect r="r" b="b" t="t" l="l"/>
              <a:pathLst>
                <a:path h="882015" w="708025">
                  <a:moveTo>
                    <a:pt x="0" y="0"/>
                  </a:moveTo>
                  <a:lnTo>
                    <a:pt x="708025" y="0"/>
                  </a:lnTo>
                  <a:lnTo>
                    <a:pt x="708025" y="882015"/>
                  </a:lnTo>
                  <a:lnTo>
                    <a:pt x="0" y="882015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73" id="873"/>
          <p:cNvGrpSpPr/>
          <p:nvPr/>
        </p:nvGrpSpPr>
        <p:grpSpPr>
          <a:xfrm rot="0">
            <a:off x="14726631" y="5568353"/>
            <a:ext cx="439112" cy="718490"/>
            <a:chOff x="0" y="0"/>
            <a:chExt cx="585483" cy="957986"/>
          </a:xfrm>
        </p:grpSpPr>
        <p:sp>
          <p:nvSpPr>
            <p:cNvPr name="Freeform 874" id="874"/>
            <p:cNvSpPr/>
            <p:nvPr/>
          </p:nvSpPr>
          <p:spPr>
            <a:xfrm flipH="false" flipV="false" rot="0">
              <a:off x="0" y="0"/>
              <a:ext cx="585470" cy="957961"/>
            </a:xfrm>
            <a:custGeom>
              <a:avLst/>
              <a:gdLst/>
              <a:ahLst/>
              <a:cxnLst/>
              <a:rect r="r" b="b" t="t" l="l"/>
              <a:pathLst>
                <a:path h="957961" w="585470">
                  <a:moveTo>
                    <a:pt x="0" y="0"/>
                  </a:moveTo>
                  <a:lnTo>
                    <a:pt x="585470" y="0"/>
                  </a:lnTo>
                  <a:lnTo>
                    <a:pt x="585470" y="957961"/>
                  </a:lnTo>
                  <a:lnTo>
                    <a:pt x="0" y="957961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75" id="875"/>
          <p:cNvGrpSpPr/>
          <p:nvPr/>
        </p:nvGrpSpPr>
        <p:grpSpPr>
          <a:xfrm rot="0">
            <a:off x="14827901" y="5526729"/>
            <a:ext cx="337842" cy="760114"/>
            <a:chOff x="0" y="0"/>
            <a:chExt cx="450456" cy="1013485"/>
          </a:xfrm>
        </p:grpSpPr>
        <p:sp>
          <p:nvSpPr>
            <p:cNvPr name="Freeform 876" id="876"/>
            <p:cNvSpPr/>
            <p:nvPr/>
          </p:nvSpPr>
          <p:spPr>
            <a:xfrm flipH="false" flipV="false" rot="0">
              <a:off x="0" y="0"/>
              <a:ext cx="450469" cy="1013460"/>
            </a:xfrm>
            <a:custGeom>
              <a:avLst/>
              <a:gdLst/>
              <a:ahLst/>
              <a:cxnLst/>
              <a:rect r="r" b="b" t="t" l="l"/>
              <a:pathLst>
                <a:path h="1013460" w="450469">
                  <a:moveTo>
                    <a:pt x="0" y="0"/>
                  </a:moveTo>
                  <a:lnTo>
                    <a:pt x="450469" y="0"/>
                  </a:lnTo>
                  <a:lnTo>
                    <a:pt x="450469" y="1013460"/>
                  </a:lnTo>
                  <a:lnTo>
                    <a:pt x="0" y="101346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77" id="877"/>
          <p:cNvGrpSpPr/>
          <p:nvPr/>
        </p:nvGrpSpPr>
        <p:grpSpPr>
          <a:xfrm rot="0">
            <a:off x="14936410" y="5501392"/>
            <a:ext cx="229333" cy="785451"/>
            <a:chOff x="0" y="0"/>
            <a:chExt cx="305778" cy="1047267"/>
          </a:xfrm>
        </p:grpSpPr>
        <p:sp>
          <p:nvSpPr>
            <p:cNvPr name="Freeform 878" id="878"/>
            <p:cNvSpPr/>
            <p:nvPr/>
          </p:nvSpPr>
          <p:spPr>
            <a:xfrm flipH="false" flipV="false" rot="0">
              <a:off x="0" y="0"/>
              <a:ext cx="305816" cy="1047242"/>
            </a:xfrm>
            <a:custGeom>
              <a:avLst/>
              <a:gdLst/>
              <a:ahLst/>
              <a:cxnLst/>
              <a:rect r="r" b="b" t="t" l="l"/>
              <a:pathLst>
                <a:path h="1047242" w="305816">
                  <a:moveTo>
                    <a:pt x="0" y="0"/>
                  </a:moveTo>
                  <a:lnTo>
                    <a:pt x="305816" y="0"/>
                  </a:lnTo>
                  <a:lnTo>
                    <a:pt x="305816" y="1047242"/>
                  </a:lnTo>
                  <a:lnTo>
                    <a:pt x="0" y="1047242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79" id="879"/>
          <p:cNvGrpSpPr/>
          <p:nvPr/>
        </p:nvGrpSpPr>
        <p:grpSpPr>
          <a:xfrm rot="0">
            <a:off x="15049833" y="5492887"/>
            <a:ext cx="115910" cy="793956"/>
            <a:chOff x="0" y="0"/>
            <a:chExt cx="154546" cy="1058608"/>
          </a:xfrm>
        </p:grpSpPr>
        <p:sp>
          <p:nvSpPr>
            <p:cNvPr name="Freeform 880" id="880"/>
            <p:cNvSpPr/>
            <p:nvPr/>
          </p:nvSpPr>
          <p:spPr>
            <a:xfrm flipH="false" flipV="false" rot="0">
              <a:off x="0" y="0"/>
              <a:ext cx="154559" cy="1058545"/>
            </a:xfrm>
            <a:custGeom>
              <a:avLst/>
              <a:gdLst/>
              <a:ahLst/>
              <a:cxnLst/>
              <a:rect r="r" b="b" t="t" l="l"/>
              <a:pathLst>
                <a:path h="1058545" w="154559">
                  <a:moveTo>
                    <a:pt x="0" y="0"/>
                  </a:moveTo>
                  <a:lnTo>
                    <a:pt x="154559" y="0"/>
                  </a:lnTo>
                  <a:lnTo>
                    <a:pt x="154559" y="1058545"/>
                  </a:lnTo>
                  <a:lnTo>
                    <a:pt x="0" y="1058545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81" id="881"/>
          <p:cNvGrpSpPr/>
          <p:nvPr/>
        </p:nvGrpSpPr>
        <p:grpSpPr>
          <a:xfrm rot="0">
            <a:off x="14423498" y="5757482"/>
            <a:ext cx="603980" cy="356892"/>
            <a:chOff x="0" y="0"/>
            <a:chExt cx="805307" cy="475856"/>
          </a:xfrm>
        </p:grpSpPr>
        <p:sp>
          <p:nvSpPr>
            <p:cNvPr name="Freeform 882" id="882"/>
            <p:cNvSpPr/>
            <p:nvPr/>
          </p:nvSpPr>
          <p:spPr>
            <a:xfrm flipH="false" flipV="false" rot="0">
              <a:off x="0" y="0"/>
              <a:ext cx="805301" cy="475860"/>
            </a:xfrm>
            <a:custGeom>
              <a:avLst/>
              <a:gdLst/>
              <a:ahLst/>
              <a:cxnLst/>
              <a:rect r="r" b="b" t="t" l="l"/>
              <a:pathLst>
                <a:path h="475860" w="805301">
                  <a:moveTo>
                    <a:pt x="0" y="0"/>
                  </a:moveTo>
                  <a:lnTo>
                    <a:pt x="805301" y="0"/>
                  </a:lnTo>
                  <a:lnTo>
                    <a:pt x="80530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14" t="0" r="-25815" b="0"/>
              </a:stretch>
            </a:blipFill>
          </p:spPr>
        </p:sp>
        <p:sp>
          <p:nvSpPr>
            <p:cNvPr name="TextBox 883" id="883"/>
            <p:cNvSpPr txBox="true"/>
            <p:nvPr/>
          </p:nvSpPr>
          <p:spPr>
            <a:xfrm>
              <a:off x="0" y="-19050"/>
              <a:ext cx="805307" cy="494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Q4</a:t>
              </a:r>
            </a:p>
            <a:p>
              <a:pPr algn="ctr">
                <a:lnSpc>
                  <a:spcPts val="1170"/>
                </a:lnSpc>
              </a:pPr>
              <a:r>
                <a:rPr lang="en-US" sz="9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28%</a:t>
              </a:r>
            </a:p>
          </p:txBody>
        </p:sp>
      </p:grpSp>
      <p:grpSp>
        <p:nvGrpSpPr>
          <p:cNvPr name="Group 884" id="884"/>
          <p:cNvGrpSpPr/>
          <p:nvPr/>
        </p:nvGrpSpPr>
        <p:grpSpPr>
          <a:xfrm rot="0">
            <a:off x="14752882" y="5873982"/>
            <a:ext cx="825713" cy="825713"/>
            <a:chOff x="0" y="0"/>
            <a:chExt cx="1100950" cy="1100950"/>
          </a:xfrm>
        </p:grpSpPr>
        <p:sp>
          <p:nvSpPr>
            <p:cNvPr name="Freeform 885" id="885"/>
            <p:cNvSpPr/>
            <p:nvPr/>
          </p:nvSpPr>
          <p:spPr>
            <a:xfrm flipH="false" flipV="false" rot="0">
              <a:off x="0" y="0"/>
              <a:ext cx="1100963" cy="1100963"/>
            </a:xfrm>
            <a:custGeom>
              <a:avLst/>
              <a:gdLst/>
              <a:ahLst/>
              <a:cxnLst/>
              <a:rect r="r" b="b" t="t" l="l"/>
              <a:pathLst>
                <a:path h="1100963" w="1100963">
                  <a:moveTo>
                    <a:pt x="0" y="550418"/>
                  </a:moveTo>
                  <a:cubicBezTo>
                    <a:pt x="0" y="246507"/>
                    <a:pt x="246507" y="0"/>
                    <a:pt x="550418" y="0"/>
                  </a:cubicBezTo>
                  <a:cubicBezTo>
                    <a:pt x="854329" y="0"/>
                    <a:pt x="1100963" y="246507"/>
                    <a:pt x="1100963" y="550418"/>
                  </a:cubicBezTo>
                  <a:cubicBezTo>
                    <a:pt x="1100963" y="854329"/>
                    <a:pt x="854456" y="1100963"/>
                    <a:pt x="550418" y="1100963"/>
                  </a:cubicBezTo>
                  <a:cubicBezTo>
                    <a:pt x="246380" y="1100963"/>
                    <a:pt x="0" y="854456"/>
                    <a:pt x="0" y="550418"/>
                  </a:cubicBezTo>
                  <a:close/>
                </a:path>
              </a:pathLst>
            </a:custGeom>
            <a:solidFill>
              <a:srgbClr val="F6FDF8"/>
            </a:solidFill>
          </p:spPr>
        </p:sp>
      </p:grpSp>
      <p:grpSp>
        <p:nvGrpSpPr>
          <p:cNvPr name="Group 886" id="886"/>
          <p:cNvGrpSpPr/>
          <p:nvPr/>
        </p:nvGrpSpPr>
        <p:grpSpPr>
          <a:xfrm rot="0">
            <a:off x="14685312" y="6067215"/>
            <a:ext cx="960872" cy="439255"/>
            <a:chOff x="0" y="0"/>
            <a:chExt cx="1281163" cy="585673"/>
          </a:xfrm>
        </p:grpSpPr>
        <p:sp>
          <p:nvSpPr>
            <p:cNvPr name="Freeform 887" id="887"/>
            <p:cNvSpPr/>
            <p:nvPr/>
          </p:nvSpPr>
          <p:spPr>
            <a:xfrm flipH="false" flipV="false" rot="0">
              <a:off x="0" y="0"/>
              <a:ext cx="1281161" cy="585674"/>
            </a:xfrm>
            <a:custGeom>
              <a:avLst/>
              <a:gdLst/>
              <a:ahLst/>
              <a:cxnLst/>
              <a:rect r="r" b="b" t="t" l="l"/>
              <a:pathLst>
                <a:path h="585674" w="1281161">
                  <a:moveTo>
                    <a:pt x="0" y="0"/>
                  </a:moveTo>
                  <a:lnTo>
                    <a:pt x="1281161" y="0"/>
                  </a:lnTo>
                  <a:lnTo>
                    <a:pt x="1281161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2" t="0" r="-8653" b="0"/>
              </a:stretch>
            </a:blipFill>
          </p:spPr>
        </p:sp>
        <p:sp>
          <p:nvSpPr>
            <p:cNvPr name="TextBox 888" id="888"/>
            <p:cNvSpPr txBox="true"/>
            <p:nvPr/>
          </p:nvSpPr>
          <p:spPr>
            <a:xfrm>
              <a:off x="0" y="-19050"/>
              <a:ext cx="1281163" cy="604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109M</a:t>
              </a:r>
            </a:p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meals</a:t>
              </a:r>
            </a:p>
          </p:txBody>
        </p:sp>
      </p:grpSp>
      <p:grpSp>
        <p:nvGrpSpPr>
          <p:cNvPr name="Group 889" id="889"/>
          <p:cNvGrpSpPr/>
          <p:nvPr/>
        </p:nvGrpSpPr>
        <p:grpSpPr>
          <a:xfrm rot="0">
            <a:off x="12294565" y="7169925"/>
            <a:ext cx="5742346" cy="192176"/>
            <a:chOff x="0" y="0"/>
            <a:chExt cx="7656462" cy="256235"/>
          </a:xfrm>
        </p:grpSpPr>
        <p:sp>
          <p:nvSpPr>
            <p:cNvPr name="Freeform 890" id="890"/>
            <p:cNvSpPr/>
            <p:nvPr/>
          </p:nvSpPr>
          <p:spPr>
            <a:xfrm flipH="false" flipV="false" rot="0">
              <a:off x="0" y="0"/>
              <a:ext cx="7656461" cy="256232"/>
            </a:xfrm>
            <a:custGeom>
              <a:avLst/>
              <a:gdLst/>
              <a:ahLst/>
              <a:cxnLst/>
              <a:rect r="r" b="b" t="t" l="l"/>
              <a:pathLst>
                <a:path h="256232" w="7656461">
                  <a:moveTo>
                    <a:pt x="0" y="0"/>
                  </a:moveTo>
                  <a:lnTo>
                    <a:pt x="7656461" y="0"/>
                  </a:lnTo>
                  <a:lnTo>
                    <a:pt x="765646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230" r="0" b="-532232"/>
              </a:stretch>
            </a:blipFill>
          </p:spPr>
        </p:sp>
        <p:sp>
          <p:nvSpPr>
            <p:cNvPr name="TextBox 891" id="891"/>
            <p:cNvSpPr txBox="true"/>
            <p:nvPr/>
          </p:nvSpPr>
          <p:spPr>
            <a:xfrm>
              <a:off x="0" y="-19050"/>
              <a:ext cx="7656462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i="true">
                  <a:solidFill>
                    <a:srgbClr val="7777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Total: 109M meals rescued in FY 2024</a:t>
              </a:r>
            </a:p>
          </p:txBody>
        </p:sp>
      </p:grpSp>
      <p:grpSp>
        <p:nvGrpSpPr>
          <p:cNvPr name="Group 892" id="892"/>
          <p:cNvGrpSpPr/>
          <p:nvPr/>
        </p:nvGrpSpPr>
        <p:grpSpPr>
          <a:xfrm rot="0">
            <a:off x="186166" y="7479640"/>
            <a:ext cx="5891622" cy="2574331"/>
            <a:chOff x="0" y="0"/>
            <a:chExt cx="7855496" cy="3432442"/>
          </a:xfrm>
        </p:grpSpPr>
        <p:sp>
          <p:nvSpPr>
            <p:cNvPr name="Freeform 893" id="893"/>
            <p:cNvSpPr/>
            <p:nvPr/>
          </p:nvSpPr>
          <p:spPr>
            <a:xfrm flipH="false" flipV="false" rot="0">
              <a:off x="8001" y="8001"/>
              <a:ext cx="783945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3416427"/>
                  </a:lnTo>
                  <a:lnTo>
                    <a:pt x="0" y="3416427"/>
                  </a:lnTo>
                  <a:close/>
                </a:path>
              </a:pathLst>
            </a:custGeom>
            <a:solidFill>
              <a:srgbClr val="F6FDF8"/>
            </a:solidFill>
          </p:spPr>
        </p:sp>
        <p:sp>
          <p:nvSpPr>
            <p:cNvPr name="Freeform 894" id="894"/>
            <p:cNvSpPr/>
            <p:nvPr/>
          </p:nvSpPr>
          <p:spPr>
            <a:xfrm flipH="false" flipV="false" rot="0">
              <a:off x="0" y="0"/>
              <a:ext cx="7855458" cy="3432429"/>
            </a:xfrm>
            <a:custGeom>
              <a:avLst/>
              <a:gdLst/>
              <a:ahLst/>
              <a:cxnLst/>
              <a:rect r="r" b="b" t="t" l="l"/>
              <a:pathLst>
                <a:path h="3432429" w="7855458">
                  <a:moveTo>
                    <a:pt x="8001" y="0"/>
                  </a:moveTo>
                  <a:lnTo>
                    <a:pt x="7847457" y="0"/>
                  </a:lnTo>
                  <a:cubicBezTo>
                    <a:pt x="7851901" y="0"/>
                    <a:pt x="7855458" y="3556"/>
                    <a:pt x="7855458" y="8001"/>
                  </a:cubicBezTo>
                  <a:lnTo>
                    <a:pt x="7855458" y="3424428"/>
                  </a:lnTo>
                  <a:cubicBezTo>
                    <a:pt x="7855458" y="3428873"/>
                    <a:pt x="7851901" y="3432429"/>
                    <a:pt x="7847457" y="3432429"/>
                  </a:cubicBezTo>
                  <a:lnTo>
                    <a:pt x="8001" y="3432429"/>
                  </a:lnTo>
                  <a:cubicBezTo>
                    <a:pt x="3556" y="3432429"/>
                    <a:pt x="0" y="3428873"/>
                    <a:pt x="0" y="3424428"/>
                  </a:cubicBezTo>
                  <a:lnTo>
                    <a:pt x="0" y="8001"/>
                  </a:lnTo>
                  <a:cubicBezTo>
                    <a:pt x="0" y="3556"/>
                    <a:pt x="3556" y="0"/>
                    <a:pt x="8001" y="0"/>
                  </a:cubicBezTo>
                  <a:moveTo>
                    <a:pt x="8001" y="16002"/>
                  </a:moveTo>
                  <a:lnTo>
                    <a:pt x="8001" y="8001"/>
                  </a:lnTo>
                  <a:lnTo>
                    <a:pt x="16002" y="8001"/>
                  </a:lnTo>
                  <a:lnTo>
                    <a:pt x="16002" y="3424428"/>
                  </a:lnTo>
                  <a:lnTo>
                    <a:pt x="8001" y="3424428"/>
                  </a:lnTo>
                  <a:lnTo>
                    <a:pt x="8001" y="3416427"/>
                  </a:lnTo>
                  <a:lnTo>
                    <a:pt x="7847457" y="3416427"/>
                  </a:lnTo>
                  <a:lnTo>
                    <a:pt x="7847457" y="3424428"/>
                  </a:lnTo>
                  <a:lnTo>
                    <a:pt x="7839456" y="3424428"/>
                  </a:lnTo>
                  <a:lnTo>
                    <a:pt x="7839456" y="8001"/>
                  </a:lnTo>
                  <a:lnTo>
                    <a:pt x="7847457" y="8001"/>
                  </a:lnTo>
                  <a:lnTo>
                    <a:pt x="7847457" y="16002"/>
                  </a:lnTo>
                  <a:lnTo>
                    <a:pt x="8001" y="1600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895" id="895"/>
          <p:cNvGrpSpPr/>
          <p:nvPr/>
        </p:nvGrpSpPr>
        <p:grpSpPr>
          <a:xfrm rot="0">
            <a:off x="192176" y="7485640"/>
            <a:ext cx="5879611" cy="356892"/>
            <a:chOff x="0" y="0"/>
            <a:chExt cx="7839481" cy="475856"/>
          </a:xfrm>
        </p:grpSpPr>
        <p:sp>
          <p:nvSpPr>
            <p:cNvPr name="Freeform 896" id="896"/>
            <p:cNvSpPr/>
            <p:nvPr/>
          </p:nvSpPr>
          <p:spPr>
            <a:xfrm flipH="false" flipV="false" rot="0">
              <a:off x="0" y="0"/>
              <a:ext cx="7839456" cy="475869"/>
            </a:xfrm>
            <a:custGeom>
              <a:avLst/>
              <a:gdLst/>
              <a:ahLst/>
              <a:cxnLst/>
              <a:rect r="r" b="b" t="t" l="l"/>
              <a:pathLst>
                <a:path h="475869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D4733A"/>
            </a:solidFill>
          </p:spPr>
        </p:sp>
      </p:grpSp>
      <p:grpSp>
        <p:nvGrpSpPr>
          <p:cNvPr name="Group 897" id="897"/>
          <p:cNvGrpSpPr/>
          <p:nvPr/>
        </p:nvGrpSpPr>
        <p:grpSpPr>
          <a:xfrm rot="0">
            <a:off x="301990" y="7540542"/>
            <a:ext cx="5714895" cy="274539"/>
            <a:chOff x="0" y="0"/>
            <a:chExt cx="7619860" cy="366052"/>
          </a:xfrm>
        </p:grpSpPr>
        <p:sp>
          <p:nvSpPr>
            <p:cNvPr name="Freeform 898" id="898"/>
            <p:cNvSpPr/>
            <p:nvPr/>
          </p:nvSpPr>
          <p:spPr>
            <a:xfrm flipH="false" flipV="false" rot="0">
              <a:off x="0" y="0"/>
              <a:ext cx="7619857" cy="366046"/>
            </a:xfrm>
            <a:custGeom>
              <a:avLst/>
              <a:gdLst/>
              <a:ahLst/>
              <a:cxnLst/>
              <a:rect r="r" b="b" t="t" l="l"/>
              <a:pathLst>
                <a:path h="366046" w="7619857">
                  <a:moveTo>
                    <a:pt x="0" y="0"/>
                  </a:moveTo>
                  <a:lnTo>
                    <a:pt x="7619857" y="0"/>
                  </a:lnTo>
                  <a:lnTo>
                    <a:pt x="76198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12" r="0" b="-355614"/>
              </a:stretch>
            </a:blipFill>
          </p:spPr>
        </p:sp>
        <p:sp>
          <p:nvSpPr>
            <p:cNvPr name="TextBox 899" id="899"/>
            <p:cNvSpPr txBox="true"/>
            <p:nvPr/>
          </p:nvSpPr>
          <p:spPr>
            <a:xfrm>
              <a:off x="0" y="-19050"/>
              <a:ext cx="7619860" cy="38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 Net Partner Revenue (k€)  —  Jan–Dec 2024</a:t>
              </a:r>
            </a:p>
          </p:txBody>
        </p:sp>
      </p:grpSp>
      <p:grpSp>
        <p:nvGrpSpPr>
          <p:cNvPr name="Group 900" id="900"/>
          <p:cNvGrpSpPr/>
          <p:nvPr/>
        </p:nvGrpSpPr>
        <p:grpSpPr>
          <a:xfrm rot="0">
            <a:off x="494167" y="9304430"/>
            <a:ext cx="5467807" cy="5486"/>
            <a:chOff x="0" y="0"/>
            <a:chExt cx="7290410" cy="7315"/>
          </a:xfrm>
        </p:grpSpPr>
        <p:sp>
          <p:nvSpPr>
            <p:cNvPr name="Freeform 901" id="901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902" id="902"/>
          <p:cNvGrpSpPr/>
          <p:nvPr/>
        </p:nvGrpSpPr>
        <p:grpSpPr>
          <a:xfrm rot="0">
            <a:off x="205902" y="9180890"/>
            <a:ext cx="247079" cy="178451"/>
            <a:chOff x="0" y="0"/>
            <a:chExt cx="329438" cy="237934"/>
          </a:xfrm>
        </p:grpSpPr>
        <p:sp>
          <p:nvSpPr>
            <p:cNvPr name="Freeform 903" id="903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904" id="904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0k</a:t>
              </a:r>
            </a:p>
          </p:txBody>
        </p:sp>
      </p:grpSp>
      <p:grpSp>
        <p:nvGrpSpPr>
          <p:cNvPr name="Group 905" id="905"/>
          <p:cNvGrpSpPr/>
          <p:nvPr/>
        </p:nvGrpSpPr>
        <p:grpSpPr>
          <a:xfrm rot="0">
            <a:off x="494167" y="8862889"/>
            <a:ext cx="5467807" cy="5486"/>
            <a:chOff x="0" y="0"/>
            <a:chExt cx="7290410" cy="7315"/>
          </a:xfrm>
        </p:grpSpPr>
        <p:sp>
          <p:nvSpPr>
            <p:cNvPr name="Freeform 906" id="906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907" id="907"/>
          <p:cNvGrpSpPr/>
          <p:nvPr/>
        </p:nvGrpSpPr>
        <p:grpSpPr>
          <a:xfrm rot="0">
            <a:off x="205902" y="8739349"/>
            <a:ext cx="247079" cy="178451"/>
            <a:chOff x="0" y="0"/>
            <a:chExt cx="329438" cy="237934"/>
          </a:xfrm>
        </p:grpSpPr>
        <p:sp>
          <p:nvSpPr>
            <p:cNvPr name="Freeform 908" id="908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909" id="909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1k</a:t>
              </a:r>
            </a:p>
          </p:txBody>
        </p:sp>
      </p:grpSp>
      <p:grpSp>
        <p:nvGrpSpPr>
          <p:cNvPr name="Group 910" id="910"/>
          <p:cNvGrpSpPr/>
          <p:nvPr/>
        </p:nvGrpSpPr>
        <p:grpSpPr>
          <a:xfrm rot="0">
            <a:off x="494167" y="8421348"/>
            <a:ext cx="5467807" cy="5486"/>
            <a:chOff x="0" y="0"/>
            <a:chExt cx="7290410" cy="7315"/>
          </a:xfrm>
        </p:grpSpPr>
        <p:sp>
          <p:nvSpPr>
            <p:cNvPr name="Freeform 911" id="911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912" id="912"/>
          <p:cNvGrpSpPr/>
          <p:nvPr/>
        </p:nvGrpSpPr>
        <p:grpSpPr>
          <a:xfrm rot="0">
            <a:off x="205902" y="8297809"/>
            <a:ext cx="247079" cy="178451"/>
            <a:chOff x="0" y="0"/>
            <a:chExt cx="329438" cy="237934"/>
          </a:xfrm>
        </p:grpSpPr>
        <p:sp>
          <p:nvSpPr>
            <p:cNvPr name="Freeform 913" id="913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914" id="914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1k</a:t>
              </a:r>
            </a:p>
          </p:txBody>
        </p:sp>
      </p:grpSp>
      <p:grpSp>
        <p:nvGrpSpPr>
          <p:cNvPr name="Group 915" id="915"/>
          <p:cNvGrpSpPr/>
          <p:nvPr/>
        </p:nvGrpSpPr>
        <p:grpSpPr>
          <a:xfrm rot="0">
            <a:off x="494167" y="7979807"/>
            <a:ext cx="5467807" cy="5486"/>
            <a:chOff x="0" y="0"/>
            <a:chExt cx="7290410" cy="7315"/>
          </a:xfrm>
        </p:grpSpPr>
        <p:sp>
          <p:nvSpPr>
            <p:cNvPr name="Freeform 916" id="916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917" id="917"/>
          <p:cNvGrpSpPr/>
          <p:nvPr/>
        </p:nvGrpSpPr>
        <p:grpSpPr>
          <a:xfrm rot="0">
            <a:off x="205902" y="7856258"/>
            <a:ext cx="247079" cy="178451"/>
            <a:chOff x="0" y="0"/>
            <a:chExt cx="329438" cy="237934"/>
          </a:xfrm>
        </p:grpSpPr>
        <p:sp>
          <p:nvSpPr>
            <p:cNvPr name="Freeform 918" id="918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919" id="919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2k</a:t>
              </a:r>
            </a:p>
          </p:txBody>
        </p:sp>
      </p:grpSp>
      <p:grpSp>
        <p:nvGrpSpPr>
          <p:cNvPr name="Group 920" id="920"/>
          <p:cNvGrpSpPr/>
          <p:nvPr/>
        </p:nvGrpSpPr>
        <p:grpSpPr>
          <a:xfrm rot="0">
            <a:off x="643404" y="8967340"/>
            <a:ext cx="293970" cy="778631"/>
            <a:chOff x="0" y="0"/>
            <a:chExt cx="391960" cy="1038174"/>
          </a:xfrm>
        </p:grpSpPr>
        <p:sp>
          <p:nvSpPr>
            <p:cNvPr name="Freeform 921" id="921"/>
            <p:cNvSpPr/>
            <p:nvPr/>
          </p:nvSpPr>
          <p:spPr>
            <a:xfrm flipH="false" flipV="false" rot="0">
              <a:off x="0" y="0"/>
              <a:ext cx="391922" cy="1038225"/>
            </a:xfrm>
            <a:custGeom>
              <a:avLst/>
              <a:gdLst/>
              <a:ahLst/>
              <a:cxnLst/>
              <a:rect r="r" b="b" t="t" l="l"/>
              <a:pathLst>
                <a:path h="1038225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038225"/>
                  </a:lnTo>
                  <a:lnTo>
                    <a:pt x="0" y="1038225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22" id="922"/>
          <p:cNvGrpSpPr/>
          <p:nvPr/>
        </p:nvGrpSpPr>
        <p:grpSpPr>
          <a:xfrm rot="0">
            <a:off x="1086622" y="8924611"/>
            <a:ext cx="293970" cy="821360"/>
            <a:chOff x="0" y="0"/>
            <a:chExt cx="391960" cy="1095146"/>
          </a:xfrm>
        </p:grpSpPr>
        <p:sp>
          <p:nvSpPr>
            <p:cNvPr name="Freeform 923" id="923"/>
            <p:cNvSpPr/>
            <p:nvPr/>
          </p:nvSpPr>
          <p:spPr>
            <a:xfrm flipH="false" flipV="false" rot="0">
              <a:off x="0" y="0"/>
              <a:ext cx="391922" cy="1095121"/>
            </a:xfrm>
            <a:custGeom>
              <a:avLst/>
              <a:gdLst/>
              <a:ahLst/>
              <a:cxnLst/>
              <a:rect r="r" b="b" t="t" l="l"/>
              <a:pathLst>
                <a:path h="1095121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095121"/>
                  </a:lnTo>
                  <a:lnTo>
                    <a:pt x="0" y="1095121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24" id="924"/>
          <p:cNvGrpSpPr/>
          <p:nvPr/>
        </p:nvGrpSpPr>
        <p:grpSpPr>
          <a:xfrm rot="0">
            <a:off x="1529839" y="8823007"/>
            <a:ext cx="293970" cy="922963"/>
            <a:chOff x="0" y="0"/>
            <a:chExt cx="391960" cy="1230617"/>
          </a:xfrm>
        </p:grpSpPr>
        <p:sp>
          <p:nvSpPr>
            <p:cNvPr name="Freeform 925" id="925"/>
            <p:cNvSpPr/>
            <p:nvPr/>
          </p:nvSpPr>
          <p:spPr>
            <a:xfrm flipH="false" flipV="false" rot="0">
              <a:off x="0" y="0"/>
              <a:ext cx="391922" cy="1230630"/>
            </a:xfrm>
            <a:custGeom>
              <a:avLst/>
              <a:gdLst/>
              <a:ahLst/>
              <a:cxnLst/>
              <a:rect r="r" b="b" t="t" l="l"/>
              <a:pathLst>
                <a:path h="1230630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230630"/>
                  </a:lnTo>
                  <a:lnTo>
                    <a:pt x="0" y="123063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26" id="926"/>
          <p:cNvGrpSpPr/>
          <p:nvPr/>
        </p:nvGrpSpPr>
        <p:grpSpPr>
          <a:xfrm rot="0">
            <a:off x="1516104" y="8644557"/>
            <a:ext cx="321421" cy="164725"/>
            <a:chOff x="0" y="0"/>
            <a:chExt cx="428561" cy="219634"/>
          </a:xfrm>
        </p:grpSpPr>
        <p:sp>
          <p:nvSpPr>
            <p:cNvPr name="Freeform 927" id="927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928" id="928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D473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972</a:t>
              </a:r>
            </a:p>
          </p:txBody>
        </p:sp>
      </p:grpSp>
      <p:grpSp>
        <p:nvGrpSpPr>
          <p:cNvPr name="Group 929" id="929"/>
          <p:cNvGrpSpPr/>
          <p:nvPr/>
        </p:nvGrpSpPr>
        <p:grpSpPr>
          <a:xfrm rot="0">
            <a:off x="1973047" y="8754637"/>
            <a:ext cx="293970" cy="991333"/>
            <a:chOff x="0" y="0"/>
            <a:chExt cx="391960" cy="1321778"/>
          </a:xfrm>
        </p:grpSpPr>
        <p:sp>
          <p:nvSpPr>
            <p:cNvPr name="Freeform 930" id="930"/>
            <p:cNvSpPr/>
            <p:nvPr/>
          </p:nvSpPr>
          <p:spPr>
            <a:xfrm flipH="false" flipV="false" rot="0">
              <a:off x="0" y="0"/>
              <a:ext cx="391922" cy="1321816"/>
            </a:xfrm>
            <a:custGeom>
              <a:avLst/>
              <a:gdLst/>
              <a:ahLst/>
              <a:cxnLst/>
              <a:rect r="r" b="b" t="t" l="l"/>
              <a:pathLst>
                <a:path h="1321816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321816"/>
                  </a:lnTo>
                  <a:lnTo>
                    <a:pt x="0" y="1321816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31" id="931"/>
          <p:cNvGrpSpPr/>
          <p:nvPr/>
        </p:nvGrpSpPr>
        <p:grpSpPr>
          <a:xfrm rot="0">
            <a:off x="2416264" y="8663483"/>
            <a:ext cx="293970" cy="1082488"/>
            <a:chOff x="0" y="0"/>
            <a:chExt cx="391960" cy="1443317"/>
          </a:xfrm>
        </p:grpSpPr>
        <p:sp>
          <p:nvSpPr>
            <p:cNvPr name="Freeform 932" id="932"/>
            <p:cNvSpPr/>
            <p:nvPr/>
          </p:nvSpPr>
          <p:spPr>
            <a:xfrm flipH="false" flipV="false" rot="0">
              <a:off x="0" y="0"/>
              <a:ext cx="391922" cy="1443355"/>
            </a:xfrm>
            <a:custGeom>
              <a:avLst/>
              <a:gdLst/>
              <a:ahLst/>
              <a:cxnLst/>
              <a:rect r="r" b="b" t="t" l="l"/>
              <a:pathLst>
                <a:path h="1443355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443355"/>
                  </a:lnTo>
                  <a:lnTo>
                    <a:pt x="0" y="1443355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33" id="933"/>
          <p:cNvGrpSpPr/>
          <p:nvPr/>
        </p:nvGrpSpPr>
        <p:grpSpPr>
          <a:xfrm rot="0">
            <a:off x="2859472" y="8549535"/>
            <a:ext cx="293970" cy="1196435"/>
            <a:chOff x="0" y="0"/>
            <a:chExt cx="391960" cy="1595247"/>
          </a:xfrm>
        </p:grpSpPr>
        <p:sp>
          <p:nvSpPr>
            <p:cNvPr name="Freeform 934" id="934"/>
            <p:cNvSpPr/>
            <p:nvPr/>
          </p:nvSpPr>
          <p:spPr>
            <a:xfrm flipH="false" flipV="false" rot="0">
              <a:off x="0" y="0"/>
              <a:ext cx="391922" cy="1595247"/>
            </a:xfrm>
            <a:custGeom>
              <a:avLst/>
              <a:gdLst/>
              <a:ahLst/>
              <a:cxnLst/>
              <a:rect r="r" b="b" t="t" l="l"/>
              <a:pathLst>
                <a:path h="1595247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595247"/>
                  </a:lnTo>
                  <a:lnTo>
                    <a:pt x="0" y="1595247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35" id="935"/>
          <p:cNvGrpSpPr/>
          <p:nvPr/>
        </p:nvGrpSpPr>
        <p:grpSpPr>
          <a:xfrm rot="0">
            <a:off x="2845746" y="8371084"/>
            <a:ext cx="321421" cy="164725"/>
            <a:chOff x="0" y="0"/>
            <a:chExt cx="428561" cy="219634"/>
          </a:xfrm>
        </p:grpSpPr>
        <p:sp>
          <p:nvSpPr>
            <p:cNvPr name="Freeform 936" id="936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937" id="937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D473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1.3k</a:t>
              </a:r>
            </a:p>
          </p:txBody>
        </p:sp>
      </p:grpSp>
      <p:grpSp>
        <p:nvGrpSpPr>
          <p:cNvPr name="Group 938" id="938"/>
          <p:cNvGrpSpPr/>
          <p:nvPr/>
        </p:nvGrpSpPr>
        <p:grpSpPr>
          <a:xfrm rot="0">
            <a:off x="3302689" y="8469773"/>
            <a:ext cx="293970" cy="1276198"/>
            <a:chOff x="0" y="0"/>
            <a:chExt cx="391960" cy="1701597"/>
          </a:xfrm>
        </p:grpSpPr>
        <p:sp>
          <p:nvSpPr>
            <p:cNvPr name="Freeform 939" id="939"/>
            <p:cNvSpPr/>
            <p:nvPr/>
          </p:nvSpPr>
          <p:spPr>
            <a:xfrm flipH="false" flipV="false" rot="0">
              <a:off x="0" y="0"/>
              <a:ext cx="391922" cy="1701546"/>
            </a:xfrm>
            <a:custGeom>
              <a:avLst/>
              <a:gdLst/>
              <a:ahLst/>
              <a:cxnLst/>
              <a:rect r="r" b="b" t="t" l="l"/>
              <a:pathLst>
                <a:path h="1701546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701546"/>
                  </a:lnTo>
                  <a:lnTo>
                    <a:pt x="0" y="1701546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40" id="940"/>
          <p:cNvGrpSpPr/>
          <p:nvPr/>
        </p:nvGrpSpPr>
        <p:grpSpPr>
          <a:xfrm rot="0">
            <a:off x="3745906" y="8378619"/>
            <a:ext cx="293970" cy="1367361"/>
            <a:chOff x="0" y="0"/>
            <a:chExt cx="391960" cy="1823148"/>
          </a:xfrm>
        </p:grpSpPr>
        <p:sp>
          <p:nvSpPr>
            <p:cNvPr name="Freeform 941" id="941"/>
            <p:cNvSpPr/>
            <p:nvPr/>
          </p:nvSpPr>
          <p:spPr>
            <a:xfrm flipH="false" flipV="false" rot="0">
              <a:off x="0" y="0"/>
              <a:ext cx="391922" cy="1823085"/>
            </a:xfrm>
            <a:custGeom>
              <a:avLst/>
              <a:gdLst/>
              <a:ahLst/>
              <a:cxnLst/>
              <a:rect r="r" b="b" t="t" l="l"/>
              <a:pathLst>
                <a:path h="1823085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823085"/>
                  </a:lnTo>
                  <a:lnTo>
                    <a:pt x="0" y="1823085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42" id="942"/>
          <p:cNvGrpSpPr/>
          <p:nvPr/>
        </p:nvGrpSpPr>
        <p:grpSpPr>
          <a:xfrm rot="0">
            <a:off x="4189114" y="8287455"/>
            <a:ext cx="293970" cy="1458516"/>
            <a:chOff x="0" y="0"/>
            <a:chExt cx="391960" cy="1944688"/>
          </a:xfrm>
        </p:grpSpPr>
        <p:sp>
          <p:nvSpPr>
            <p:cNvPr name="Freeform 943" id="943"/>
            <p:cNvSpPr/>
            <p:nvPr/>
          </p:nvSpPr>
          <p:spPr>
            <a:xfrm flipH="false" flipV="false" rot="0">
              <a:off x="0" y="0"/>
              <a:ext cx="391922" cy="1944624"/>
            </a:xfrm>
            <a:custGeom>
              <a:avLst/>
              <a:gdLst/>
              <a:ahLst/>
              <a:cxnLst/>
              <a:rect r="r" b="b" t="t" l="l"/>
              <a:pathLst>
                <a:path h="1944624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944624"/>
                  </a:lnTo>
                  <a:lnTo>
                    <a:pt x="0" y="1944624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44" id="944"/>
          <p:cNvGrpSpPr/>
          <p:nvPr/>
        </p:nvGrpSpPr>
        <p:grpSpPr>
          <a:xfrm rot="0">
            <a:off x="4175389" y="8109014"/>
            <a:ext cx="321421" cy="164725"/>
            <a:chOff x="0" y="0"/>
            <a:chExt cx="428561" cy="219634"/>
          </a:xfrm>
        </p:grpSpPr>
        <p:sp>
          <p:nvSpPr>
            <p:cNvPr name="Freeform 945" id="945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946" id="946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D473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1.5k</a:t>
              </a:r>
            </a:p>
          </p:txBody>
        </p:sp>
      </p:grpSp>
      <p:grpSp>
        <p:nvGrpSpPr>
          <p:cNvPr name="Group 947" id="947"/>
          <p:cNvGrpSpPr/>
          <p:nvPr/>
        </p:nvGrpSpPr>
        <p:grpSpPr>
          <a:xfrm rot="0">
            <a:off x="4632331" y="8207693"/>
            <a:ext cx="293970" cy="1538278"/>
            <a:chOff x="0" y="0"/>
            <a:chExt cx="391960" cy="2051037"/>
          </a:xfrm>
        </p:grpSpPr>
        <p:sp>
          <p:nvSpPr>
            <p:cNvPr name="Freeform 948" id="948"/>
            <p:cNvSpPr/>
            <p:nvPr/>
          </p:nvSpPr>
          <p:spPr>
            <a:xfrm flipH="false" flipV="false" rot="0">
              <a:off x="0" y="0"/>
              <a:ext cx="391922" cy="2051050"/>
            </a:xfrm>
            <a:custGeom>
              <a:avLst/>
              <a:gdLst/>
              <a:ahLst/>
              <a:cxnLst/>
              <a:rect r="r" b="b" t="t" l="l"/>
              <a:pathLst>
                <a:path h="2051050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2051050"/>
                  </a:lnTo>
                  <a:lnTo>
                    <a:pt x="0" y="205105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49" id="949"/>
          <p:cNvGrpSpPr/>
          <p:nvPr/>
        </p:nvGrpSpPr>
        <p:grpSpPr>
          <a:xfrm rot="0">
            <a:off x="5075549" y="8127930"/>
            <a:ext cx="293970" cy="1618040"/>
            <a:chOff x="0" y="0"/>
            <a:chExt cx="391960" cy="2157387"/>
          </a:xfrm>
        </p:grpSpPr>
        <p:sp>
          <p:nvSpPr>
            <p:cNvPr name="Freeform 950" id="950"/>
            <p:cNvSpPr/>
            <p:nvPr/>
          </p:nvSpPr>
          <p:spPr>
            <a:xfrm flipH="false" flipV="false" rot="0">
              <a:off x="0" y="0"/>
              <a:ext cx="391922" cy="2157349"/>
            </a:xfrm>
            <a:custGeom>
              <a:avLst/>
              <a:gdLst/>
              <a:ahLst/>
              <a:cxnLst/>
              <a:rect r="r" b="b" t="t" l="l"/>
              <a:pathLst>
                <a:path h="2157349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2157349"/>
                  </a:lnTo>
                  <a:lnTo>
                    <a:pt x="0" y="215734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51" id="951"/>
          <p:cNvGrpSpPr/>
          <p:nvPr/>
        </p:nvGrpSpPr>
        <p:grpSpPr>
          <a:xfrm rot="0">
            <a:off x="5518756" y="7979807"/>
            <a:ext cx="293970" cy="1766173"/>
            <a:chOff x="0" y="0"/>
            <a:chExt cx="391960" cy="2354898"/>
          </a:xfrm>
        </p:grpSpPr>
        <p:sp>
          <p:nvSpPr>
            <p:cNvPr name="Freeform 952" id="952"/>
            <p:cNvSpPr/>
            <p:nvPr/>
          </p:nvSpPr>
          <p:spPr>
            <a:xfrm flipH="false" flipV="false" rot="0">
              <a:off x="0" y="0"/>
              <a:ext cx="391922" cy="2354834"/>
            </a:xfrm>
            <a:custGeom>
              <a:avLst/>
              <a:gdLst/>
              <a:ahLst/>
              <a:cxnLst/>
              <a:rect r="r" b="b" t="t" l="l"/>
              <a:pathLst>
                <a:path h="2354834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2354834"/>
                  </a:lnTo>
                  <a:lnTo>
                    <a:pt x="0" y="2354834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953" id="953"/>
          <p:cNvGrpSpPr/>
          <p:nvPr/>
        </p:nvGrpSpPr>
        <p:grpSpPr>
          <a:xfrm rot="0">
            <a:off x="5505031" y="7801356"/>
            <a:ext cx="321421" cy="164725"/>
            <a:chOff x="0" y="0"/>
            <a:chExt cx="428561" cy="219634"/>
          </a:xfrm>
        </p:grpSpPr>
        <p:sp>
          <p:nvSpPr>
            <p:cNvPr name="Freeform 954" id="954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955" id="955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D473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1.9k</a:t>
              </a:r>
            </a:p>
          </p:txBody>
        </p:sp>
      </p:grpSp>
      <p:grpSp>
        <p:nvGrpSpPr>
          <p:cNvPr name="Group 956" id="956"/>
          <p:cNvGrpSpPr/>
          <p:nvPr/>
        </p:nvGrpSpPr>
        <p:grpSpPr>
          <a:xfrm rot="0">
            <a:off x="694306" y="9773431"/>
            <a:ext cx="192176" cy="192176"/>
            <a:chOff x="0" y="0"/>
            <a:chExt cx="256235" cy="256235"/>
          </a:xfrm>
        </p:grpSpPr>
        <p:sp>
          <p:nvSpPr>
            <p:cNvPr name="Freeform 957" id="957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58" id="958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959" id="959"/>
          <p:cNvGrpSpPr/>
          <p:nvPr/>
        </p:nvGrpSpPr>
        <p:grpSpPr>
          <a:xfrm rot="0">
            <a:off x="1137514" y="9773431"/>
            <a:ext cx="192176" cy="192176"/>
            <a:chOff x="0" y="0"/>
            <a:chExt cx="256235" cy="256235"/>
          </a:xfrm>
        </p:grpSpPr>
        <p:sp>
          <p:nvSpPr>
            <p:cNvPr name="Freeform 960" id="960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61" id="961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</a:p>
          </p:txBody>
        </p:sp>
      </p:grpSp>
      <p:grpSp>
        <p:nvGrpSpPr>
          <p:cNvPr name="Group 962" id="962"/>
          <p:cNvGrpSpPr/>
          <p:nvPr/>
        </p:nvGrpSpPr>
        <p:grpSpPr>
          <a:xfrm rot="0">
            <a:off x="1580731" y="9773431"/>
            <a:ext cx="192176" cy="192176"/>
            <a:chOff x="0" y="0"/>
            <a:chExt cx="256235" cy="256235"/>
          </a:xfrm>
        </p:grpSpPr>
        <p:sp>
          <p:nvSpPr>
            <p:cNvPr name="Freeform 963" id="963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64" id="964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965" id="965"/>
          <p:cNvGrpSpPr/>
          <p:nvPr/>
        </p:nvGrpSpPr>
        <p:grpSpPr>
          <a:xfrm rot="0">
            <a:off x="2023948" y="9773431"/>
            <a:ext cx="192176" cy="192176"/>
            <a:chOff x="0" y="0"/>
            <a:chExt cx="256235" cy="256235"/>
          </a:xfrm>
        </p:grpSpPr>
        <p:sp>
          <p:nvSpPr>
            <p:cNvPr name="Freeform 966" id="966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67" id="967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968" id="968"/>
          <p:cNvGrpSpPr/>
          <p:nvPr/>
        </p:nvGrpSpPr>
        <p:grpSpPr>
          <a:xfrm rot="0">
            <a:off x="2467156" y="9773431"/>
            <a:ext cx="192176" cy="192176"/>
            <a:chOff x="0" y="0"/>
            <a:chExt cx="256235" cy="256235"/>
          </a:xfrm>
        </p:grpSpPr>
        <p:sp>
          <p:nvSpPr>
            <p:cNvPr name="Freeform 969" id="969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70" id="970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971" id="971"/>
          <p:cNvGrpSpPr/>
          <p:nvPr/>
        </p:nvGrpSpPr>
        <p:grpSpPr>
          <a:xfrm rot="0">
            <a:off x="2910373" y="9773431"/>
            <a:ext cx="192176" cy="192176"/>
            <a:chOff x="0" y="0"/>
            <a:chExt cx="256235" cy="256235"/>
          </a:xfrm>
        </p:grpSpPr>
        <p:sp>
          <p:nvSpPr>
            <p:cNvPr name="Freeform 972" id="972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73" id="973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974" id="974"/>
          <p:cNvGrpSpPr/>
          <p:nvPr/>
        </p:nvGrpSpPr>
        <p:grpSpPr>
          <a:xfrm rot="0">
            <a:off x="3353591" y="9773431"/>
            <a:ext cx="192176" cy="192176"/>
            <a:chOff x="0" y="0"/>
            <a:chExt cx="256235" cy="256235"/>
          </a:xfrm>
        </p:grpSpPr>
        <p:sp>
          <p:nvSpPr>
            <p:cNvPr name="Freeform 975" id="975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76" id="976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977" id="977"/>
          <p:cNvGrpSpPr/>
          <p:nvPr/>
        </p:nvGrpSpPr>
        <p:grpSpPr>
          <a:xfrm rot="0">
            <a:off x="3796798" y="9773431"/>
            <a:ext cx="192176" cy="192176"/>
            <a:chOff x="0" y="0"/>
            <a:chExt cx="256235" cy="256235"/>
          </a:xfrm>
        </p:grpSpPr>
        <p:sp>
          <p:nvSpPr>
            <p:cNvPr name="Freeform 978" id="978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79" id="979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980" id="980"/>
          <p:cNvGrpSpPr/>
          <p:nvPr/>
        </p:nvGrpSpPr>
        <p:grpSpPr>
          <a:xfrm rot="0">
            <a:off x="4240016" y="9773431"/>
            <a:ext cx="192176" cy="192176"/>
            <a:chOff x="0" y="0"/>
            <a:chExt cx="256235" cy="256235"/>
          </a:xfrm>
        </p:grpSpPr>
        <p:sp>
          <p:nvSpPr>
            <p:cNvPr name="Freeform 981" id="981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82" id="982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</a:p>
          </p:txBody>
        </p:sp>
      </p:grpSp>
      <p:grpSp>
        <p:nvGrpSpPr>
          <p:cNvPr name="Group 983" id="983"/>
          <p:cNvGrpSpPr/>
          <p:nvPr/>
        </p:nvGrpSpPr>
        <p:grpSpPr>
          <a:xfrm rot="0">
            <a:off x="4683233" y="9773431"/>
            <a:ext cx="192176" cy="192176"/>
            <a:chOff x="0" y="0"/>
            <a:chExt cx="256235" cy="256235"/>
          </a:xfrm>
        </p:grpSpPr>
        <p:sp>
          <p:nvSpPr>
            <p:cNvPr name="Freeform 984" id="984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85" id="985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</a:p>
          </p:txBody>
        </p:sp>
      </p:grpSp>
      <p:grpSp>
        <p:nvGrpSpPr>
          <p:cNvPr name="Group 986" id="986"/>
          <p:cNvGrpSpPr/>
          <p:nvPr/>
        </p:nvGrpSpPr>
        <p:grpSpPr>
          <a:xfrm rot="0">
            <a:off x="5126441" y="9773431"/>
            <a:ext cx="192176" cy="192176"/>
            <a:chOff x="0" y="0"/>
            <a:chExt cx="256235" cy="256235"/>
          </a:xfrm>
        </p:grpSpPr>
        <p:sp>
          <p:nvSpPr>
            <p:cNvPr name="Freeform 987" id="987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88" id="988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</a:t>
              </a:r>
            </a:p>
          </p:txBody>
        </p:sp>
      </p:grpSp>
      <p:grpSp>
        <p:nvGrpSpPr>
          <p:cNvPr name="Group 989" id="989"/>
          <p:cNvGrpSpPr/>
          <p:nvPr/>
        </p:nvGrpSpPr>
        <p:grpSpPr>
          <a:xfrm rot="0">
            <a:off x="5569658" y="9773431"/>
            <a:ext cx="192176" cy="192176"/>
            <a:chOff x="0" y="0"/>
            <a:chExt cx="256235" cy="256235"/>
          </a:xfrm>
        </p:grpSpPr>
        <p:sp>
          <p:nvSpPr>
            <p:cNvPr name="Freeform 990" id="990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991" id="991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</p:txBody>
        </p:sp>
      </p:grpSp>
      <p:grpSp>
        <p:nvGrpSpPr>
          <p:cNvPr name="Group 992" id="992"/>
          <p:cNvGrpSpPr/>
          <p:nvPr/>
        </p:nvGrpSpPr>
        <p:grpSpPr>
          <a:xfrm rot="0">
            <a:off x="494167" y="9745970"/>
            <a:ext cx="5467807" cy="8239"/>
            <a:chOff x="0" y="0"/>
            <a:chExt cx="7290410" cy="10986"/>
          </a:xfrm>
        </p:grpSpPr>
        <p:sp>
          <p:nvSpPr>
            <p:cNvPr name="Freeform 993" id="993"/>
            <p:cNvSpPr/>
            <p:nvPr/>
          </p:nvSpPr>
          <p:spPr>
            <a:xfrm flipH="false" flipV="false" rot="0">
              <a:off x="0" y="0"/>
              <a:ext cx="7290435" cy="10922"/>
            </a:xfrm>
            <a:custGeom>
              <a:avLst/>
              <a:gdLst/>
              <a:ahLst/>
              <a:cxnLst/>
              <a:rect r="r" b="b" t="t" l="l"/>
              <a:pathLst>
                <a:path h="10922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10922"/>
                  </a:lnTo>
                  <a:lnTo>
                    <a:pt x="0" y="10922"/>
                  </a:lnTo>
                  <a:close/>
                </a:path>
              </a:pathLst>
            </a:custGeom>
            <a:solidFill>
              <a:srgbClr val="AACCBB"/>
            </a:solidFill>
          </p:spPr>
        </p:sp>
      </p:grpSp>
      <p:grpSp>
        <p:nvGrpSpPr>
          <p:cNvPr name="Group 994" id="994"/>
          <p:cNvGrpSpPr/>
          <p:nvPr/>
        </p:nvGrpSpPr>
        <p:grpSpPr>
          <a:xfrm rot="0">
            <a:off x="260804" y="9828333"/>
            <a:ext cx="5742346" cy="192176"/>
            <a:chOff x="0" y="0"/>
            <a:chExt cx="7656462" cy="256235"/>
          </a:xfrm>
        </p:grpSpPr>
        <p:sp>
          <p:nvSpPr>
            <p:cNvPr name="Freeform 995" id="995"/>
            <p:cNvSpPr/>
            <p:nvPr/>
          </p:nvSpPr>
          <p:spPr>
            <a:xfrm flipH="false" flipV="false" rot="0">
              <a:off x="0" y="0"/>
              <a:ext cx="7656461" cy="256232"/>
            </a:xfrm>
            <a:custGeom>
              <a:avLst/>
              <a:gdLst/>
              <a:ahLst/>
              <a:cxnLst/>
              <a:rect r="r" b="b" t="t" l="l"/>
              <a:pathLst>
                <a:path h="256232" w="7656461">
                  <a:moveTo>
                    <a:pt x="0" y="0"/>
                  </a:moveTo>
                  <a:lnTo>
                    <a:pt x="7656461" y="0"/>
                  </a:lnTo>
                  <a:lnTo>
                    <a:pt x="765646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230" r="0" b="-532232"/>
              </a:stretch>
            </a:blipFill>
          </p:spPr>
        </p:sp>
        <p:sp>
          <p:nvSpPr>
            <p:cNvPr name="TextBox 996" id="996"/>
            <p:cNvSpPr txBox="true"/>
            <p:nvPr/>
          </p:nvSpPr>
          <p:spPr>
            <a:xfrm>
              <a:off x="0" y="-19050"/>
              <a:ext cx="7656462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i="true">
                  <a:solidFill>
                    <a:srgbClr val="7777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€1.86M in Dec — ↑127% FY growth</a:t>
              </a:r>
            </a:p>
          </p:txBody>
        </p:sp>
      </p:grpSp>
      <p:grpSp>
        <p:nvGrpSpPr>
          <p:cNvPr name="Group 997" id="997"/>
          <p:cNvGrpSpPr/>
          <p:nvPr/>
        </p:nvGrpSpPr>
        <p:grpSpPr>
          <a:xfrm rot="0">
            <a:off x="6203051" y="7479640"/>
            <a:ext cx="5891622" cy="2574331"/>
            <a:chOff x="0" y="0"/>
            <a:chExt cx="7855496" cy="3432442"/>
          </a:xfrm>
        </p:grpSpPr>
        <p:sp>
          <p:nvSpPr>
            <p:cNvPr name="Freeform 998" id="998"/>
            <p:cNvSpPr/>
            <p:nvPr/>
          </p:nvSpPr>
          <p:spPr>
            <a:xfrm flipH="false" flipV="false" rot="0">
              <a:off x="8001" y="8001"/>
              <a:ext cx="783945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3416427"/>
                  </a:lnTo>
                  <a:lnTo>
                    <a:pt x="0" y="3416427"/>
                  </a:lnTo>
                  <a:close/>
                </a:path>
              </a:pathLst>
            </a:custGeom>
            <a:solidFill>
              <a:srgbClr val="F6FDF8"/>
            </a:solidFill>
          </p:spPr>
        </p:sp>
        <p:sp>
          <p:nvSpPr>
            <p:cNvPr name="Freeform 999" id="999"/>
            <p:cNvSpPr/>
            <p:nvPr/>
          </p:nvSpPr>
          <p:spPr>
            <a:xfrm flipH="false" flipV="false" rot="0">
              <a:off x="0" y="0"/>
              <a:ext cx="7855458" cy="3432429"/>
            </a:xfrm>
            <a:custGeom>
              <a:avLst/>
              <a:gdLst/>
              <a:ahLst/>
              <a:cxnLst/>
              <a:rect r="r" b="b" t="t" l="l"/>
              <a:pathLst>
                <a:path h="3432429" w="7855458">
                  <a:moveTo>
                    <a:pt x="8001" y="0"/>
                  </a:moveTo>
                  <a:lnTo>
                    <a:pt x="7847457" y="0"/>
                  </a:lnTo>
                  <a:cubicBezTo>
                    <a:pt x="7851901" y="0"/>
                    <a:pt x="7855458" y="3556"/>
                    <a:pt x="7855458" y="8001"/>
                  </a:cubicBezTo>
                  <a:lnTo>
                    <a:pt x="7855458" y="3424428"/>
                  </a:lnTo>
                  <a:cubicBezTo>
                    <a:pt x="7855458" y="3428873"/>
                    <a:pt x="7851901" y="3432429"/>
                    <a:pt x="7847457" y="3432429"/>
                  </a:cubicBezTo>
                  <a:lnTo>
                    <a:pt x="8001" y="3432429"/>
                  </a:lnTo>
                  <a:cubicBezTo>
                    <a:pt x="3556" y="3432429"/>
                    <a:pt x="0" y="3428873"/>
                    <a:pt x="0" y="3424428"/>
                  </a:cubicBezTo>
                  <a:lnTo>
                    <a:pt x="0" y="8001"/>
                  </a:lnTo>
                  <a:cubicBezTo>
                    <a:pt x="0" y="3556"/>
                    <a:pt x="3556" y="0"/>
                    <a:pt x="8001" y="0"/>
                  </a:cubicBezTo>
                  <a:moveTo>
                    <a:pt x="8001" y="16002"/>
                  </a:moveTo>
                  <a:lnTo>
                    <a:pt x="8001" y="8001"/>
                  </a:lnTo>
                  <a:lnTo>
                    <a:pt x="16002" y="8001"/>
                  </a:lnTo>
                  <a:lnTo>
                    <a:pt x="16002" y="3424428"/>
                  </a:lnTo>
                  <a:lnTo>
                    <a:pt x="8001" y="3424428"/>
                  </a:lnTo>
                  <a:lnTo>
                    <a:pt x="8001" y="3416427"/>
                  </a:lnTo>
                  <a:lnTo>
                    <a:pt x="7847457" y="3416427"/>
                  </a:lnTo>
                  <a:lnTo>
                    <a:pt x="7847457" y="3424428"/>
                  </a:lnTo>
                  <a:lnTo>
                    <a:pt x="7839456" y="3424428"/>
                  </a:lnTo>
                  <a:lnTo>
                    <a:pt x="7839456" y="8001"/>
                  </a:lnTo>
                  <a:lnTo>
                    <a:pt x="7847457" y="8001"/>
                  </a:lnTo>
                  <a:lnTo>
                    <a:pt x="7847457" y="16002"/>
                  </a:lnTo>
                  <a:lnTo>
                    <a:pt x="8001" y="1600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1000" id="1000"/>
          <p:cNvGrpSpPr/>
          <p:nvPr/>
        </p:nvGrpSpPr>
        <p:grpSpPr>
          <a:xfrm rot="0">
            <a:off x="6209052" y="7485640"/>
            <a:ext cx="5879611" cy="356892"/>
            <a:chOff x="0" y="0"/>
            <a:chExt cx="7839481" cy="475856"/>
          </a:xfrm>
        </p:grpSpPr>
        <p:sp>
          <p:nvSpPr>
            <p:cNvPr name="Freeform 1001" id="1001"/>
            <p:cNvSpPr/>
            <p:nvPr/>
          </p:nvSpPr>
          <p:spPr>
            <a:xfrm flipH="false" flipV="false" rot="0">
              <a:off x="0" y="0"/>
              <a:ext cx="7839456" cy="475869"/>
            </a:xfrm>
            <a:custGeom>
              <a:avLst/>
              <a:gdLst/>
              <a:ahLst/>
              <a:cxnLst/>
              <a:rect r="r" b="b" t="t" l="l"/>
              <a:pathLst>
                <a:path h="475869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02" id="1002"/>
          <p:cNvGrpSpPr/>
          <p:nvPr/>
        </p:nvGrpSpPr>
        <p:grpSpPr>
          <a:xfrm rot="0">
            <a:off x="6318866" y="7540542"/>
            <a:ext cx="5714895" cy="274539"/>
            <a:chOff x="0" y="0"/>
            <a:chExt cx="7619860" cy="366052"/>
          </a:xfrm>
        </p:grpSpPr>
        <p:sp>
          <p:nvSpPr>
            <p:cNvPr name="Freeform 1003" id="1003"/>
            <p:cNvSpPr/>
            <p:nvPr/>
          </p:nvSpPr>
          <p:spPr>
            <a:xfrm flipH="false" flipV="false" rot="0">
              <a:off x="0" y="0"/>
              <a:ext cx="7619857" cy="366046"/>
            </a:xfrm>
            <a:custGeom>
              <a:avLst/>
              <a:gdLst/>
              <a:ahLst/>
              <a:cxnLst/>
              <a:rect r="r" b="b" t="t" l="l"/>
              <a:pathLst>
                <a:path h="366046" w="7619857">
                  <a:moveTo>
                    <a:pt x="0" y="0"/>
                  </a:moveTo>
                  <a:lnTo>
                    <a:pt x="7619857" y="0"/>
                  </a:lnTo>
                  <a:lnTo>
                    <a:pt x="76198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12" r="0" b="-355614"/>
              </a:stretch>
            </a:blipFill>
          </p:spPr>
        </p:sp>
        <p:sp>
          <p:nvSpPr>
            <p:cNvPr name="TextBox 1004" id="1004"/>
            <p:cNvSpPr txBox="true"/>
            <p:nvPr/>
          </p:nvSpPr>
          <p:spPr>
            <a:xfrm>
              <a:off x="0" y="-19050"/>
              <a:ext cx="7619860" cy="38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⭐  Avg Partner Rating (/5)  —  Jan–Dec 2024</a:t>
              </a:r>
            </a:p>
          </p:txBody>
        </p:sp>
      </p:grpSp>
      <p:grpSp>
        <p:nvGrpSpPr>
          <p:cNvPr name="Group 1005" id="1005"/>
          <p:cNvGrpSpPr/>
          <p:nvPr/>
        </p:nvGrpSpPr>
        <p:grpSpPr>
          <a:xfrm rot="0">
            <a:off x="6511042" y="9157249"/>
            <a:ext cx="5467807" cy="5486"/>
            <a:chOff x="0" y="0"/>
            <a:chExt cx="7290410" cy="7315"/>
          </a:xfrm>
        </p:grpSpPr>
        <p:sp>
          <p:nvSpPr>
            <p:cNvPr name="Freeform 1006" id="1006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007" id="1007"/>
          <p:cNvGrpSpPr/>
          <p:nvPr/>
        </p:nvGrpSpPr>
        <p:grpSpPr>
          <a:xfrm rot="0">
            <a:off x="6222778" y="9033710"/>
            <a:ext cx="247079" cy="178451"/>
            <a:chOff x="0" y="0"/>
            <a:chExt cx="329438" cy="237934"/>
          </a:xfrm>
        </p:grpSpPr>
        <p:sp>
          <p:nvSpPr>
            <p:cNvPr name="Freeform 1008" id="1008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009" id="1009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4.2</a:t>
              </a:r>
            </a:p>
          </p:txBody>
        </p:sp>
      </p:grpSp>
      <p:grpSp>
        <p:nvGrpSpPr>
          <p:cNvPr name="Group 1010" id="1010"/>
          <p:cNvGrpSpPr/>
          <p:nvPr/>
        </p:nvGrpSpPr>
        <p:grpSpPr>
          <a:xfrm rot="0">
            <a:off x="6511042" y="8568528"/>
            <a:ext cx="5467807" cy="5486"/>
            <a:chOff x="0" y="0"/>
            <a:chExt cx="7290410" cy="7315"/>
          </a:xfrm>
        </p:grpSpPr>
        <p:sp>
          <p:nvSpPr>
            <p:cNvPr name="Freeform 1011" id="1011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012" id="1012"/>
          <p:cNvGrpSpPr/>
          <p:nvPr/>
        </p:nvGrpSpPr>
        <p:grpSpPr>
          <a:xfrm rot="0">
            <a:off x="6222778" y="8444989"/>
            <a:ext cx="247079" cy="178451"/>
            <a:chOff x="0" y="0"/>
            <a:chExt cx="329438" cy="237934"/>
          </a:xfrm>
        </p:grpSpPr>
        <p:sp>
          <p:nvSpPr>
            <p:cNvPr name="Freeform 1013" id="1013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014" id="1014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4.5</a:t>
              </a:r>
            </a:p>
          </p:txBody>
        </p:sp>
      </p:grpSp>
      <p:grpSp>
        <p:nvGrpSpPr>
          <p:cNvPr name="Group 1015" id="1015"/>
          <p:cNvGrpSpPr/>
          <p:nvPr/>
        </p:nvGrpSpPr>
        <p:grpSpPr>
          <a:xfrm rot="0">
            <a:off x="6511042" y="7979807"/>
            <a:ext cx="5467807" cy="5486"/>
            <a:chOff x="0" y="0"/>
            <a:chExt cx="7290410" cy="7315"/>
          </a:xfrm>
        </p:grpSpPr>
        <p:sp>
          <p:nvSpPr>
            <p:cNvPr name="Freeform 1016" id="1016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017" id="1017"/>
          <p:cNvGrpSpPr/>
          <p:nvPr/>
        </p:nvGrpSpPr>
        <p:grpSpPr>
          <a:xfrm rot="0">
            <a:off x="6222778" y="7856258"/>
            <a:ext cx="247079" cy="178451"/>
            <a:chOff x="0" y="0"/>
            <a:chExt cx="329438" cy="237934"/>
          </a:xfrm>
        </p:grpSpPr>
        <p:sp>
          <p:nvSpPr>
            <p:cNvPr name="Freeform 1018" id="1018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019" id="1019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4.7</a:t>
              </a:r>
            </a:p>
          </p:txBody>
        </p:sp>
      </p:grpSp>
      <p:grpSp>
        <p:nvGrpSpPr>
          <p:cNvPr name="Group 1020" id="1020"/>
          <p:cNvGrpSpPr/>
          <p:nvPr/>
        </p:nvGrpSpPr>
        <p:grpSpPr>
          <a:xfrm rot="0">
            <a:off x="6493888" y="9089812"/>
            <a:ext cx="542373" cy="252060"/>
            <a:chOff x="0" y="0"/>
            <a:chExt cx="723163" cy="336080"/>
          </a:xfrm>
        </p:grpSpPr>
        <p:sp>
          <p:nvSpPr>
            <p:cNvPr name="Freeform 1021" id="1021"/>
            <p:cNvSpPr/>
            <p:nvPr/>
          </p:nvSpPr>
          <p:spPr>
            <a:xfrm flipH="false" flipV="false" rot="0">
              <a:off x="0" y="0"/>
              <a:ext cx="723138" cy="336042"/>
            </a:xfrm>
            <a:custGeom>
              <a:avLst/>
              <a:gdLst/>
              <a:ahLst/>
              <a:cxnLst/>
              <a:rect r="r" b="b" t="t" l="l"/>
              <a:pathLst>
                <a:path h="336042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13182"/>
                  </a:lnTo>
                  <a:cubicBezTo>
                    <a:pt x="723138" y="325755"/>
                    <a:pt x="712851" y="336042"/>
                    <a:pt x="700278" y="336042"/>
                  </a:cubicBezTo>
                  <a:lnTo>
                    <a:pt x="22860" y="336042"/>
                  </a:lnTo>
                  <a:cubicBezTo>
                    <a:pt x="10287" y="336042"/>
                    <a:pt x="0" y="325755"/>
                    <a:pt x="0" y="313182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13182"/>
                  </a:lnTo>
                  <a:lnTo>
                    <a:pt x="22860" y="313182"/>
                  </a:lnTo>
                  <a:lnTo>
                    <a:pt x="22860" y="290322"/>
                  </a:lnTo>
                  <a:lnTo>
                    <a:pt x="700278" y="290322"/>
                  </a:lnTo>
                  <a:lnTo>
                    <a:pt x="700278" y="313182"/>
                  </a:lnTo>
                  <a:lnTo>
                    <a:pt x="677418" y="3131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22" id="1022"/>
          <p:cNvGrpSpPr/>
          <p:nvPr/>
        </p:nvGrpSpPr>
        <p:grpSpPr>
          <a:xfrm rot="0">
            <a:off x="6990959" y="9089812"/>
            <a:ext cx="542373" cy="42548"/>
            <a:chOff x="0" y="0"/>
            <a:chExt cx="723163" cy="56731"/>
          </a:xfrm>
        </p:grpSpPr>
        <p:sp>
          <p:nvSpPr>
            <p:cNvPr name="Freeform 1023" id="1023"/>
            <p:cNvSpPr/>
            <p:nvPr/>
          </p:nvSpPr>
          <p:spPr>
            <a:xfrm flipH="false" flipV="false" rot="0">
              <a:off x="0" y="0"/>
              <a:ext cx="723138" cy="56643"/>
            </a:xfrm>
            <a:custGeom>
              <a:avLst/>
              <a:gdLst/>
              <a:ahLst/>
              <a:cxnLst/>
              <a:rect r="r" b="b" t="t" l="l"/>
              <a:pathLst>
                <a:path h="5664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3782"/>
                  </a:lnTo>
                  <a:cubicBezTo>
                    <a:pt x="723138" y="46355"/>
                    <a:pt x="712851" y="56642"/>
                    <a:pt x="700278" y="56642"/>
                  </a:cubicBezTo>
                  <a:lnTo>
                    <a:pt x="22860" y="56642"/>
                  </a:lnTo>
                  <a:cubicBezTo>
                    <a:pt x="10287" y="56769"/>
                    <a:pt x="0" y="46482"/>
                    <a:pt x="0" y="3390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3782"/>
                  </a:lnTo>
                  <a:lnTo>
                    <a:pt x="22860" y="33782"/>
                  </a:lnTo>
                  <a:lnTo>
                    <a:pt x="22860" y="10922"/>
                  </a:lnTo>
                  <a:lnTo>
                    <a:pt x="700278" y="10922"/>
                  </a:lnTo>
                  <a:lnTo>
                    <a:pt x="700278" y="33782"/>
                  </a:lnTo>
                  <a:lnTo>
                    <a:pt x="677418" y="337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24" id="1024"/>
          <p:cNvGrpSpPr/>
          <p:nvPr/>
        </p:nvGrpSpPr>
        <p:grpSpPr>
          <a:xfrm rot="0">
            <a:off x="7488031" y="8880300"/>
            <a:ext cx="542373" cy="252060"/>
            <a:chOff x="0" y="0"/>
            <a:chExt cx="723163" cy="336080"/>
          </a:xfrm>
        </p:grpSpPr>
        <p:sp>
          <p:nvSpPr>
            <p:cNvPr name="Freeform 1025" id="1025"/>
            <p:cNvSpPr/>
            <p:nvPr/>
          </p:nvSpPr>
          <p:spPr>
            <a:xfrm flipH="false" flipV="false" rot="0">
              <a:off x="0" y="0"/>
              <a:ext cx="723138" cy="336042"/>
            </a:xfrm>
            <a:custGeom>
              <a:avLst/>
              <a:gdLst/>
              <a:ahLst/>
              <a:cxnLst/>
              <a:rect r="r" b="b" t="t" l="l"/>
              <a:pathLst>
                <a:path h="336042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13182"/>
                  </a:lnTo>
                  <a:cubicBezTo>
                    <a:pt x="723138" y="325755"/>
                    <a:pt x="712851" y="336042"/>
                    <a:pt x="700278" y="336042"/>
                  </a:cubicBezTo>
                  <a:lnTo>
                    <a:pt x="22860" y="336042"/>
                  </a:lnTo>
                  <a:cubicBezTo>
                    <a:pt x="10287" y="336042"/>
                    <a:pt x="0" y="325755"/>
                    <a:pt x="0" y="313182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13182"/>
                  </a:lnTo>
                  <a:lnTo>
                    <a:pt x="22860" y="313182"/>
                  </a:lnTo>
                  <a:lnTo>
                    <a:pt x="22860" y="290322"/>
                  </a:lnTo>
                  <a:lnTo>
                    <a:pt x="700278" y="290322"/>
                  </a:lnTo>
                  <a:lnTo>
                    <a:pt x="700278" y="313182"/>
                  </a:lnTo>
                  <a:lnTo>
                    <a:pt x="677418" y="3131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26" id="1026"/>
          <p:cNvGrpSpPr/>
          <p:nvPr/>
        </p:nvGrpSpPr>
        <p:grpSpPr>
          <a:xfrm rot="0">
            <a:off x="7985103" y="8880300"/>
            <a:ext cx="542373" cy="42548"/>
            <a:chOff x="0" y="0"/>
            <a:chExt cx="723163" cy="56731"/>
          </a:xfrm>
        </p:grpSpPr>
        <p:sp>
          <p:nvSpPr>
            <p:cNvPr name="Freeform 1027" id="1027"/>
            <p:cNvSpPr/>
            <p:nvPr/>
          </p:nvSpPr>
          <p:spPr>
            <a:xfrm flipH="false" flipV="false" rot="0">
              <a:off x="0" y="0"/>
              <a:ext cx="723138" cy="56643"/>
            </a:xfrm>
            <a:custGeom>
              <a:avLst/>
              <a:gdLst/>
              <a:ahLst/>
              <a:cxnLst/>
              <a:rect r="r" b="b" t="t" l="l"/>
              <a:pathLst>
                <a:path h="5664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3782"/>
                  </a:lnTo>
                  <a:cubicBezTo>
                    <a:pt x="723138" y="46355"/>
                    <a:pt x="712851" y="56642"/>
                    <a:pt x="700278" y="56642"/>
                  </a:cubicBezTo>
                  <a:lnTo>
                    <a:pt x="22860" y="56642"/>
                  </a:lnTo>
                  <a:cubicBezTo>
                    <a:pt x="10287" y="56769"/>
                    <a:pt x="0" y="46482"/>
                    <a:pt x="0" y="3390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3782"/>
                  </a:lnTo>
                  <a:lnTo>
                    <a:pt x="22860" y="33782"/>
                  </a:lnTo>
                  <a:lnTo>
                    <a:pt x="22860" y="10922"/>
                  </a:lnTo>
                  <a:lnTo>
                    <a:pt x="700278" y="10922"/>
                  </a:lnTo>
                  <a:lnTo>
                    <a:pt x="700278" y="33782"/>
                  </a:lnTo>
                  <a:lnTo>
                    <a:pt x="677418" y="337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28" id="1028"/>
          <p:cNvGrpSpPr/>
          <p:nvPr/>
        </p:nvGrpSpPr>
        <p:grpSpPr>
          <a:xfrm rot="0">
            <a:off x="8482174" y="8670788"/>
            <a:ext cx="542373" cy="252060"/>
            <a:chOff x="0" y="0"/>
            <a:chExt cx="723163" cy="336080"/>
          </a:xfrm>
        </p:grpSpPr>
        <p:sp>
          <p:nvSpPr>
            <p:cNvPr name="Freeform 1029" id="1029"/>
            <p:cNvSpPr/>
            <p:nvPr/>
          </p:nvSpPr>
          <p:spPr>
            <a:xfrm flipH="false" flipV="false" rot="0">
              <a:off x="0" y="0"/>
              <a:ext cx="723138" cy="336042"/>
            </a:xfrm>
            <a:custGeom>
              <a:avLst/>
              <a:gdLst/>
              <a:ahLst/>
              <a:cxnLst/>
              <a:rect r="r" b="b" t="t" l="l"/>
              <a:pathLst>
                <a:path h="336042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13182"/>
                  </a:lnTo>
                  <a:cubicBezTo>
                    <a:pt x="723138" y="325755"/>
                    <a:pt x="712851" y="336042"/>
                    <a:pt x="700278" y="336042"/>
                  </a:cubicBezTo>
                  <a:lnTo>
                    <a:pt x="22860" y="336042"/>
                  </a:lnTo>
                  <a:cubicBezTo>
                    <a:pt x="10287" y="336042"/>
                    <a:pt x="0" y="325755"/>
                    <a:pt x="0" y="313182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13182"/>
                  </a:lnTo>
                  <a:lnTo>
                    <a:pt x="22860" y="313182"/>
                  </a:lnTo>
                  <a:lnTo>
                    <a:pt x="22860" y="290322"/>
                  </a:lnTo>
                  <a:lnTo>
                    <a:pt x="700278" y="290322"/>
                  </a:lnTo>
                  <a:lnTo>
                    <a:pt x="700278" y="313182"/>
                  </a:lnTo>
                  <a:lnTo>
                    <a:pt x="677418" y="3131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30" id="1030"/>
          <p:cNvGrpSpPr/>
          <p:nvPr/>
        </p:nvGrpSpPr>
        <p:grpSpPr>
          <a:xfrm rot="0">
            <a:off x="8979256" y="8670788"/>
            <a:ext cx="542373" cy="42548"/>
            <a:chOff x="0" y="0"/>
            <a:chExt cx="723163" cy="56731"/>
          </a:xfrm>
        </p:grpSpPr>
        <p:sp>
          <p:nvSpPr>
            <p:cNvPr name="Freeform 1031" id="1031"/>
            <p:cNvSpPr/>
            <p:nvPr/>
          </p:nvSpPr>
          <p:spPr>
            <a:xfrm flipH="false" flipV="false" rot="0">
              <a:off x="0" y="0"/>
              <a:ext cx="723138" cy="56643"/>
            </a:xfrm>
            <a:custGeom>
              <a:avLst/>
              <a:gdLst/>
              <a:ahLst/>
              <a:cxnLst/>
              <a:rect r="r" b="b" t="t" l="l"/>
              <a:pathLst>
                <a:path h="5664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3782"/>
                  </a:lnTo>
                  <a:cubicBezTo>
                    <a:pt x="723138" y="46355"/>
                    <a:pt x="712851" y="56642"/>
                    <a:pt x="700278" y="56642"/>
                  </a:cubicBezTo>
                  <a:lnTo>
                    <a:pt x="22860" y="56642"/>
                  </a:lnTo>
                  <a:cubicBezTo>
                    <a:pt x="10287" y="56769"/>
                    <a:pt x="0" y="46482"/>
                    <a:pt x="0" y="3390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3782"/>
                  </a:lnTo>
                  <a:lnTo>
                    <a:pt x="22860" y="33782"/>
                  </a:lnTo>
                  <a:lnTo>
                    <a:pt x="22860" y="10922"/>
                  </a:lnTo>
                  <a:lnTo>
                    <a:pt x="700278" y="10922"/>
                  </a:lnTo>
                  <a:lnTo>
                    <a:pt x="700278" y="33782"/>
                  </a:lnTo>
                  <a:lnTo>
                    <a:pt x="677418" y="337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32" id="1032"/>
          <p:cNvGrpSpPr/>
          <p:nvPr/>
        </p:nvGrpSpPr>
        <p:grpSpPr>
          <a:xfrm rot="0">
            <a:off x="9476327" y="8670788"/>
            <a:ext cx="542373" cy="42548"/>
            <a:chOff x="0" y="0"/>
            <a:chExt cx="723163" cy="56731"/>
          </a:xfrm>
        </p:grpSpPr>
        <p:sp>
          <p:nvSpPr>
            <p:cNvPr name="Freeform 1033" id="1033"/>
            <p:cNvSpPr/>
            <p:nvPr/>
          </p:nvSpPr>
          <p:spPr>
            <a:xfrm flipH="false" flipV="false" rot="0">
              <a:off x="0" y="0"/>
              <a:ext cx="723138" cy="56643"/>
            </a:xfrm>
            <a:custGeom>
              <a:avLst/>
              <a:gdLst/>
              <a:ahLst/>
              <a:cxnLst/>
              <a:rect r="r" b="b" t="t" l="l"/>
              <a:pathLst>
                <a:path h="5664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3782"/>
                  </a:lnTo>
                  <a:cubicBezTo>
                    <a:pt x="723138" y="46355"/>
                    <a:pt x="712851" y="56642"/>
                    <a:pt x="700278" y="56642"/>
                  </a:cubicBezTo>
                  <a:lnTo>
                    <a:pt x="22860" y="56642"/>
                  </a:lnTo>
                  <a:cubicBezTo>
                    <a:pt x="10287" y="56769"/>
                    <a:pt x="0" y="46482"/>
                    <a:pt x="0" y="3390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3782"/>
                  </a:lnTo>
                  <a:lnTo>
                    <a:pt x="22860" y="33782"/>
                  </a:lnTo>
                  <a:lnTo>
                    <a:pt x="22860" y="10922"/>
                  </a:lnTo>
                  <a:lnTo>
                    <a:pt x="700278" y="10922"/>
                  </a:lnTo>
                  <a:lnTo>
                    <a:pt x="700278" y="33782"/>
                  </a:lnTo>
                  <a:lnTo>
                    <a:pt x="677418" y="337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34" id="1034"/>
          <p:cNvGrpSpPr/>
          <p:nvPr/>
        </p:nvGrpSpPr>
        <p:grpSpPr>
          <a:xfrm rot="0">
            <a:off x="9973399" y="8461277"/>
            <a:ext cx="542373" cy="252060"/>
            <a:chOff x="0" y="0"/>
            <a:chExt cx="723163" cy="336080"/>
          </a:xfrm>
        </p:grpSpPr>
        <p:sp>
          <p:nvSpPr>
            <p:cNvPr name="Freeform 1035" id="1035"/>
            <p:cNvSpPr/>
            <p:nvPr/>
          </p:nvSpPr>
          <p:spPr>
            <a:xfrm flipH="false" flipV="false" rot="0">
              <a:off x="0" y="0"/>
              <a:ext cx="723138" cy="336042"/>
            </a:xfrm>
            <a:custGeom>
              <a:avLst/>
              <a:gdLst/>
              <a:ahLst/>
              <a:cxnLst/>
              <a:rect r="r" b="b" t="t" l="l"/>
              <a:pathLst>
                <a:path h="336042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13182"/>
                  </a:lnTo>
                  <a:cubicBezTo>
                    <a:pt x="723138" y="325755"/>
                    <a:pt x="712851" y="336042"/>
                    <a:pt x="700278" y="336042"/>
                  </a:cubicBezTo>
                  <a:lnTo>
                    <a:pt x="22860" y="336042"/>
                  </a:lnTo>
                  <a:cubicBezTo>
                    <a:pt x="10287" y="336042"/>
                    <a:pt x="0" y="325755"/>
                    <a:pt x="0" y="313182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13182"/>
                  </a:lnTo>
                  <a:lnTo>
                    <a:pt x="22860" y="313182"/>
                  </a:lnTo>
                  <a:lnTo>
                    <a:pt x="22860" y="290322"/>
                  </a:lnTo>
                  <a:lnTo>
                    <a:pt x="700278" y="290322"/>
                  </a:lnTo>
                  <a:lnTo>
                    <a:pt x="700278" y="313182"/>
                  </a:lnTo>
                  <a:lnTo>
                    <a:pt x="677418" y="3131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36" id="1036"/>
          <p:cNvGrpSpPr/>
          <p:nvPr/>
        </p:nvGrpSpPr>
        <p:grpSpPr>
          <a:xfrm rot="0">
            <a:off x="10470471" y="8461277"/>
            <a:ext cx="542373" cy="42548"/>
            <a:chOff x="0" y="0"/>
            <a:chExt cx="723163" cy="56731"/>
          </a:xfrm>
        </p:grpSpPr>
        <p:sp>
          <p:nvSpPr>
            <p:cNvPr name="Freeform 1037" id="1037"/>
            <p:cNvSpPr/>
            <p:nvPr/>
          </p:nvSpPr>
          <p:spPr>
            <a:xfrm flipH="false" flipV="false" rot="0">
              <a:off x="0" y="0"/>
              <a:ext cx="723138" cy="56643"/>
            </a:xfrm>
            <a:custGeom>
              <a:avLst/>
              <a:gdLst/>
              <a:ahLst/>
              <a:cxnLst/>
              <a:rect r="r" b="b" t="t" l="l"/>
              <a:pathLst>
                <a:path h="5664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3782"/>
                  </a:lnTo>
                  <a:cubicBezTo>
                    <a:pt x="723138" y="46355"/>
                    <a:pt x="712851" y="56642"/>
                    <a:pt x="700278" y="56642"/>
                  </a:cubicBezTo>
                  <a:lnTo>
                    <a:pt x="22860" y="56642"/>
                  </a:lnTo>
                  <a:cubicBezTo>
                    <a:pt x="10287" y="56769"/>
                    <a:pt x="0" y="46482"/>
                    <a:pt x="0" y="3390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3782"/>
                  </a:lnTo>
                  <a:lnTo>
                    <a:pt x="22860" y="33782"/>
                  </a:lnTo>
                  <a:lnTo>
                    <a:pt x="22860" y="10922"/>
                  </a:lnTo>
                  <a:lnTo>
                    <a:pt x="700278" y="10922"/>
                  </a:lnTo>
                  <a:lnTo>
                    <a:pt x="700278" y="33782"/>
                  </a:lnTo>
                  <a:lnTo>
                    <a:pt x="677418" y="337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38" id="1038"/>
          <p:cNvGrpSpPr/>
          <p:nvPr/>
        </p:nvGrpSpPr>
        <p:grpSpPr>
          <a:xfrm rot="0">
            <a:off x="10967552" y="8461277"/>
            <a:ext cx="542373" cy="42548"/>
            <a:chOff x="0" y="0"/>
            <a:chExt cx="723163" cy="56731"/>
          </a:xfrm>
        </p:grpSpPr>
        <p:sp>
          <p:nvSpPr>
            <p:cNvPr name="Freeform 1039" id="1039"/>
            <p:cNvSpPr/>
            <p:nvPr/>
          </p:nvSpPr>
          <p:spPr>
            <a:xfrm flipH="false" flipV="false" rot="0">
              <a:off x="0" y="0"/>
              <a:ext cx="723138" cy="56643"/>
            </a:xfrm>
            <a:custGeom>
              <a:avLst/>
              <a:gdLst/>
              <a:ahLst/>
              <a:cxnLst/>
              <a:rect r="r" b="b" t="t" l="l"/>
              <a:pathLst>
                <a:path h="56643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3782"/>
                  </a:lnTo>
                  <a:cubicBezTo>
                    <a:pt x="723138" y="46355"/>
                    <a:pt x="712851" y="56642"/>
                    <a:pt x="700278" y="56642"/>
                  </a:cubicBezTo>
                  <a:lnTo>
                    <a:pt x="22860" y="56642"/>
                  </a:lnTo>
                  <a:cubicBezTo>
                    <a:pt x="10287" y="56769"/>
                    <a:pt x="0" y="46482"/>
                    <a:pt x="0" y="33909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3782"/>
                  </a:lnTo>
                  <a:lnTo>
                    <a:pt x="22860" y="33782"/>
                  </a:lnTo>
                  <a:lnTo>
                    <a:pt x="22860" y="10922"/>
                  </a:lnTo>
                  <a:lnTo>
                    <a:pt x="700278" y="10922"/>
                  </a:lnTo>
                  <a:lnTo>
                    <a:pt x="700278" y="33782"/>
                  </a:lnTo>
                  <a:lnTo>
                    <a:pt x="677418" y="337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40" id="1040"/>
          <p:cNvGrpSpPr/>
          <p:nvPr/>
        </p:nvGrpSpPr>
        <p:grpSpPr>
          <a:xfrm rot="0">
            <a:off x="11464623" y="8251765"/>
            <a:ext cx="542373" cy="252060"/>
            <a:chOff x="0" y="0"/>
            <a:chExt cx="723163" cy="336080"/>
          </a:xfrm>
        </p:grpSpPr>
        <p:sp>
          <p:nvSpPr>
            <p:cNvPr name="Freeform 1041" id="1041"/>
            <p:cNvSpPr/>
            <p:nvPr/>
          </p:nvSpPr>
          <p:spPr>
            <a:xfrm flipH="false" flipV="false" rot="0">
              <a:off x="0" y="0"/>
              <a:ext cx="723138" cy="336042"/>
            </a:xfrm>
            <a:custGeom>
              <a:avLst/>
              <a:gdLst/>
              <a:ahLst/>
              <a:cxnLst/>
              <a:rect r="r" b="b" t="t" l="l"/>
              <a:pathLst>
                <a:path h="336042" w="723138">
                  <a:moveTo>
                    <a:pt x="22860" y="0"/>
                  </a:moveTo>
                  <a:lnTo>
                    <a:pt x="700278" y="0"/>
                  </a:lnTo>
                  <a:cubicBezTo>
                    <a:pt x="712851" y="0"/>
                    <a:pt x="723138" y="10287"/>
                    <a:pt x="723138" y="22860"/>
                  </a:cubicBezTo>
                  <a:lnTo>
                    <a:pt x="723138" y="313182"/>
                  </a:lnTo>
                  <a:cubicBezTo>
                    <a:pt x="723138" y="325755"/>
                    <a:pt x="712851" y="336042"/>
                    <a:pt x="700278" y="336042"/>
                  </a:cubicBezTo>
                  <a:lnTo>
                    <a:pt x="22860" y="336042"/>
                  </a:lnTo>
                  <a:cubicBezTo>
                    <a:pt x="10287" y="336042"/>
                    <a:pt x="0" y="325755"/>
                    <a:pt x="0" y="313182"/>
                  </a:cubicBezTo>
                  <a:lnTo>
                    <a:pt x="0" y="22860"/>
                  </a:lnTo>
                  <a:cubicBezTo>
                    <a:pt x="0" y="10287"/>
                    <a:pt x="10287" y="0"/>
                    <a:pt x="22860" y="0"/>
                  </a:cubicBezTo>
                  <a:moveTo>
                    <a:pt x="22860" y="45720"/>
                  </a:moveTo>
                  <a:lnTo>
                    <a:pt x="22860" y="22860"/>
                  </a:lnTo>
                  <a:lnTo>
                    <a:pt x="45720" y="22860"/>
                  </a:lnTo>
                  <a:lnTo>
                    <a:pt x="45720" y="313182"/>
                  </a:lnTo>
                  <a:lnTo>
                    <a:pt x="22860" y="313182"/>
                  </a:lnTo>
                  <a:lnTo>
                    <a:pt x="22860" y="290322"/>
                  </a:lnTo>
                  <a:lnTo>
                    <a:pt x="700278" y="290322"/>
                  </a:lnTo>
                  <a:lnTo>
                    <a:pt x="700278" y="313182"/>
                  </a:lnTo>
                  <a:lnTo>
                    <a:pt x="677418" y="313182"/>
                  </a:lnTo>
                  <a:lnTo>
                    <a:pt x="677418" y="22860"/>
                  </a:lnTo>
                  <a:lnTo>
                    <a:pt x="700278" y="22860"/>
                  </a:lnTo>
                  <a:lnTo>
                    <a:pt x="700278" y="45720"/>
                  </a:lnTo>
                  <a:lnTo>
                    <a:pt x="22860" y="45720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042" id="1042"/>
          <p:cNvGrpSpPr/>
          <p:nvPr/>
        </p:nvGrpSpPr>
        <p:grpSpPr>
          <a:xfrm rot="0">
            <a:off x="6436919" y="9242355"/>
            <a:ext cx="148247" cy="148247"/>
            <a:chOff x="0" y="0"/>
            <a:chExt cx="197663" cy="197663"/>
          </a:xfrm>
        </p:grpSpPr>
        <p:sp>
          <p:nvSpPr>
            <p:cNvPr name="Freeform 1043" id="1043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044" id="1044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45" id="1045"/>
          <p:cNvGrpSpPr/>
          <p:nvPr/>
        </p:nvGrpSpPr>
        <p:grpSpPr>
          <a:xfrm rot="0">
            <a:off x="6346327" y="9055665"/>
            <a:ext cx="329441" cy="178451"/>
            <a:chOff x="0" y="0"/>
            <a:chExt cx="439255" cy="237934"/>
          </a:xfrm>
        </p:grpSpPr>
        <p:sp>
          <p:nvSpPr>
            <p:cNvPr name="Freeform 1046" id="1046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047" id="1047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4.1</a:t>
              </a:r>
            </a:p>
          </p:txBody>
        </p:sp>
      </p:grpSp>
      <p:grpSp>
        <p:nvGrpSpPr>
          <p:cNvPr name="Group 1048" id="1048"/>
          <p:cNvGrpSpPr/>
          <p:nvPr/>
        </p:nvGrpSpPr>
        <p:grpSpPr>
          <a:xfrm rot="0">
            <a:off x="6414954" y="9773431"/>
            <a:ext cx="192176" cy="192176"/>
            <a:chOff x="0" y="0"/>
            <a:chExt cx="256235" cy="256235"/>
          </a:xfrm>
        </p:grpSpPr>
        <p:sp>
          <p:nvSpPr>
            <p:cNvPr name="Freeform 1049" id="1049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050" id="1050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1051" id="1051"/>
          <p:cNvGrpSpPr/>
          <p:nvPr/>
        </p:nvGrpSpPr>
        <p:grpSpPr>
          <a:xfrm rot="0">
            <a:off x="6933990" y="9032843"/>
            <a:ext cx="148247" cy="148247"/>
            <a:chOff x="0" y="0"/>
            <a:chExt cx="197663" cy="197663"/>
          </a:xfrm>
        </p:grpSpPr>
        <p:sp>
          <p:nvSpPr>
            <p:cNvPr name="Freeform 1052" id="1052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053" id="1053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54" id="1054"/>
          <p:cNvGrpSpPr/>
          <p:nvPr/>
        </p:nvGrpSpPr>
        <p:grpSpPr>
          <a:xfrm rot="0">
            <a:off x="6843398" y="8846163"/>
            <a:ext cx="329441" cy="178451"/>
            <a:chOff x="0" y="0"/>
            <a:chExt cx="439255" cy="237934"/>
          </a:xfrm>
        </p:grpSpPr>
        <p:sp>
          <p:nvSpPr>
            <p:cNvPr name="Freeform 1055" id="1055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056" id="1056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4.2</a:t>
              </a:r>
            </a:p>
          </p:txBody>
        </p:sp>
      </p:grpSp>
      <p:grpSp>
        <p:nvGrpSpPr>
          <p:cNvPr name="Group 1057" id="1057"/>
          <p:cNvGrpSpPr/>
          <p:nvPr/>
        </p:nvGrpSpPr>
        <p:grpSpPr>
          <a:xfrm rot="0">
            <a:off x="6912026" y="9773431"/>
            <a:ext cx="192176" cy="192176"/>
            <a:chOff x="0" y="0"/>
            <a:chExt cx="256235" cy="256235"/>
          </a:xfrm>
        </p:grpSpPr>
        <p:sp>
          <p:nvSpPr>
            <p:cNvPr name="Freeform 1058" id="1058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059" id="1059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</a:p>
          </p:txBody>
        </p:sp>
      </p:grpSp>
      <p:grpSp>
        <p:nvGrpSpPr>
          <p:cNvPr name="Group 1060" id="1060"/>
          <p:cNvGrpSpPr/>
          <p:nvPr/>
        </p:nvGrpSpPr>
        <p:grpSpPr>
          <a:xfrm rot="0">
            <a:off x="7431062" y="9032843"/>
            <a:ext cx="148247" cy="148247"/>
            <a:chOff x="0" y="0"/>
            <a:chExt cx="197663" cy="197663"/>
          </a:xfrm>
        </p:grpSpPr>
        <p:sp>
          <p:nvSpPr>
            <p:cNvPr name="Freeform 1061" id="1061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062" id="1062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63" id="1063"/>
          <p:cNvGrpSpPr/>
          <p:nvPr/>
        </p:nvGrpSpPr>
        <p:grpSpPr>
          <a:xfrm rot="0">
            <a:off x="7340470" y="8846163"/>
            <a:ext cx="329441" cy="178451"/>
            <a:chOff x="0" y="0"/>
            <a:chExt cx="439255" cy="237934"/>
          </a:xfrm>
        </p:grpSpPr>
        <p:sp>
          <p:nvSpPr>
            <p:cNvPr name="Freeform 1064" id="1064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065" id="1065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4.2</a:t>
              </a:r>
            </a:p>
          </p:txBody>
        </p:sp>
      </p:grpSp>
      <p:grpSp>
        <p:nvGrpSpPr>
          <p:cNvPr name="Group 1066" id="1066"/>
          <p:cNvGrpSpPr/>
          <p:nvPr/>
        </p:nvGrpSpPr>
        <p:grpSpPr>
          <a:xfrm rot="0">
            <a:off x="7409107" y="9773431"/>
            <a:ext cx="192176" cy="192176"/>
            <a:chOff x="0" y="0"/>
            <a:chExt cx="256235" cy="256235"/>
          </a:xfrm>
        </p:grpSpPr>
        <p:sp>
          <p:nvSpPr>
            <p:cNvPr name="Freeform 1067" id="1067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068" id="1068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1069" id="1069"/>
          <p:cNvGrpSpPr/>
          <p:nvPr/>
        </p:nvGrpSpPr>
        <p:grpSpPr>
          <a:xfrm rot="0">
            <a:off x="7928143" y="8823331"/>
            <a:ext cx="148247" cy="148247"/>
            <a:chOff x="0" y="0"/>
            <a:chExt cx="197663" cy="197663"/>
          </a:xfrm>
        </p:grpSpPr>
        <p:sp>
          <p:nvSpPr>
            <p:cNvPr name="Freeform 1070" id="1070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071" id="1071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2" id="1072"/>
          <p:cNvGrpSpPr/>
          <p:nvPr/>
        </p:nvGrpSpPr>
        <p:grpSpPr>
          <a:xfrm rot="0">
            <a:off x="7837541" y="8636651"/>
            <a:ext cx="329441" cy="178451"/>
            <a:chOff x="0" y="0"/>
            <a:chExt cx="439255" cy="237934"/>
          </a:xfrm>
        </p:grpSpPr>
        <p:sp>
          <p:nvSpPr>
            <p:cNvPr name="Freeform 1073" id="1073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074" id="1074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4.3</a:t>
              </a:r>
            </a:p>
          </p:txBody>
        </p:sp>
      </p:grpSp>
      <p:grpSp>
        <p:nvGrpSpPr>
          <p:cNvPr name="Group 1075" id="1075"/>
          <p:cNvGrpSpPr/>
          <p:nvPr/>
        </p:nvGrpSpPr>
        <p:grpSpPr>
          <a:xfrm rot="0">
            <a:off x="7906179" y="9773431"/>
            <a:ext cx="192176" cy="192176"/>
            <a:chOff x="0" y="0"/>
            <a:chExt cx="256235" cy="256235"/>
          </a:xfrm>
        </p:grpSpPr>
        <p:sp>
          <p:nvSpPr>
            <p:cNvPr name="Freeform 1076" id="1076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077" id="1077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1078" id="1078"/>
          <p:cNvGrpSpPr/>
          <p:nvPr/>
        </p:nvGrpSpPr>
        <p:grpSpPr>
          <a:xfrm rot="0">
            <a:off x="8425215" y="8823331"/>
            <a:ext cx="148247" cy="148247"/>
            <a:chOff x="0" y="0"/>
            <a:chExt cx="197663" cy="197663"/>
          </a:xfrm>
        </p:grpSpPr>
        <p:sp>
          <p:nvSpPr>
            <p:cNvPr name="Freeform 1079" id="1079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080" id="1080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81" id="1081"/>
          <p:cNvGrpSpPr/>
          <p:nvPr/>
        </p:nvGrpSpPr>
        <p:grpSpPr>
          <a:xfrm rot="0">
            <a:off x="8334613" y="8636651"/>
            <a:ext cx="329441" cy="178451"/>
            <a:chOff x="0" y="0"/>
            <a:chExt cx="439255" cy="237934"/>
          </a:xfrm>
        </p:grpSpPr>
        <p:sp>
          <p:nvSpPr>
            <p:cNvPr name="Freeform 1082" id="1082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083" id="1083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4.3</a:t>
              </a:r>
            </a:p>
          </p:txBody>
        </p:sp>
      </p:grpSp>
      <p:grpSp>
        <p:nvGrpSpPr>
          <p:cNvPr name="Group 1084" id="1084"/>
          <p:cNvGrpSpPr/>
          <p:nvPr/>
        </p:nvGrpSpPr>
        <p:grpSpPr>
          <a:xfrm rot="0">
            <a:off x="8403250" y="9773431"/>
            <a:ext cx="192176" cy="192176"/>
            <a:chOff x="0" y="0"/>
            <a:chExt cx="256235" cy="256235"/>
          </a:xfrm>
        </p:grpSpPr>
        <p:sp>
          <p:nvSpPr>
            <p:cNvPr name="Freeform 1085" id="1085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086" id="1086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1087" id="1087"/>
          <p:cNvGrpSpPr/>
          <p:nvPr/>
        </p:nvGrpSpPr>
        <p:grpSpPr>
          <a:xfrm rot="0">
            <a:off x="8922287" y="8613819"/>
            <a:ext cx="148247" cy="148247"/>
            <a:chOff x="0" y="0"/>
            <a:chExt cx="197663" cy="197663"/>
          </a:xfrm>
        </p:grpSpPr>
        <p:sp>
          <p:nvSpPr>
            <p:cNvPr name="Freeform 1088" id="1088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089" id="1089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0" id="1090"/>
          <p:cNvGrpSpPr/>
          <p:nvPr/>
        </p:nvGrpSpPr>
        <p:grpSpPr>
          <a:xfrm rot="0">
            <a:off x="8831694" y="8427139"/>
            <a:ext cx="329441" cy="178451"/>
            <a:chOff x="0" y="0"/>
            <a:chExt cx="439255" cy="237934"/>
          </a:xfrm>
        </p:grpSpPr>
        <p:sp>
          <p:nvSpPr>
            <p:cNvPr name="Freeform 1091" id="1091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092" id="1092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4.4</a:t>
              </a:r>
            </a:p>
          </p:txBody>
        </p:sp>
      </p:grpSp>
      <p:grpSp>
        <p:nvGrpSpPr>
          <p:cNvPr name="Group 1093" id="1093"/>
          <p:cNvGrpSpPr/>
          <p:nvPr/>
        </p:nvGrpSpPr>
        <p:grpSpPr>
          <a:xfrm rot="0">
            <a:off x="8900322" y="9773431"/>
            <a:ext cx="192176" cy="192176"/>
            <a:chOff x="0" y="0"/>
            <a:chExt cx="256235" cy="256235"/>
          </a:xfrm>
        </p:grpSpPr>
        <p:sp>
          <p:nvSpPr>
            <p:cNvPr name="Freeform 1094" id="1094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095" id="1095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1096" id="1096"/>
          <p:cNvGrpSpPr/>
          <p:nvPr/>
        </p:nvGrpSpPr>
        <p:grpSpPr>
          <a:xfrm rot="0">
            <a:off x="9419358" y="8613819"/>
            <a:ext cx="148247" cy="148247"/>
            <a:chOff x="0" y="0"/>
            <a:chExt cx="197663" cy="197663"/>
          </a:xfrm>
        </p:grpSpPr>
        <p:sp>
          <p:nvSpPr>
            <p:cNvPr name="Freeform 1097" id="1097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098" id="1098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9" id="1099"/>
          <p:cNvGrpSpPr/>
          <p:nvPr/>
        </p:nvGrpSpPr>
        <p:grpSpPr>
          <a:xfrm rot="0">
            <a:off x="9328766" y="8427139"/>
            <a:ext cx="329441" cy="178451"/>
            <a:chOff x="0" y="0"/>
            <a:chExt cx="439255" cy="237934"/>
          </a:xfrm>
        </p:grpSpPr>
        <p:sp>
          <p:nvSpPr>
            <p:cNvPr name="Freeform 1100" id="1100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101" id="1101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4.4</a:t>
              </a:r>
            </a:p>
          </p:txBody>
        </p:sp>
      </p:grpSp>
      <p:grpSp>
        <p:nvGrpSpPr>
          <p:cNvPr name="Group 1102" id="1102"/>
          <p:cNvGrpSpPr/>
          <p:nvPr/>
        </p:nvGrpSpPr>
        <p:grpSpPr>
          <a:xfrm rot="0">
            <a:off x="9397394" y="9773431"/>
            <a:ext cx="192176" cy="192176"/>
            <a:chOff x="0" y="0"/>
            <a:chExt cx="256235" cy="256235"/>
          </a:xfrm>
        </p:grpSpPr>
        <p:sp>
          <p:nvSpPr>
            <p:cNvPr name="Freeform 1103" id="1103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104" id="1104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1105" id="1105"/>
          <p:cNvGrpSpPr/>
          <p:nvPr/>
        </p:nvGrpSpPr>
        <p:grpSpPr>
          <a:xfrm rot="0">
            <a:off x="9916430" y="8613819"/>
            <a:ext cx="148247" cy="148247"/>
            <a:chOff x="0" y="0"/>
            <a:chExt cx="197663" cy="197663"/>
          </a:xfrm>
        </p:grpSpPr>
        <p:sp>
          <p:nvSpPr>
            <p:cNvPr name="Freeform 1106" id="1106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107" id="1107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08" id="1108"/>
          <p:cNvGrpSpPr/>
          <p:nvPr/>
        </p:nvGrpSpPr>
        <p:grpSpPr>
          <a:xfrm rot="0">
            <a:off x="9825838" y="8427139"/>
            <a:ext cx="329441" cy="178451"/>
            <a:chOff x="0" y="0"/>
            <a:chExt cx="439255" cy="237934"/>
          </a:xfrm>
        </p:grpSpPr>
        <p:sp>
          <p:nvSpPr>
            <p:cNvPr name="Freeform 1109" id="1109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110" id="1110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4.4</a:t>
              </a:r>
            </a:p>
          </p:txBody>
        </p:sp>
      </p:grpSp>
      <p:grpSp>
        <p:nvGrpSpPr>
          <p:cNvPr name="Group 1111" id="1111"/>
          <p:cNvGrpSpPr/>
          <p:nvPr/>
        </p:nvGrpSpPr>
        <p:grpSpPr>
          <a:xfrm rot="0">
            <a:off x="9894475" y="9773431"/>
            <a:ext cx="192176" cy="192176"/>
            <a:chOff x="0" y="0"/>
            <a:chExt cx="256235" cy="256235"/>
          </a:xfrm>
        </p:grpSpPr>
        <p:sp>
          <p:nvSpPr>
            <p:cNvPr name="Freeform 1112" id="1112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113" id="1113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1114" id="1114"/>
          <p:cNvGrpSpPr/>
          <p:nvPr/>
        </p:nvGrpSpPr>
        <p:grpSpPr>
          <a:xfrm rot="0">
            <a:off x="10413511" y="8404308"/>
            <a:ext cx="148247" cy="148247"/>
            <a:chOff x="0" y="0"/>
            <a:chExt cx="197663" cy="197663"/>
          </a:xfrm>
        </p:grpSpPr>
        <p:sp>
          <p:nvSpPr>
            <p:cNvPr name="Freeform 1115" id="1115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116" id="1116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7" id="1117"/>
          <p:cNvGrpSpPr/>
          <p:nvPr/>
        </p:nvGrpSpPr>
        <p:grpSpPr>
          <a:xfrm rot="0">
            <a:off x="10322909" y="8217627"/>
            <a:ext cx="329441" cy="178451"/>
            <a:chOff x="0" y="0"/>
            <a:chExt cx="439255" cy="237934"/>
          </a:xfrm>
        </p:grpSpPr>
        <p:sp>
          <p:nvSpPr>
            <p:cNvPr name="Freeform 1118" id="1118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119" id="1119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4.5</a:t>
              </a:r>
            </a:p>
          </p:txBody>
        </p:sp>
      </p:grpSp>
      <p:grpSp>
        <p:nvGrpSpPr>
          <p:cNvPr name="Group 1120" id="1120"/>
          <p:cNvGrpSpPr/>
          <p:nvPr/>
        </p:nvGrpSpPr>
        <p:grpSpPr>
          <a:xfrm rot="0">
            <a:off x="10391546" y="9773431"/>
            <a:ext cx="192176" cy="192176"/>
            <a:chOff x="0" y="0"/>
            <a:chExt cx="256235" cy="256235"/>
          </a:xfrm>
        </p:grpSpPr>
        <p:sp>
          <p:nvSpPr>
            <p:cNvPr name="Freeform 1121" id="1121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122" id="1122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</a:p>
          </p:txBody>
        </p:sp>
      </p:grpSp>
      <p:grpSp>
        <p:nvGrpSpPr>
          <p:cNvPr name="Group 1123" id="1123"/>
          <p:cNvGrpSpPr/>
          <p:nvPr/>
        </p:nvGrpSpPr>
        <p:grpSpPr>
          <a:xfrm rot="0">
            <a:off x="10910583" y="8404308"/>
            <a:ext cx="148247" cy="148247"/>
            <a:chOff x="0" y="0"/>
            <a:chExt cx="197663" cy="197663"/>
          </a:xfrm>
        </p:grpSpPr>
        <p:sp>
          <p:nvSpPr>
            <p:cNvPr name="Freeform 1124" id="1124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125" id="1125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26" id="1126"/>
          <p:cNvGrpSpPr/>
          <p:nvPr/>
        </p:nvGrpSpPr>
        <p:grpSpPr>
          <a:xfrm rot="0">
            <a:off x="10819981" y="8217627"/>
            <a:ext cx="329441" cy="178451"/>
            <a:chOff x="0" y="0"/>
            <a:chExt cx="439255" cy="237934"/>
          </a:xfrm>
        </p:grpSpPr>
        <p:sp>
          <p:nvSpPr>
            <p:cNvPr name="Freeform 1127" id="1127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128" id="1128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4.5</a:t>
              </a:r>
            </a:p>
          </p:txBody>
        </p:sp>
      </p:grpSp>
      <p:grpSp>
        <p:nvGrpSpPr>
          <p:cNvPr name="Group 1129" id="1129"/>
          <p:cNvGrpSpPr/>
          <p:nvPr/>
        </p:nvGrpSpPr>
        <p:grpSpPr>
          <a:xfrm rot="0">
            <a:off x="10888618" y="9773431"/>
            <a:ext cx="192176" cy="192176"/>
            <a:chOff x="0" y="0"/>
            <a:chExt cx="256235" cy="256235"/>
          </a:xfrm>
        </p:grpSpPr>
        <p:sp>
          <p:nvSpPr>
            <p:cNvPr name="Freeform 1130" id="1130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131" id="1131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</a:p>
          </p:txBody>
        </p:sp>
      </p:grpSp>
      <p:grpSp>
        <p:nvGrpSpPr>
          <p:cNvPr name="Group 1132" id="1132"/>
          <p:cNvGrpSpPr/>
          <p:nvPr/>
        </p:nvGrpSpPr>
        <p:grpSpPr>
          <a:xfrm rot="0">
            <a:off x="11407654" y="8404308"/>
            <a:ext cx="148247" cy="148247"/>
            <a:chOff x="0" y="0"/>
            <a:chExt cx="197663" cy="197663"/>
          </a:xfrm>
        </p:grpSpPr>
        <p:sp>
          <p:nvSpPr>
            <p:cNvPr name="Freeform 1133" id="1133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134" id="1134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35" id="1135"/>
          <p:cNvGrpSpPr/>
          <p:nvPr/>
        </p:nvGrpSpPr>
        <p:grpSpPr>
          <a:xfrm rot="0">
            <a:off x="11317062" y="8217627"/>
            <a:ext cx="329441" cy="178451"/>
            <a:chOff x="0" y="0"/>
            <a:chExt cx="439255" cy="237934"/>
          </a:xfrm>
        </p:grpSpPr>
        <p:sp>
          <p:nvSpPr>
            <p:cNvPr name="Freeform 1136" id="1136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137" id="1137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4.5</a:t>
              </a:r>
            </a:p>
          </p:txBody>
        </p:sp>
      </p:grpSp>
      <p:grpSp>
        <p:nvGrpSpPr>
          <p:cNvPr name="Group 1138" id="1138"/>
          <p:cNvGrpSpPr/>
          <p:nvPr/>
        </p:nvGrpSpPr>
        <p:grpSpPr>
          <a:xfrm rot="0">
            <a:off x="11385690" y="9773431"/>
            <a:ext cx="192176" cy="192176"/>
            <a:chOff x="0" y="0"/>
            <a:chExt cx="256235" cy="256235"/>
          </a:xfrm>
        </p:grpSpPr>
        <p:sp>
          <p:nvSpPr>
            <p:cNvPr name="Freeform 1139" id="1139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140" id="1140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</a:t>
              </a:r>
            </a:p>
          </p:txBody>
        </p:sp>
      </p:grpSp>
      <p:grpSp>
        <p:nvGrpSpPr>
          <p:cNvPr name="Group 1141" id="1141"/>
          <p:cNvGrpSpPr/>
          <p:nvPr/>
        </p:nvGrpSpPr>
        <p:grpSpPr>
          <a:xfrm rot="0">
            <a:off x="11904726" y="8194805"/>
            <a:ext cx="148247" cy="148247"/>
            <a:chOff x="0" y="0"/>
            <a:chExt cx="197663" cy="197663"/>
          </a:xfrm>
        </p:grpSpPr>
        <p:sp>
          <p:nvSpPr>
            <p:cNvPr name="Freeform 1142" id="1142"/>
            <p:cNvSpPr/>
            <p:nvPr/>
          </p:nvSpPr>
          <p:spPr>
            <a:xfrm flipH="false" flipV="false" rot="0">
              <a:off x="16510" y="16510"/>
              <a:ext cx="164719" cy="164846"/>
            </a:xfrm>
            <a:custGeom>
              <a:avLst/>
              <a:gdLst/>
              <a:ahLst/>
              <a:cxnLst/>
              <a:rect r="r" b="b" t="t" l="l"/>
              <a:pathLst>
                <a:path h="164846" w="164719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719" y="36830"/>
                    <a:pt x="164719" y="82423"/>
                  </a:cubicBezTo>
                  <a:cubicBezTo>
                    <a:pt x="164719" y="128016"/>
                    <a:pt x="127889" y="164846"/>
                    <a:pt x="82296" y="164846"/>
                  </a:cubicBezTo>
                  <a:cubicBezTo>
                    <a:pt x="36703" y="164846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6A0572"/>
            </a:solidFill>
          </p:spPr>
        </p:sp>
        <p:sp>
          <p:nvSpPr>
            <p:cNvPr name="Freeform 1143" id="1143"/>
            <p:cNvSpPr/>
            <p:nvPr/>
          </p:nvSpPr>
          <p:spPr>
            <a:xfrm flipH="false" flipV="false" rot="0">
              <a:off x="0" y="0"/>
              <a:ext cx="197612" cy="197612"/>
            </a:xfrm>
            <a:custGeom>
              <a:avLst/>
              <a:gdLst/>
              <a:ahLst/>
              <a:cxnLst/>
              <a:rect r="r" b="b" t="t" l="l"/>
              <a:pathLst>
                <a:path h="197612" w="197612">
                  <a:moveTo>
                    <a:pt x="0" y="98806"/>
                  </a:moveTo>
                  <a:cubicBezTo>
                    <a:pt x="0" y="44196"/>
                    <a:pt x="44196" y="0"/>
                    <a:pt x="98806" y="0"/>
                  </a:cubicBezTo>
                  <a:lnTo>
                    <a:pt x="98806" y="16510"/>
                  </a:lnTo>
                  <a:lnTo>
                    <a:pt x="98806" y="0"/>
                  </a:lnTo>
                  <a:cubicBezTo>
                    <a:pt x="153416" y="0"/>
                    <a:pt x="197612" y="44196"/>
                    <a:pt x="197612" y="98806"/>
                  </a:cubicBezTo>
                  <a:cubicBezTo>
                    <a:pt x="197612" y="153416"/>
                    <a:pt x="153416" y="197612"/>
                    <a:pt x="98806" y="197612"/>
                  </a:cubicBezTo>
                  <a:lnTo>
                    <a:pt x="98806" y="181102"/>
                  </a:lnTo>
                  <a:lnTo>
                    <a:pt x="98806" y="197612"/>
                  </a:lnTo>
                  <a:cubicBezTo>
                    <a:pt x="44196" y="197612"/>
                    <a:pt x="0" y="153416"/>
                    <a:pt x="0" y="98806"/>
                  </a:cubicBezTo>
                  <a:lnTo>
                    <a:pt x="16510" y="98806"/>
                  </a:lnTo>
                  <a:lnTo>
                    <a:pt x="29718" y="108712"/>
                  </a:lnTo>
                  <a:cubicBezTo>
                    <a:pt x="25527" y="114427"/>
                    <a:pt x="18034" y="116713"/>
                    <a:pt x="11303" y="114427"/>
                  </a:cubicBezTo>
                  <a:cubicBezTo>
                    <a:pt x="4572" y="112141"/>
                    <a:pt x="0" y="105918"/>
                    <a:pt x="0" y="98806"/>
                  </a:cubicBezTo>
                  <a:moveTo>
                    <a:pt x="32893" y="98806"/>
                  </a:moveTo>
                  <a:lnTo>
                    <a:pt x="16510" y="98806"/>
                  </a:lnTo>
                  <a:lnTo>
                    <a:pt x="3302" y="88900"/>
                  </a:lnTo>
                  <a:cubicBezTo>
                    <a:pt x="7493" y="83185"/>
                    <a:pt x="14986" y="80899"/>
                    <a:pt x="21717" y="83185"/>
                  </a:cubicBezTo>
                  <a:cubicBezTo>
                    <a:pt x="28448" y="85471"/>
                    <a:pt x="33020" y="91694"/>
                    <a:pt x="33020" y="98806"/>
                  </a:cubicBezTo>
                  <a:cubicBezTo>
                    <a:pt x="33020" y="135255"/>
                    <a:pt x="62484" y="164719"/>
                    <a:pt x="98933" y="164719"/>
                  </a:cubicBezTo>
                  <a:cubicBezTo>
                    <a:pt x="135382" y="164719"/>
                    <a:pt x="164846" y="135255"/>
                    <a:pt x="164846" y="98806"/>
                  </a:cubicBezTo>
                  <a:lnTo>
                    <a:pt x="181356" y="98806"/>
                  </a:lnTo>
                  <a:lnTo>
                    <a:pt x="164846" y="98806"/>
                  </a:lnTo>
                  <a:cubicBezTo>
                    <a:pt x="164846" y="62357"/>
                    <a:pt x="135382" y="32893"/>
                    <a:pt x="98933" y="32893"/>
                  </a:cubicBezTo>
                  <a:lnTo>
                    <a:pt x="98933" y="16510"/>
                  </a:lnTo>
                  <a:lnTo>
                    <a:pt x="98933" y="33020"/>
                  </a:lnTo>
                  <a:cubicBezTo>
                    <a:pt x="62484" y="33020"/>
                    <a:pt x="33020" y="62484"/>
                    <a:pt x="33020" y="989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4" id="1144"/>
          <p:cNvGrpSpPr/>
          <p:nvPr/>
        </p:nvGrpSpPr>
        <p:grpSpPr>
          <a:xfrm rot="0">
            <a:off x="11814134" y="8008115"/>
            <a:ext cx="329441" cy="178451"/>
            <a:chOff x="0" y="0"/>
            <a:chExt cx="439255" cy="237934"/>
          </a:xfrm>
        </p:grpSpPr>
        <p:sp>
          <p:nvSpPr>
            <p:cNvPr name="Freeform 1145" id="1145"/>
            <p:cNvSpPr/>
            <p:nvPr/>
          </p:nvSpPr>
          <p:spPr>
            <a:xfrm flipH="false" flipV="false" rot="0">
              <a:off x="0" y="0"/>
              <a:ext cx="439255" cy="237930"/>
            </a:xfrm>
            <a:custGeom>
              <a:avLst/>
              <a:gdLst/>
              <a:ahLst/>
              <a:cxnLst/>
              <a:rect r="r" b="b" t="t" l="l"/>
              <a:pathLst>
                <a:path h="237930" w="439255">
                  <a:moveTo>
                    <a:pt x="0" y="0"/>
                  </a:moveTo>
                  <a:lnTo>
                    <a:pt x="439255" y="0"/>
                  </a:lnTo>
                  <a:lnTo>
                    <a:pt x="43925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9" t="0" r="-19499" b="-1"/>
              </a:stretch>
            </a:blipFill>
          </p:spPr>
        </p:sp>
        <p:sp>
          <p:nvSpPr>
            <p:cNvPr name="TextBox 1146" id="1146"/>
            <p:cNvSpPr txBox="true"/>
            <p:nvPr/>
          </p:nvSpPr>
          <p:spPr>
            <a:xfrm>
              <a:off x="0" y="-9525"/>
              <a:ext cx="43925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4.6</a:t>
              </a:r>
            </a:p>
          </p:txBody>
        </p:sp>
      </p:grpSp>
      <p:grpSp>
        <p:nvGrpSpPr>
          <p:cNvPr name="Group 1147" id="1147"/>
          <p:cNvGrpSpPr/>
          <p:nvPr/>
        </p:nvGrpSpPr>
        <p:grpSpPr>
          <a:xfrm rot="0">
            <a:off x="11882771" y="9773431"/>
            <a:ext cx="192176" cy="192176"/>
            <a:chOff x="0" y="0"/>
            <a:chExt cx="256235" cy="256235"/>
          </a:xfrm>
        </p:grpSpPr>
        <p:sp>
          <p:nvSpPr>
            <p:cNvPr name="Freeform 1148" id="1148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149" id="1149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</p:txBody>
        </p:sp>
      </p:grpSp>
      <p:grpSp>
        <p:nvGrpSpPr>
          <p:cNvPr name="Group 1150" id="1150"/>
          <p:cNvGrpSpPr/>
          <p:nvPr/>
        </p:nvGrpSpPr>
        <p:grpSpPr>
          <a:xfrm rot="0">
            <a:off x="6511042" y="9745970"/>
            <a:ext cx="5467807" cy="8239"/>
            <a:chOff x="0" y="0"/>
            <a:chExt cx="7290410" cy="10986"/>
          </a:xfrm>
        </p:grpSpPr>
        <p:sp>
          <p:nvSpPr>
            <p:cNvPr name="Freeform 1151" id="1151"/>
            <p:cNvSpPr/>
            <p:nvPr/>
          </p:nvSpPr>
          <p:spPr>
            <a:xfrm flipH="false" flipV="false" rot="0">
              <a:off x="0" y="0"/>
              <a:ext cx="7290435" cy="10922"/>
            </a:xfrm>
            <a:custGeom>
              <a:avLst/>
              <a:gdLst/>
              <a:ahLst/>
              <a:cxnLst/>
              <a:rect r="r" b="b" t="t" l="l"/>
              <a:pathLst>
                <a:path h="10922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10922"/>
                  </a:lnTo>
                  <a:lnTo>
                    <a:pt x="0" y="10922"/>
                  </a:lnTo>
                  <a:close/>
                </a:path>
              </a:pathLst>
            </a:custGeom>
            <a:solidFill>
              <a:srgbClr val="AACCBB"/>
            </a:solidFill>
          </p:spPr>
        </p:sp>
      </p:grpSp>
      <p:grpSp>
        <p:nvGrpSpPr>
          <p:cNvPr name="Group 1152" id="1152"/>
          <p:cNvGrpSpPr/>
          <p:nvPr/>
        </p:nvGrpSpPr>
        <p:grpSpPr>
          <a:xfrm rot="0">
            <a:off x="6277689" y="9828333"/>
            <a:ext cx="5742346" cy="192176"/>
            <a:chOff x="0" y="0"/>
            <a:chExt cx="7656462" cy="256235"/>
          </a:xfrm>
        </p:grpSpPr>
        <p:sp>
          <p:nvSpPr>
            <p:cNvPr name="Freeform 1153" id="1153"/>
            <p:cNvSpPr/>
            <p:nvPr/>
          </p:nvSpPr>
          <p:spPr>
            <a:xfrm flipH="false" flipV="false" rot="0">
              <a:off x="0" y="0"/>
              <a:ext cx="7656461" cy="256232"/>
            </a:xfrm>
            <a:custGeom>
              <a:avLst/>
              <a:gdLst/>
              <a:ahLst/>
              <a:cxnLst/>
              <a:rect r="r" b="b" t="t" l="l"/>
              <a:pathLst>
                <a:path h="256232" w="7656461">
                  <a:moveTo>
                    <a:pt x="0" y="0"/>
                  </a:moveTo>
                  <a:lnTo>
                    <a:pt x="7656461" y="0"/>
                  </a:lnTo>
                  <a:lnTo>
                    <a:pt x="765646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230" r="0" b="-532232"/>
              </a:stretch>
            </a:blipFill>
          </p:spPr>
        </p:sp>
        <p:sp>
          <p:nvSpPr>
            <p:cNvPr name="TextBox 1154" id="1154"/>
            <p:cNvSpPr txBox="true"/>
            <p:nvPr/>
          </p:nvSpPr>
          <p:spPr>
            <a:xfrm>
              <a:off x="0" y="-19050"/>
              <a:ext cx="7656462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i="true">
                  <a:solidFill>
                    <a:srgbClr val="7777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4.6/5 in Dec — consistent quality ↑</a:t>
              </a:r>
            </a:p>
          </p:txBody>
        </p:sp>
      </p:grpSp>
      <p:grpSp>
        <p:nvGrpSpPr>
          <p:cNvPr name="Group 1155" id="1155"/>
          <p:cNvGrpSpPr/>
          <p:nvPr/>
        </p:nvGrpSpPr>
        <p:grpSpPr>
          <a:xfrm rot="0">
            <a:off x="12219927" y="7479640"/>
            <a:ext cx="5891622" cy="2574331"/>
            <a:chOff x="0" y="0"/>
            <a:chExt cx="7855496" cy="3432442"/>
          </a:xfrm>
        </p:grpSpPr>
        <p:sp>
          <p:nvSpPr>
            <p:cNvPr name="Freeform 1156" id="1156"/>
            <p:cNvSpPr/>
            <p:nvPr/>
          </p:nvSpPr>
          <p:spPr>
            <a:xfrm flipH="false" flipV="false" rot="0">
              <a:off x="8001" y="8001"/>
              <a:ext cx="783945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3416427"/>
                  </a:lnTo>
                  <a:lnTo>
                    <a:pt x="0" y="3416427"/>
                  </a:lnTo>
                  <a:close/>
                </a:path>
              </a:pathLst>
            </a:custGeom>
            <a:solidFill>
              <a:srgbClr val="F6FDF8"/>
            </a:solidFill>
          </p:spPr>
        </p:sp>
        <p:sp>
          <p:nvSpPr>
            <p:cNvPr name="Freeform 1157" id="1157"/>
            <p:cNvSpPr/>
            <p:nvPr/>
          </p:nvSpPr>
          <p:spPr>
            <a:xfrm flipH="false" flipV="false" rot="0">
              <a:off x="0" y="0"/>
              <a:ext cx="7855458" cy="3432429"/>
            </a:xfrm>
            <a:custGeom>
              <a:avLst/>
              <a:gdLst/>
              <a:ahLst/>
              <a:cxnLst/>
              <a:rect r="r" b="b" t="t" l="l"/>
              <a:pathLst>
                <a:path h="3432429" w="7855458">
                  <a:moveTo>
                    <a:pt x="8001" y="0"/>
                  </a:moveTo>
                  <a:lnTo>
                    <a:pt x="7847457" y="0"/>
                  </a:lnTo>
                  <a:cubicBezTo>
                    <a:pt x="7851901" y="0"/>
                    <a:pt x="7855458" y="3556"/>
                    <a:pt x="7855458" y="8001"/>
                  </a:cubicBezTo>
                  <a:lnTo>
                    <a:pt x="7855458" y="3424428"/>
                  </a:lnTo>
                  <a:cubicBezTo>
                    <a:pt x="7855458" y="3428873"/>
                    <a:pt x="7851901" y="3432429"/>
                    <a:pt x="7847457" y="3432429"/>
                  </a:cubicBezTo>
                  <a:lnTo>
                    <a:pt x="8001" y="3432429"/>
                  </a:lnTo>
                  <a:cubicBezTo>
                    <a:pt x="3556" y="3432429"/>
                    <a:pt x="0" y="3428873"/>
                    <a:pt x="0" y="3424428"/>
                  </a:cubicBezTo>
                  <a:lnTo>
                    <a:pt x="0" y="8001"/>
                  </a:lnTo>
                  <a:cubicBezTo>
                    <a:pt x="0" y="3556"/>
                    <a:pt x="3556" y="0"/>
                    <a:pt x="8001" y="0"/>
                  </a:cubicBezTo>
                  <a:moveTo>
                    <a:pt x="8001" y="16002"/>
                  </a:moveTo>
                  <a:lnTo>
                    <a:pt x="8001" y="8001"/>
                  </a:lnTo>
                  <a:lnTo>
                    <a:pt x="16002" y="8001"/>
                  </a:lnTo>
                  <a:lnTo>
                    <a:pt x="16002" y="3424428"/>
                  </a:lnTo>
                  <a:lnTo>
                    <a:pt x="8001" y="3424428"/>
                  </a:lnTo>
                  <a:lnTo>
                    <a:pt x="8001" y="3416427"/>
                  </a:lnTo>
                  <a:lnTo>
                    <a:pt x="7847457" y="3416427"/>
                  </a:lnTo>
                  <a:lnTo>
                    <a:pt x="7847457" y="3424428"/>
                  </a:lnTo>
                  <a:lnTo>
                    <a:pt x="7839456" y="3424428"/>
                  </a:lnTo>
                  <a:lnTo>
                    <a:pt x="7839456" y="8001"/>
                  </a:lnTo>
                  <a:lnTo>
                    <a:pt x="7847457" y="8001"/>
                  </a:lnTo>
                  <a:lnTo>
                    <a:pt x="7847457" y="16002"/>
                  </a:lnTo>
                  <a:lnTo>
                    <a:pt x="8001" y="16002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1158" id="1158"/>
          <p:cNvGrpSpPr/>
          <p:nvPr/>
        </p:nvGrpSpPr>
        <p:grpSpPr>
          <a:xfrm rot="0">
            <a:off x="12225938" y="7485640"/>
            <a:ext cx="5879611" cy="356892"/>
            <a:chOff x="0" y="0"/>
            <a:chExt cx="7839481" cy="475856"/>
          </a:xfrm>
        </p:grpSpPr>
        <p:sp>
          <p:nvSpPr>
            <p:cNvPr name="Freeform 1159" id="1159"/>
            <p:cNvSpPr/>
            <p:nvPr/>
          </p:nvSpPr>
          <p:spPr>
            <a:xfrm flipH="false" flipV="false" rot="0">
              <a:off x="0" y="0"/>
              <a:ext cx="7839456" cy="475869"/>
            </a:xfrm>
            <a:custGeom>
              <a:avLst/>
              <a:gdLst/>
              <a:ahLst/>
              <a:cxnLst/>
              <a:rect r="r" b="b" t="t" l="l"/>
              <a:pathLst>
                <a:path h="475869" w="7839456">
                  <a:moveTo>
                    <a:pt x="0" y="0"/>
                  </a:moveTo>
                  <a:lnTo>
                    <a:pt x="7839456" y="0"/>
                  </a:lnTo>
                  <a:lnTo>
                    <a:pt x="7839456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160" id="1160"/>
          <p:cNvGrpSpPr/>
          <p:nvPr/>
        </p:nvGrpSpPr>
        <p:grpSpPr>
          <a:xfrm rot="0">
            <a:off x="12335751" y="7540542"/>
            <a:ext cx="5714895" cy="274539"/>
            <a:chOff x="0" y="0"/>
            <a:chExt cx="7619860" cy="366052"/>
          </a:xfrm>
        </p:grpSpPr>
        <p:sp>
          <p:nvSpPr>
            <p:cNvPr name="Freeform 1161" id="1161"/>
            <p:cNvSpPr/>
            <p:nvPr/>
          </p:nvSpPr>
          <p:spPr>
            <a:xfrm flipH="false" flipV="false" rot="0">
              <a:off x="0" y="0"/>
              <a:ext cx="7619857" cy="366046"/>
            </a:xfrm>
            <a:custGeom>
              <a:avLst/>
              <a:gdLst/>
              <a:ahLst/>
              <a:cxnLst/>
              <a:rect r="r" b="b" t="t" l="l"/>
              <a:pathLst>
                <a:path h="366046" w="7619857">
                  <a:moveTo>
                    <a:pt x="0" y="0"/>
                  </a:moveTo>
                  <a:lnTo>
                    <a:pt x="7619857" y="0"/>
                  </a:lnTo>
                  <a:lnTo>
                    <a:pt x="761985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12" r="0" b="-355614"/>
              </a:stretch>
            </a:blipFill>
          </p:spPr>
        </p:sp>
        <p:sp>
          <p:nvSpPr>
            <p:cNvPr name="TextBox 1162" id="1162"/>
            <p:cNvSpPr txBox="true"/>
            <p:nvPr/>
          </p:nvSpPr>
          <p:spPr>
            <a:xfrm>
              <a:off x="0" y="-19050"/>
              <a:ext cx="7619860" cy="385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🤝  New Partner Sign-ups  —  Jan–Dec 2024</a:t>
              </a:r>
            </a:p>
          </p:txBody>
        </p:sp>
      </p:grpSp>
      <p:grpSp>
        <p:nvGrpSpPr>
          <p:cNvPr name="Group 1163" id="1163"/>
          <p:cNvGrpSpPr/>
          <p:nvPr/>
        </p:nvGrpSpPr>
        <p:grpSpPr>
          <a:xfrm rot="0">
            <a:off x="12527928" y="9304430"/>
            <a:ext cx="5467807" cy="5486"/>
            <a:chOff x="0" y="0"/>
            <a:chExt cx="7290410" cy="7315"/>
          </a:xfrm>
        </p:grpSpPr>
        <p:sp>
          <p:nvSpPr>
            <p:cNvPr name="Freeform 1164" id="1164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165" id="1165"/>
          <p:cNvGrpSpPr/>
          <p:nvPr/>
        </p:nvGrpSpPr>
        <p:grpSpPr>
          <a:xfrm rot="0">
            <a:off x="12239663" y="9180890"/>
            <a:ext cx="247079" cy="178451"/>
            <a:chOff x="0" y="0"/>
            <a:chExt cx="329438" cy="237934"/>
          </a:xfrm>
        </p:grpSpPr>
        <p:sp>
          <p:nvSpPr>
            <p:cNvPr name="Freeform 1166" id="1166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167" id="1167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68</a:t>
              </a:r>
            </a:p>
          </p:txBody>
        </p:sp>
      </p:grpSp>
      <p:grpSp>
        <p:nvGrpSpPr>
          <p:cNvPr name="Group 1168" id="1168"/>
          <p:cNvGrpSpPr/>
          <p:nvPr/>
        </p:nvGrpSpPr>
        <p:grpSpPr>
          <a:xfrm rot="0">
            <a:off x="12527928" y="8862889"/>
            <a:ext cx="5467807" cy="5486"/>
            <a:chOff x="0" y="0"/>
            <a:chExt cx="7290410" cy="7315"/>
          </a:xfrm>
        </p:grpSpPr>
        <p:sp>
          <p:nvSpPr>
            <p:cNvPr name="Freeform 1169" id="1169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170" id="1170"/>
          <p:cNvGrpSpPr/>
          <p:nvPr/>
        </p:nvGrpSpPr>
        <p:grpSpPr>
          <a:xfrm rot="0">
            <a:off x="12239663" y="8739349"/>
            <a:ext cx="247079" cy="178451"/>
            <a:chOff x="0" y="0"/>
            <a:chExt cx="329438" cy="237934"/>
          </a:xfrm>
        </p:grpSpPr>
        <p:sp>
          <p:nvSpPr>
            <p:cNvPr name="Freeform 1171" id="1171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172" id="1172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135</a:t>
              </a:r>
            </a:p>
          </p:txBody>
        </p:sp>
      </p:grpSp>
      <p:grpSp>
        <p:nvGrpSpPr>
          <p:cNvPr name="Group 1173" id="1173"/>
          <p:cNvGrpSpPr/>
          <p:nvPr/>
        </p:nvGrpSpPr>
        <p:grpSpPr>
          <a:xfrm rot="0">
            <a:off x="12527928" y="8421348"/>
            <a:ext cx="5467807" cy="5486"/>
            <a:chOff x="0" y="0"/>
            <a:chExt cx="7290410" cy="7315"/>
          </a:xfrm>
        </p:grpSpPr>
        <p:sp>
          <p:nvSpPr>
            <p:cNvPr name="Freeform 1174" id="1174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175" id="1175"/>
          <p:cNvGrpSpPr/>
          <p:nvPr/>
        </p:nvGrpSpPr>
        <p:grpSpPr>
          <a:xfrm rot="0">
            <a:off x="12239663" y="8297809"/>
            <a:ext cx="247079" cy="178451"/>
            <a:chOff x="0" y="0"/>
            <a:chExt cx="329438" cy="237934"/>
          </a:xfrm>
        </p:grpSpPr>
        <p:sp>
          <p:nvSpPr>
            <p:cNvPr name="Freeform 1176" id="1176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177" id="1177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</a:t>
              </a:r>
            </a:p>
          </p:txBody>
        </p:sp>
      </p:grpSp>
      <p:grpSp>
        <p:nvGrpSpPr>
          <p:cNvPr name="Group 1178" id="1178"/>
          <p:cNvGrpSpPr/>
          <p:nvPr/>
        </p:nvGrpSpPr>
        <p:grpSpPr>
          <a:xfrm rot="0">
            <a:off x="12527928" y="7979807"/>
            <a:ext cx="5467807" cy="5486"/>
            <a:chOff x="0" y="0"/>
            <a:chExt cx="7290410" cy="7315"/>
          </a:xfrm>
        </p:grpSpPr>
        <p:sp>
          <p:nvSpPr>
            <p:cNvPr name="Freeform 1179" id="1179"/>
            <p:cNvSpPr/>
            <p:nvPr/>
          </p:nvSpPr>
          <p:spPr>
            <a:xfrm flipH="false" flipV="false" rot="0">
              <a:off x="0" y="0"/>
              <a:ext cx="7290435" cy="7366"/>
            </a:xfrm>
            <a:custGeom>
              <a:avLst/>
              <a:gdLst/>
              <a:ahLst/>
              <a:cxnLst/>
              <a:rect r="r" b="b" t="t" l="l"/>
              <a:pathLst>
                <a:path h="7366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7366"/>
                  </a:lnTo>
                  <a:lnTo>
                    <a:pt x="0" y="7366"/>
                  </a:lnTo>
                  <a:close/>
                </a:path>
              </a:pathLst>
            </a:custGeom>
            <a:solidFill>
              <a:srgbClr val="D8EEE2"/>
            </a:solidFill>
          </p:spPr>
        </p:sp>
      </p:grpSp>
      <p:grpSp>
        <p:nvGrpSpPr>
          <p:cNvPr name="Group 1180" id="1180"/>
          <p:cNvGrpSpPr/>
          <p:nvPr/>
        </p:nvGrpSpPr>
        <p:grpSpPr>
          <a:xfrm rot="0">
            <a:off x="12239663" y="7856258"/>
            <a:ext cx="247079" cy="178451"/>
            <a:chOff x="0" y="0"/>
            <a:chExt cx="329438" cy="237934"/>
          </a:xfrm>
        </p:grpSpPr>
        <p:sp>
          <p:nvSpPr>
            <p:cNvPr name="Freeform 1181" id="1181"/>
            <p:cNvSpPr/>
            <p:nvPr/>
          </p:nvSpPr>
          <p:spPr>
            <a:xfrm flipH="false" flipV="false" rot="0">
              <a:off x="0" y="0"/>
              <a:ext cx="329441" cy="237930"/>
            </a:xfrm>
            <a:custGeom>
              <a:avLst/>
              <a:gdLst/>
              <a:ahLst/>
              <a:cxnLst/>
              <a:rect r="r" b="b" t="t" l="l"/>
              <a:pathLst>
                <a:path h="23793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666" t="0" r="-42664" b="-1"/>
              </a:stretch>
            </a:blipFill>
          </p:spPr>
        </p:sp>
        <p:sp>
          <p:nvSpPr>
            <p:cNvPr name="TextBox 1182" id="1182"/>
            <p:cNvSpPr txBox="true"/>
            <p:nvPr/>
          </p:nvSpPr>
          <p:spPr>
            <a:xfrm>
              <a:off x="0" y="-9525"/>
              <a:ext cx="329438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270</a:t>
              </a:r>
            </a:p>
          </p:txBody>
        </p:sp>
      </p:grpSp>
      <p:grpSp>
        <p:nvGrpSpPr>
          <p:cNvPr name="Group 1183" id="1183"/>
          <p:cNvGrpSpPr/>
          <p:nvPr/>
        </p:nvGrpSpPr>
        <p:grpSpPr>
          <a:xfrm rot="0">
            <a:off x="12677165" y="8961006"/>
            <a:ext cx="293970" cy="784965"/>
            <a:chOff x="0" y="0"/>
            <a:chExt cx="391960" cy="1046620"/>
          </a:xfrm>
        </p:grpSpPr>
        <p:sp>
          <p:nvSpPr>
            <p:cNvPr name="Freeform 1184" id="1184"/>
            <p:cNvSpPr/>
            <p:nvPr/>
          </p:nvSpPr>
          <p:spPr>
            <a:xfrm flipH="false" flipV="false" rot="0">
              <a:off x="0" y="0"/>
              <a:ext cx="391922" cy="1046607"/>
            </a:xfrm>
            <a:custGeom>
              <a:avLst/>
              <a:gdLst/>
              <a:ahLst/>
              <a:cxnLst/>
              <a:rect r="r" b="b" t="t" l="l"/>
              <a:pathLst>
                <a:path h="1046607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046607"/>
                  </a:lnTo>
                  <a:lnTo>
                    <a:pt x="0" y="1046607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185" id="1185"/>
          <p:cNvGrpSpPr/>
          <p:nvPr/>
        </p:nvGrpSpPr>
        <p:grpSpPr>
          <a:xfrm rot="0">
            <a:off x="13120383" y="8862889"/>
            <a:ext cx="293970" cy="883082"/>
            <a:chOff x="0" y="0"/>
            <a:chExt cx="391960" cy="1177442"/>
          </a:xfrm>
        </p:grpSpPr>
        <p:sp>
          <p:nvSpPr>
            <p:cNvPr name="Freeform 1186" id="1186"/>
            <p:cNvSpPr/>
            <p:nvPr/>
          </p:nvSpPr>
          <p:spPr>
            <a:xfrm flipH="false" flipV="false" rot="0">
              <a:off x="0" y="0"/>
              <a:ext cx="391922" cy="1177417"/>
            </a:xfrm>
            <a:custGeom>
              <a:avLst/>
              <a:gdLst/>
              <a:ahLst/>
              <a:cxnLst/>
              <a:rect r="r" b="b" t="t" l="l"/>
              <a:pathLst>
                <a:path h="1177417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177417"/>
                  </a:lnTo>
                  <a:lnTo>
                    <a:pt x="0" y="1177417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187" id="1187"/>
          <p:cNvGrpSpPr/>
          <p:nvPr/>
        </p:nvGrpSpPr>
        <p:grpSpPr>
          <a:xfrm rot="0">
            <a:off x="13563600" y="8777849"/>
            <a:ext cx="293970" cy="968121"/>
            <a:chOff x="0" y="0"/>
            <a:chExt cx="391960" cy="1290828"/>
          </a:xfrm>
        </p:grpSpPr>
        <p:sp>
          <p:nvSpPr>
            <p:cNvPr name="Freeform 1188" id="1188"/>
            <p:cNvSpPr/>
            <p:nvPr/>
          </p:nvSpPr>
          <p:spPr>
            <a:xfrm flipH="false" flipV="false" rot="0">
              <a:off x="0" y="0"/>
              <a:ext cx="391922" cy="1290828"/>
            </a:xfrm>
            <a:custGeom>
              <a:avLst/>
              <a:gdLst/>
              <a:ahLst/>
              <a:cxnLst/>
              <a:rect r="r" b="b" t="t" l="l"/>
              <a:pathLst>
                <a:path h="1290828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290828"/>
                  </a:lnTo>
                  <a:lnTo>
                    <a:pt x="0" y="1290828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189" id="1189"/>
          <p:cNvGrpSpPr/>
          <p:nvPr/>
        </p:nvGrpSpPr>
        <p:grpSpPr>
          <a:xfrm rot="0">
            <a:off x="13549865" y="8599399"/>
            <a:ext cx="321421" cy="164725"/>
            <a:chOff x="0" y="0"/>
            <a:chExt cx="428561" cy="219634"/>
          </a:xfrm>
        </p:grpSpPr>
        <p:sp>
          <p:nvSpPr>
            <p:cNvPr name="Freeform 1190" id="1190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1191" id="1191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148</a:t>
              </a:r>
            </a:p>
          </p:txBody>
        </p:sp>
      </p:grpSp>
      <p:grpSp>
        <p:nvGrpSpPr>
          <p:cNvPr name="Group 1192" id="1192"/>
          <p:cNvGrpSpPr/>
          <p:nvPr/>
        </p:nvGrpSpPr>
        <p:grpSpPr>
          <a:xfrm rot="0">
            <a:off x="14006808" y="8699354"/>
            <a:ext cx="293970" cy="1046617"/>
            <a:chOff x="0" y="0"/>
            <a:chExt cx="391960" cy="1395489"/>
          </a:xfrm>
        </p:grpSpPr>
        <p:sp>
          <p:nvSpPr>
            <p:cNvPr name="Freeform 1193" id="1193"/>
            <p:cNvSpPr/>
            <p:nvPr/>
          </p:nvSpPr>
          <p:spPr>
            <a:xfrm flipH="false" flipV="false" rot="0">
              <a:off x="0" y="0"/>
              <a:ext cx="391922" cy="1395476"/>
            </a:xfrm>
            <a:custGeom>
              <a:avLst/>
              <a:gdLst/>
              <a:ahLst/>
              <a:cxnLst/>
              <a:rect r="r" b="b" t="t" l="l"/>
              <a:pathLst>
                <a:path h="1395476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395476"/>
                  </a:lnTo>
                  <a:lnTo>
                    <a:pt x="0" y="1395476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194" id="1194"/>
          <p:cNvGrpSpPr/>
          <p:nvPr/>
        </p:nvGrpSpPr>
        <p:grpSpPr>
          <a:xfrm rot="0">
            <a:off x="14450025" y="8601237"/>
            <a:ext cx="293970" cy="1144743"/>
            <a:chOff x="0" y="0"/>
            <a:chExt cx="391960" cy="1526324"/>
          </a:xfrm>
        </p:grpSpPr>
        <p:sp>
          <p:nvSpPr>
            <p:cNvPr name="Freeform 1195" id="1195"/>
            <p:cNvSpPr/>
            <p:nvPr/>
          </p:nvSpPr>
          <p:spPr>
            <a:xfrm flipH="false" flipV="false" rot="0">
              <a:off x="0" y="0"/>
              <a:ext cx="391922" cy="1526286"/>
            </a:xfrm>
            <a:custGeom>
              <a:avLst/>
              <a:gdLst/>
              <a:ahLst/>
              <a:cxnLst/>
              <a:rect r="r" b="b" t="t" l="l"/>
              <a:pathLst>
                <a:path h="1526286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526286"/>
                  </a:lnTo>
                  <a:lnTo>
                    <a:pt x="0" y="1526286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196" id="1196"/>
          <p:cNvGrpSpPr/>
          <p:nvPr/>
        </p:nvGrpSpPr>
        <p:grpSpPr>
          <a:xfrm rot="0">
            <a:off x="14893233" y="8535819"/>
            <a:ext cx="293970" cy="1210151"/>
            <a:chOff x="0" y="0"/>
            <a:chExt cx="391960" cy="1613535"/>
          </a:xfrm>
        </p:grpSpPr>
        <p:sp>
          <p:nvSpPr>
            <p:cNvPr name="Freeform 1197" id="1197"/>
            <p:cNvSpPr/>
            <p:nvPr/>
          </p:nvSpPr>
          <p:spPr>
            <a:xfrm flipH="false" flipV="false" rot="0">
              <a:off x="0" y="0"/>
              <a:ext cx="391922" cy="1613535"/>
            </a:xfrm>
            <a:custGeom>
              <a:avLst/>
              <a:gdLst/>
              <a:ahLst/>
              <a:cxnLst/>
              <a:rect r="r" b="b" t="t" l="l"/>
              <a:pathLst>
                <a:path h="1613535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613535"/>
                  </a:lnTo>
                  <a:lnTo>
                    <a:pt x="0" y="161353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198" id="1198"/>
          <p:cNvGrpSpPr/>
          <p:nvPr/>
        </p:nvGrpSpPr>
        <p:grpSpPr>
          <a:xfrm rot="0">
            <a:off x="14879507" y="8357368"/>
            <a:ext cx="321421" cy="164725"/>
            <a:chOff x="0" y="0"/>
            <a:chExt cx="428561" cy="219634"/>
          </a:xfrm>
        </p:grpSpPr>
        <p:sp>
          <p:nvSpPr>
            <p:cNvPr name="Freeform 1199" id="1199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1200" id="1200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185</a:t>
              </a:r>
            </a:p>
          </p:txBody>
        </p:sp>
      </p:grpSp>
      <p:grpSp>
        <p:nvGrpSpPr>
          <p:cNvPr name="Group 1201" id="1201"/>
          <p:cNvGrpSpPr/>
          <p:nvPr/>
        </p:nvGrpSpPr>
        <p:grpSpPr>
          <a:xfrm rot="0">
            <a:off x="15336450" y="8437702"/>
            <a:ext cx="293970" cy="1308278"/>
            <a:chOff x="0" y="0"/>
            <a:chExt cx="391960" cy="1744370"/>
          </a:xfrm>
        </p:grpSpPr>
        <p:sp>
          <p:nvSpPr>
            <p:cNvPr name="Freeform 1202" id="1202"/>
            <p:cNvSpPr/>
            <p:nvPr/>
          </p:nvSpPr>
          <p:spPr>
            <a:xfrm flipH="false" flipV="false" rot="0">
              <a:off x="0" y="0"/>
              <a:ext cx="391922" cy="1744345"/>
            </a:xfrm>
            <a:custGeom>
              <a:avLst/>
              <a:gdLst/>
              <a:ahLst/>
              <a:cxnLst/>
              <a:rect r="r" b="b" t="t" l="l"/>
              <a:pathLst>
                <a:path h="1744345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744345"/>
                  </a:lnTo>
                  <a:lnTo>
                    <a:pt x="0" y="174434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203" id="1203"/>
          <p:cNvGrpSpPr/>
          <p:nvPr/>
        </p:nvGrpSpPr>
        <p:grpSpPr>
          <a:xfrm rot="0">
            <a:off x="15779667" y="8372284"/>
            <a:ext cx="293970" cy="1373686"/>
            <a:chOff x="0" y="0"/>
            <a:chExt cx="391960" cy="1831581"/>
          </a:xfrm>
        </p:grpSpPr>
        <p:sp>
          <p:nvSpPr>
            <p:cNvPr name="Freeform 1204" id="1204"/>
            <p:cNvSpPr/>
            <p:nvPr/>
          </p:nvSpPr>
          <p:spPr>
            <a:xfrm flipH="false" flipV="false" rot="0">
              <a:off x="0" y="0"/>
              <a:ext cx="391922" cy="1831594"/>
            </a:xfrm>
            <a:custGeom>
              <a:avLst/>
              <a:gdLst/>
              <a:ahLst/>
              <a:cxnLst/>
              <a:rect r="r" b="b" t="t" l="l"/>
              <a:pathLst>
                <a:path h="1831594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831594"/>
                  </a:lnTo>
                  <a:lnTo>
                    <a:pt x="0" y="1831594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205" id="1205"/>
          <p:cNvGrpSpPr/>
          <p:nvPr/>
        </p:nvGrpSpPr>
        <p:grpSpPr>
          <a:xfrm rot="0">
            <a:off x="16222875" y="8274167"/>
            <a:ext cx="293970" cy="1471813"/>
            <a:chOff x="0" y="0"/>
            <a:chExt cx="391960" cy="1962417"/>
          </a:xfrm>
        </p:grpSpPr>
        <p:sp>
          <p:nvSpPr>
            <p:cNvPr name="Freeform 1206" id="1206"/>
            <p:cNvSpPr/>
            <p:nvPr/>
          </p:nvSpPr>
          <p:spPr>
            <a:xfrm flipH="false" flipV="false" rot="0">
              <a:off x="0" y="0"/>
              <a:ext cx="391922" cy="1962404"/>
            </a:xfrm>
            <a:custGeom>
              <a:avLst/>
              <a:gdLst/>
              <a:ahLst/>
              <a:cxnLst/>
              <a:rect r="r" b="b" t="t" l="l"/>
              <a:pathLst>
                <a:path h="1962404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1962404"/>
                  </a:lnTo>
                  <a:lnTo>
                    <a:pt x="0" y="1962404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207" id="1207"/>
          <p:cNvGrpSpPr/>
          <p:nvPr/>
        </p:nvGrpSpPr>
        <p:grpSpPr>
          <a:xfrm rot="0">
            <a:off x="16209150" y="8095717"/>
            <a:ext cx="321421" cy="164725"/>
            <a:chOff x="0" y="0"/>
            <a:chExt cx="428561" cy="219634"/>
          </a:xfrm>
        </p:grpSpPr>
        <p:sp>
          <p:nvSpPr>
            <p:cNvPr name="Freeform 1208" id="1208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1209" id="1209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225</a:t>
              </a:r>
            </a:p>
          </p:txBody>
        </p:sp>
      </p:grpSp>
      <p:grpSp>
        <p:nvGrpSpPr>
          <p:cNvPr name="Group 1210" id="1210"/>
          <p:cNvGrpSpPr/>
          <p:nvPr/>
        </p:nvGrpSpPr>
        <p:grpSpPr>
          <a:xfrm rot="0">
            <a:off x="16666093" y="8208750"/>
            <a:ext cx="293970" cy="1537221"/>
            <a:chOff x="0" y="0"/>
            <a:chExt cx="391960" cy="2049628"/>
          </a:xfrm>
        </p:grpSpPr>
        <p:sp>
          <p:nvSpPr>
            <p:cNvPr name="Freeform 1211" id="1211"/>
            <p:cNvSpPr/>
            <p:nvPr/>
          </p:nvSpPr>
          <p:spPr>
            <a:xfrm flipH="false" flipV="false" rot="0">
              <a:off x="0" y="0"/>
              <a:ext cx="391922" cy="2049653"/>
            </a:xfrm>
            <a:custGeom>
              <a:avLst/>
              <a:gdLst/>
              <a:ahLst/>
              <a:cxnLst/>
              <a:rect r="r" b="b" t="t" l="l"/>
              <a:pathLst>
                <a:path h="2049653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2049653"/>
                  </a:lnTo>
                  <a:lnTo>
                    <a:pt x="0" y="2049653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212" id="1212"/>
          <p:cNvGrpSpPr/>
          <p:nvPr/>
        </p:nvGrpSpPr>
        <p:grpSpPr>
          <a:xfrm rot="0">
            <a:off x="17109310" y="8123711"/>
            <a:ext cx="293970" cy="1622260"/>
            <a:chOff x="0" y="0"/>
            <a:chExt cx="391960" cy="2163013"/>
          </a:xfrm>
        </p:grpSpPr>
        <p:sp>
          <p:nvSpPr>
            <p:cNvPr name="Freeform 1213" id="1213"/>
            <p:cNvSpPr/>
            <p:nvPr/>
          </p:nvSpPr>
          <p:spPr>
            <a:xfrm flipH="false" flipV="false" rot="0">
              <a:off x="0" y="0"/>
              <a:ext cx="391922" cy="2163064"/>
            </a:xfrm>
            <a:custGeom>
              <a:avLst/>
              <a:gdLst/>
              <a:ahLst/>
              <a:cxnLst/>
              <a:rect r="r" b="b" t="t" l="l"/>
              <a:pathLst>
                <a:path h="2163064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2163064"/>
                  </a:lnTo>
                  <a:lnTo>
                    <a:pt x="0" y="2163064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214" id="1214"/>
          <p:cNvGrpSpPr/>
          <p:nvPr/>
        </p:nvGrpSpPr>
        <p:grpSpPr>
          <a:xfrm rot="0">
            <a:off x="17552518" y="7979807"/>
            <a:ext cx="293970" cy="1766173"/>
            <a:chOff x="0" y="0"/>
            <a:chExt cx="391960" cy="2354898"/>
          </a:xfrm>
        </p:grpSpPr>
        <p:sp>
          <p:nvSpPr>
            <p:cNvPr name="Freeform 1215" id="1215"/>
            <p:cNvSpPr/>
            <p:nvPr/>
          </p:nvSpPr>
          <p:spPr>
            <a:xfrm flipH="false" flipV="false" rot="0">
              <a:off x="0" y="0"/>
              <a:ext cx="391922" cy="2354834"/>
            </a:xfrm>
            <a:custGeom>
              <a:avLst/>
              <a:gdLst/>
              <a:ahLst/>
              <a:cxnLst/>
              <a:rect r="r" b="b" t="t" l="l"/>
              <a:pathLst>
                <a:path h="2354834" w="391922">
                  <a:moveTo>
                    <a:pt x="0" y="0"/>
                  </a:moveTo>
                  <a:lnTo>
                    <a:pt x="391922" y="0"/>
                  </a:lnTo>
                  <a:lnTo>
                    <a:pt x="391922" y="2354834"/>
                  </a:lnTo>
                  <a:lnTo>
                    <a:pt x="0" y="2354834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216" id="1216"/>
          <p:cNvGrpSpPr/>
          <p:nvPr/>
        </p:nvGrpSpPr>
        <p:grpSpPr>
          <a:xfrm rot="0">
            <a:off x="17538792" y="7801356"/>
            <a:ext cx="321421" cy="164725"/>
            <a:chOff x="0" y="0"/>
            <a:chExt cx="428561" cy="219634"/>
          </a:xfrm>
        </p:grpSpPr>
        <p:sp>
          <p:nvSpPr>
            <p:cNvPr name="Freeform 1217" id="1217"/>
            <p:cNvSpPr/>
            <p:nvPr/>
          </p:nvSpPr>
          <p:spPr>
            <a:xfrm flipH="false" flipV="false" rot="0">
              <a:off x="0" y="0"/>
              <a:ext cx="428561" cy="219628"/>
            </a:xfrm>
            <a:custGeom>
              <a:avLst/>
              <a:gdLst/>
              <a:ahLst/>
              <a:cxnLst/>
              <a:rect r="r" b="b" t="t" l="l"/>
              <a:pathLst>
                <a:path h="219628" w="428561">
                  <a:moveTo>
                    <a:pt x="0" y="0"/>
                  </a:moveTo>
                  <a:lnTo>
                    <a:pt x="428561" y="0"/>
                  </a:lnTo>
                  <a:lnTo>
                    <a:pt x="42856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754" t="0" r="-15754" b="-2"/>
              </a:stretch>
            </a:blipFill>
          </p:spPr>
        </p:sp>
        <p:sp>
          <p:nvSpPr>
            <p:cNvPr name="TextBox 1218" id="1218"/>
            <p:cNvSpPr txBox="true"/>
            <p:nvPr/>
          </p:nvSpPr>
          <p:spPr>
            <a:xfrm>
              <a:off x="0" y="-9525"/>
              <a:ext cx="428561" cy="229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270</a:t>
              </a:r>
            </a:p>
          </p:txBody>
        </p:sp>
      </p:grpSp>
      <p:grpSp>
        <p:nvGrpSpPr>
          <p:cNvPr name="Group 1219" id="1219"/>
          <p:cNvGrpSpPr/>
          <p:nvPr/>
        </p:nvGrpSpPr>
        <p:grpSpPr>
          <a:xfrm rot="0">
            <a:off x="12728067" y="9773431"/>
            <a:ext cx="192176" cy="192176"/>
            <a:chOff x="0" y="0"/>
            <a:chExt cx="256235" cy="256235"/>
          </a:xfrm>
        </p:grpSpPr>
        <p:sp>
          <p:nvSpPr>
            <p:cNvPr name="Freeform 1220" id="1220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21" id="1221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1222" id="1222"/>
          <p:cNvGrpSpPr/>
          <p:nvPr/>
        </p:nvGrpSpPr>
        <p:grpSpPr>
          <a:xfrm rot="0">
            <a:off x="13171284" y="9773431"/>
            <a:ext cx="192176" cy="192176"/>
            <a:chOff x="0" y="0"/>
            <a:chExt cx="256235" cy="256235"/>
          </a:xfrm>
        </p:grpSpPr>
        <p:sp>
          <p:nvSpPr>
            <p:cNvPr name="Freeform 1223" id="1223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24" id="1224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</a:p>
          </p:txBody>
        </p:sp>
      </p:grpSp>
      <p:grpSp>
        <p:nvGrpSpPr>
          <p:cNvPr name="Group 1225" id="1225"/>
          <p:cNvGrpSpPr/>
          <p:nvPr/>
        </p:nvGrpSpPr>
        <p:grpSpPr>
          <a:xfrm rot="0">
            <a:off x="13614492" y="9773431"/>
            <a:ext cx="192176" cy="192176"/>
            <a:chOff x="0" y="0"/>
            <a:chExt cx="256235" cy="256235"/>
          </a:xfrm>
        </p:grpSpPr>
        <p:sp>
          <p:nvSpPr>
            <p:cNvPr name="Freeform 1226" id="1226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27" id="1227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1228" id="1228"/>
          <p:cNvGrpSpPr/>
          <p:nvPr/>
        </p:nvGrpSpPr>
        <p:grpSpPr>
          <a:xfrm rot="0">
            <a:off x="14057709" y="9773431"/>
            <a:ext cx="192176" cy="192176"/>
            <a:chOff x="0" y="0"/>
            <a:chExt cx="256235" cy="256235"/>
          </a:xfrm>
        </p:grpSpPr>
        <p:sp>
          <p:nvSpPr>
            <p:cNvPr name="Freeform 1229" id="1229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30" id="1230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1231" id="1231"/>
          <p:cNvGrpSpPr/>
          <p:nvPr/>
        </p:nvGrpSpPr>
        <p:grpSpPr>
          <a:xfrm rot="0">
            <a:off x="14500917" y="9773431"/>
            <a:ext cx="192176" cy="192176"/>
            <a:chOff x="0" y="0"/>
            <a:chExt cx="256235" cy="256235"/>
          </a:xfrm>
        </p:grpSpPr>
        <p:sp>
          <p:nvSpPr>
            <p:cNvPr name="Freeform 1232" id="1232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33" id="1233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</a:p>
          </p:txBody>
        </p:sp>
      </p:grpSp>
      <p:grpSp>
        <p:nvGrpSpPr>
          <p:cNvPr name="Group 1234" id="1234"/>
          <p:cNvGrpSpPr/>
          <p:nvPr/>
        </p:nvGrpSpPr>
        <p:grpSpPr>
          <a:xfrm rot="0">
            <a:off x="14944134" y="9773431"/>
            <a:ext cx="192176" cy="192176"/>
            <a:chOff x="0" y="0"/>
            <a:chExt cx="256235" cy="256235"/>
          </a:xfrm>
        </p:grpSpPr>
        <p:sp>
          <p:nvSpPr>
            <p:cNvPr name="Freeform 1235" id="1235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36" id="1236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1237" id="1237"/>
          <p:cNvGrpSpPr/>
          <p:nvPr/>
        </p:nvGrpSpPr>
        <p:grpSpPr>
          <a:xfrm rot="0">
            <a:off x="15387352" y="9773431"/>
            <a:ext cx="192176" cy="192176"/>
            <a:chOff x="0" y="0"/>
            <a:chExt cx="256235" cy="256235"/>
          </a:xfrm>
        </p:grpSpPr>
        <p:sp>
          <p:nvSpPr>
            <p:cNvPr name="Freeform 1238" id="1238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39" id="1239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</a:t>
              </a:r>
            </a:p>
          </p:txBody>
        </p:sp>
      </p:grpSp>
      <p:grpSp>
        <p:nvGrpSpPr>
          <p:cNvPr name="Group 1240" id="1240"/>
          <p:cNvGrpSpPr/>
          <p:nvPr/>
        </p:nvGrpSpPr>
        <p:grpSpPr>
          <a:xfrm rot="0">
            <a:off x="15830560" y="9773431"/>
            <a:ext cx="192176" cy="192176"/>
            <a:chOff x="0" y="0"/>
            <a:chExt cx="256235" cy="256235"/>
          </a:xfrm>
        </p:grpSpPr>
        <p:sp>
          <p:nvSpPr>
            <p:cNvPr name="Freeform 1241" id="1241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42" id="1242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</a:p>
          </p:txBody>
        </p:sp>
      </p:grpSp>
      <p:grpSp>
        <p:nvGrpSpPr>
          <p:cNvPr name="Group 1243" id="1243"/>
          <p:cNvGrpSpPr/>
          <p:nvPr/>
        </p:nvGrpSpPr>
        <p:grpSpPr>
          <a:xfrm rot="0">
            <a:off x="16273777" y="9773431"/>
            <a:ext cx="192176" cy="192176"/>
            <a:chOff x="0" y="0"/>
            <a:chExt cx="256235" cy="256235"/>
          </a:xfrm>
        </p:grpSpPr>
        <p:sp>
          <p:nvSpPr>
            <p:cNvPr name="Freeform 1244" id="1244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45" id="1245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</a:p>
          </p:txBody>
        </p:sp>
      </p:grpSp>
      <p:grpSp>
        <p:nvGrpSpPr>
          <p:cNvPr name="Group 1246" id="1246"/>
          <p:cNvGrpSpPr/>
          <p:nvPr/>
        </p:nvGrpSpPr>
        <p:grpSpPr>
          <a:xfrm rot="0">
            <a:off x="16716994" y="9773431"/>
            <a:ext cx="192176" cy="192176"/>
            <a:chOff x="0" y="0"/>
            <a:chExt cx="256235" cy="256235"/>
          </a:xfrm>
        </p:grpSpPr>
        <p:sp>
          <p:nvSpPr>
            <p:cNvPr name="Freeform 1247" id="1247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48" id="1248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</a:p>
          </p:txBody>
        </p:sp>
      </p:grpSp>
      <p:grpSp>
        <p:nvGrpSpPr>
          <p:cNvPr name="Group 1249" id="1249"/>
          <p:cNvGrpSpPr/>
          <p:nvPr/>
        </p:nvGrpSpPr>
        <p:grpSpPr>
          <a:xfrm rot="0">
            <a:off x="17160202" y="9773431"/>
            <a:ext cx="192176" cy="192176"/>
            <a:chOff x="0" y="0"/>
            <a:chExt cx="256235" cy="256235"/>
          </a:xfrm>
        </p:grpSpPr>
        <p:sp>
          <p:nvSpPr>
            <p:cNvPr name="Freeform 1250" id="1250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51" id="1251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</a:t>
              </a:r>
            </a:p>
          </p:txBody>
        </p:sp>
      </p:grpSp>
      <p:grpSp>
        <p:nvGrpSpPr>
          <p:cNvPr name="Group 1252" id="1252"/>
          <p:cNvGrpSpPr/>
          <p:nvPr/>
        </p:nvGrpSpPr>
        <p:grpSpPr>
          <a:xfrm rot="0">
            <a:off x="17603419" y="9773431"/>
            <a:ext cx="192176" cy="192176"/>
            <a:chOff x="0" y="0"/>
            <a:chExt cx="256235" cy="256235"/>
          </a:xfrm>
        </p:grpSpPr>
        <p:sp>
          <p:nvSpPr>
            <p:cNvPr name="Freeform 1253" id="1253"/>
            <p:cNvSpPr/>
            <p:nvPr/>
          </p:nvSpPr>
          <p:spPr>
            <a:xfrm flipH="false" flipV="false" rot="0">
              <a:off x="0" y="0"/>
              <a:ext cx="256232" cy="256232"/>
            </a:xfrm>
            <a:custGeom>
              <a:avLst/>
              <a:gdLst/>
              <a:ahLst/>
              <a:cxnLst/>
              <a:rect r="r" b="b" t="t" l="l"/>
              <a:pathLst>
                <a:path h="256232" w="256232">
                  <a:moveTo>
                    <a:pt x="0" y="0"/>
                  </a:moveTo>
                  <a:lnTo>
                    <a:pt x="256232" y="0"/>
                  </a:lnTo>
                  <a:lnTo>
                    <a:pt x="256232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4" t="0" r="-78305" b="-1"/>
              </a:stretch>
            </a:blipFill>
          </p:spPr>
        </p:sp>
        <p:sp>
          <p:nvSpPr>
            <p:cNvPr name="TextBox 1254" id="1254"/>
            <p:cNvSpPr txBox="true"/>
            <p:nvPr/>
          </p:nvSpPr>
          <p:spPr>
            <a:xfrm>
              <a:off x="0" y="-9525"/>
              <a:ext cx="256235" cy="2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90"/>
                </a:lnSpc>
              </a:pPr>
              <a:r>
                <a:rPr lang="en-US" sz="825">
                  <a:solidFill>
                    <a:srgbClr val="7777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</a:p>
          </p:txBody>
        </p:sp>
      </p:grpSp>
      <p:grpSp>
        <p:nvGrpSpPr>
          <p:cNvPr name="Group 1255" id="1255"/>
          <p:cNvGrpSpPr/>
          <p:nvPr/>
        </p:nvGrpSpPr>
        <p:grpSpPr>
          <a:xfrm rot="0">
            <a:off x="12527928" y="9745970"/>
            <a:ext cx="5467807" cy="8239"/>
            <a:chOff x="0" y="0"/>
            <a:chExt cx="7290410" cy="10986"/>
          </a:xfrm>
        </p:grpSpPr>
        <p:sp>
          <p:nvSpPr>
            <p:cNvPr name="Freeform 1256" id="1256"/>
            <p:cNvSpPr/>
            <p:nvPr/>
          </p:nvSpPr>
          <p:spPr>
            <a:xfrm flipH="false" flipV="false" rot="0">
              <a:off x="0" y="0"/>
              <a:ext cx="7290435" cy="10922"/>
            </a:xfrm>
            <a:custGeom>
              <a:avLst/>
              <a:gdLst/>
              <a:ahLst/>
              <a:cxnLst/>
              <a:rect r="r" b="b" t="t" l="l"/>
              <a:pathLst>
                <a:path h="10922" w="7290435">
                  <a:moveTo>
                    <a:pt x="0" y="0"/>
                  </a:moveTo>
                  <a:lnTo>
                    <a:pt x="7290435" y="0"/>
                  </a:lnTo>
                  <a:lnTo>
                    <a:pt x="7290435" y="10922"/>
                  </a:lnTo>
                  <a:lnTo>
                    <a:pt x="0" y="10922"/>
                  </a:lnTo>
                  <a:close/>
                </a:path>
              </a:pathLst>
            </a:custGeom>
            <a:solidFill>
              <a:srgbClr val="AACCBB"/>
            </a:solidFill>
          </p:spPr>
        </p:sp>
      </p:grpSp>
      <p:grpSp>
        <p:nvGrpSpPr>
          <p:cNvPr name="Group 1257" id="1257"/>
          <p:cNvGrpSpPr/>
          <p:nvPr/>
        </p:nvGrpSpPr>
        <p:grpSpPr>
          <a:xfrm rot="0">
            <a:off x="12294565" y="9828333"/>
            <a:ext cx="5742346" cy="192176"/>
            <a:chOff x="0" y="0"/>
            <a:chExt cx="7656462" cy="256235"/>
          </a:xfrm>
        </p:grpSpPr>
        <p:sp>
          <p:nvSpPr>
            <p:cNvPr name="Freeform 1258" id="1258"/>
            <p:cNvSpPr/>
            <p:nvPr/>
          </p:nvSpPr>
          <p:spPr>
            <a:xfrm flipH="false" flipV="false" rot="0">
              <a:off x="0" y="0"/>
              <a:ext cx="7656461" cy="256232"/>
            </a:xfrm>
            <a:custGeom>
              <a:avLst/>
              <a:gdLst/>
              <a:ahLst/>
              <a:cxnLst/>
              <a:rect r="r" b="b" t="t" l="l"/>
              <a:pathLst>
                <a:path h="256232" w="7656461">
                  <a:moveTo>
                    <a:pt x="0" y="0"/>
                  </a:moveTo>
                  <a:lnTo>
                    <a:pt x="7656461" y="0"/>
                  </a:lnTo>
                  <a:lnTo>
                    <a:pt x="7656461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230" r="0" b="-532232"/>
              </a:stretch>
            </a:blipFill>
          </p:spPr>
        </p:sp>
        <p:sp>
          <p:nvSpPr>
            <p:cNvPr name="TextBox 1259" id="1259"/>
            <p:cNvSpPr txBox="true"/>
            <p:nvPr/>
          </p:nvSpPr>
          <p:spPr>
            <a:xfrm>
              <a:off x="0" y="-19050"/>
              <a:ext cx="7656462" cy="2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"/>
                </a:lnSpc>
              </a:pPr>
              <a:r>
                <a:rPr lang="en-US" sz="900" i="true">
                  <a:solidFill>
                    <a:srgbClr val="77777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270 new partners in Dec — ↑125% vs Jan</a:t>
              </a:r>
            </a:p>
          </p:txBody>
        </p:sp>
      </p:grpSp>
      <p:grpSp>
        <p:nvGrpSpPr>
          <p:cNvPr name="Group 1260" id="1260"/>
          <p:cNvGrpSpPr/>
          <p:nvPr/>
        </p:nvGrpSpPr>
        <p:grpSpPr>
          <a:xfrm rot="0">
            <a:off x="0" y="10075412"/>
            <a:ext cx="18297725" cy="219627"/>
            <a:chOff x="0" y="0"/>
            <a:chExt cx="24396967" cy="292837"/>
          </a:xfrm>
        </p:grpSpPr>
        <p:sp>
          <p:nvSpPr>
            <p:cNvPr name="Freeform 1261" id="1261"/>
            <p:cNvSpPr/>
            <p:nvPr/>
          </p:nvSpPr>
          <p:spPr>
            <a:xfrm flipH="false" flipV="false" rot="0">
              <a:off x="0" y="0"/>
              <a:ext cx="24396954" cy="292862"/>
            </a:xfrm>
            <a:custGeom>
              <a:avLst/>
              <a:gdLst/>
              <a:ahLst/>
              <a:cxnLst/>
              <a:rect r="r" b="b" t="t" l="l"/>
              <a:pathLst>
                <a:path h="29286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262" id="1262"/>
          <p:cNvGrpSpPr/>
          <p:nvPr/>
        </p:nvGrpSpPr>
        <p:grpSpPr>
          <a:xfrm rot="0">
            <a:off x="274539" y="10116598"/>
            <a:ext cx="17748656" cy="137265"/>
            <a:chOff x="0" y="0"/>
            <a:chExt cx="23664875" cy="183020"/>
          </a:xfrm>
        </p:grpSpPr>
        <p:sp>
          <p:nvSpPr>
            <p:cNvPr name="Freeform 1263" id="1263"/>
            <p:cNvSpPr/>
            <p:nvPr/>
          </p:nvSpPr>
          <p:spPr>
            <a:xfrm flipH="false" flipV="false" rot="0">
              <a:off x="0" y="0"/>
              <a:ext cx="23664872" cy="183023"/>
            </a:xfrm>
            <a:custGeom>
              <a:avLst/>
              <a:gdLst/>
              <a:ahLst/>
              <a:cxnLst/>
              <a:rect r="r" b="b" t="t" l="l"/>
              <a:pathLst>
                <a:path h="183023" w="23664872">
                  <a:moveTo>
                    <a:pt x="0" y="0"/>
                  </a:moveTo>
                  <a:lnTo>
                    <a:pt x="23664872" y="0"/>
                  </a:lnTo>
                  <a:lnTo>
                    <a:pt x="23664872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416" r="0" b="-2469414"/>
              </a:stretch>
            </a:blipFill>
          </p:spPr>
        </p:sp>
        <p:sp>
          <p:nvSpPr>
            <p:cNvPr name="TextBox 1264" id="1264"/>
            <p:cNvSpPr txBox="true"/>
            <p:nvPr/>
          </p:nvSpPr>
          <p:spPr>
            <a:xfrm>
              <a:off x="0" y="-28575"/>
              <a:ext cx="23664875" cy="211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i="true">
                  <a:solidFill>
                    <a:srgbClr val="E8F5E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Too Good To Go  |  KPI Performance Dashboard  |  FY 2024  |  Data: TGTG Internal Systems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10295039"/>
            <a:chOff x="0" y="0"/>
            <a:chExt cx="24396967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97725" cy="686333"/>
            <a:chOff x="0" y="0"/>
            <a:chExt cx="24396967" cy="915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954" cy="915162"/>
            </a:xfrm>
            <a:custGeom>
              <a:avLst/>
              <a:gdLst/>
              <a:ahLst/>
              <a:cxnLst/>
              <a:rect r="r" b="b" t="t" l="l"/>
              <a:pathLst>
                <a:path h="91516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7079" y="96088"/>
            <a:ext cx="16650519" cy="494167"/>
            <a:chOff x="0" y="0"/>
            <a:chExt cx="22200692" cy="6588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0688" cy="658883"/>
            </a:xfrm>
            <a:custGeom>
              <a:avLst/>
              <a:gdLst/>
              <a:ahLst/>
              <a:cxnLst/>
              <a:rect r="r" b="b" t="t" l="l"/>
              <a:pathLst>
                <a:path h="658883" w="22200688">
                  <a:moveTo>
                    <a:pt x="0" y="0"/>
                  </a:moveTo>
                  <a:lnTo>
                    <a:pt x="22200688" y="0"/>
                  </a:lnTo>
                  <a:lnTo>
                    <a:pt x="22200688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6537" r="0" b="-60653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200692" cy="716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 Dashboard Explanation  —  KPI Framework &amp; Distribution Guide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05490" y="109814"/>
            <a:ext cx="686333" cy="384353"/>
            <a:chOff x="0" y="0"/>
            <a:chExt cx="915111" cy="5124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5162" cy="512445"/>
            </a:xfrm>
            <a:custGeom>
              <a:avLst/>
              <a:gdLst/>
              <a:ahLst/>
              <a:cxnLst/>
              <a:rect r="r" b="b" t="t" l="l"/>
              <a:pathLst>
                <a:path h="512445" w="915162">
                  <a:moveTo>
                    <a:pt x="0" y="0"/>
                  </a:moveTo>
                  <a:lnTo>
                    <a:pt x="915162" y="0"/>
                  </a:lnTo>
                  <a:lnTo>
                    <a:pt x="915162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2D936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15111" cy="560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686333"/>
            <a:ext cx="18297725" cy="192176"/>
            <a:chOff x="0" y="0"/>
            <a:chExt cx="24396967" cy="2562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96954" cy="256286"/>
            </a:xfrm>
            <a:custGeom>
              <a:avLst/>
              <a:gdLst/>
              <a:ahLst/>
              <a:cxnLst/>
              <a:rect r="r" b="b" t="t" l="l"/>
              <a:pathLst>
                <a:path h="256286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7079" y="713794"/>
            <a:ext cx="17803558" cy="150990"/>
            <a:chOff x="0" y="0"/>
            <a:chExt cx="23738078" cy="201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738081" cy="201325"/>
            </a:xfrm>
            <a:custGeom>
              <a:avLst/>
              <a:gdLst/>
              <a:ahLst/>
              <a:cxnLst/>
              <a:rect r="r" b="b" t="t" l="l"/>
              <a:pathLst>
                <a:path h="201325" w="23738081">
                  <a:moveTo>
                    <a:pt x="0" y="0"/>
                  </a:moveTo>
                  <a:lnTo>
                    <a:pt x="23738081" y="0"/>
                  </a:lnTo>
                  <a:lnTo>
                    <a:pt x="23738081" y="201325"/>
                  </a:lnTo>
                  <a:lnTo>
                    <a:pt x="0" y="2013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7464" r="0" b="-224746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3738078" cy="220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i="true">
                  <a:solidFill>
                    <a:srgbClr val="E8F5E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this dashboard tracks · Who receives it · How often · What action it drives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5423" y="954119"/>
            <a:ext cx="5366937" cy="2099977"/>
            <a:chOff x="0" y="0"/>
            <a:chExt cx="7155917" cy="27999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017" y="9017"/>
              <a:ext cx="7137908" cy="2781935"/>
            </a:xfrm>
            <a:custGeom>
              <a:avLst/>
              <a:gdLst/>
              <a:ahLst/>
              <a:cxnLst/>
              <a:rect r="r" b="b" t="t" l="l"/>
              <a:pathLst>
                <a:path h="2781935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2781935"/>
                  </a:lnTo>
                  <a:lnTo>
                    <a:pt x="0" y="2781935"/>
                  </a:lnTo>
                  <a:close/>
                </a:path>
              </a:pathLst>
            </a:custGeom>
            <a:solidFill>
              <a:srgbClr val="E8F5E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55942" cy="2799969"/>
            </a:xfrm>
            <a:custGeom>
              <a:avLst/>
              <a:gdLst/>
              <a:ahLst/>
              <a:cxnLst/>
              <a:rect r="r" b="b" t="t" l="l"/>
              <a:pathLst>
                <a:path h="2799969" w="7155942">
                  <a:moveTo>
                    <a:pt x="9017" y="0"/>
                  </a:moveTo>
                  <a:lnTo>
                    <a:pt x="7146925" y="0"/>
                  </a:lnTo>
                  <a:cubicBezTo>
                    <a:pt x="7151878" y="0"/>
                    <a:pt x="7155942" y="4064"/>
                    <a:pt x="7155942" y="9017"/>
                  </a:cubicBezTo>
                  <a:lnTo>
                    <a:pt x="7155942" y="2790952"/>
                  </a:lnTo>
                  <a:cubicBezTo>
                    <a:pt x="7155942" y="2795905"/>
                    <a:pt x="7151878" y="2799969"/>
                    <a:pt x="7146925" y="2799969"/>
                  </a:cubicBezTo>
                  <a:lnTo>
                    <a:pt x="9017" y="2799969"/>
                  </a:lnTo>
                  <a:cubicBezTo>
                    <a:pt x="4064" y="2799969"/>
                    <a:pt x="0" y="2795905"/>
                    <a:pt x="0" y="2790952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2790952"/>
                  </a:lnTo>
                  <a:lnTo>
                    <a:pt x="9017" y="2790952"/>
                  </a:lnTo>
                  <a:lnTo>
                    <a:pt x="9017" y="2781935"/>
                  </a:lnTo>
                  <a:lnTo>
                    <a:pt x="7146925" y="2781935"/>
                  </a:lnTo>
                  <a:lnTo>
                    <a:pt x="7146925" y="2790952"/>
                  </a:lnTo>
                  <a:lnTo>
                    <a:pt x="7137908" y="2790952"/>
                  </a:lnTo>
                  <a:lnTo>
                    <a:pt x="7137908" y="9017"/>
                  </a:lnTo>
                  <a:lnTo>
                    <a:pt x="7146925" y="9017"/>
                  </a:lnTo>
                  <a:lnTo>
                    <a:pt x="7146925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2176" y="960872"/>
            <a:ext cx="5353421" cy="384353"/>
            <a:chOff x="0" y="0"/>
            <a:chExt cx="7137895" cy="5124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37908" cy="512445"/>
            </a:xfrm>
            <a:custGeom>
              <a:avLst/>
              <a:gdLst/>
              <a:ahLst/>
              <a:cxnLst/>
              <a:rect r="r" b="b" t="t" l="l"/>
              <a:pathLst>
                <a:path h="512445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29441" y="1015775"/>
            <a:ext cx="5161245" cy="274539"/>
            <a:chOff x="0" y="0"/>
            <a:chExt cx="6881660" cy="3660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81664" cy="366046"/>
            </a:xfrm>
            <a:custGeom>
              <a:avLst/>
              <a:gdLst/>
              <a:ahLst/>
              <a:cxnLst/>
              <a:rect r="r" b="b" t="t" l="l"/>
              <a:pathLst>
                <a:path h="366046" w="6881664">
                  <a:moveTo>
                    <a:pt x="0" y="0"/>
                  </a:moveTo>
                  <a:lnTo>
                    <a:pt x="6881664" y="0"/>
                  </a:lnTo>
                  <a:lnTo>
                    <a:pt x="688166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317" r="0" b="-31631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881660" cy="394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Purpose of this Dashboard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6892" y="1400127"/>
            <a:ext cx="5078882" cy="1537392"/>
            <a:chOff x="0" y="0"/>
            <a:chExt cx="6771843" cy="2049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71849" cy="2049857"/>
            </a:xfrm>
            <a:custGeom>
              <a:avLst/>
              <a:gdLst/>
              <a:ahLst/>
              <a:cxnLst/>
              <a:rect r="r" b="b" t="t" l="l"/>
              <a:pathLst>
                <a:path h="2049857" w="6771849">
                  <a:moveTo>
                    <a:pt x="0" y="0"/>
                  </a:moveTo>
                  <a:lnTo>
                    <a:pt x="6771849" y="0"/>
                  </a:lnTo>
                  <a:lnTo>
                    <a:pt x="6771849" y="2049857"/>
                  </a:lnTo>
                  <a:lnTo>
                    <a:pt x="0" y="20498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370" r="0" b="-143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771843" cy="2068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dashboard gives Too Good To Go's leadership and teams a single source of truth for the 10 most critical KPIs across consumer engagement, partner performance, financial results, and environmental impact.</a:t>
              </a:r>
            </a:p>
            <a:p>
              <a:pPr algn="l">
                <a:lnSpc>
                  <a:spcPts val="1441"/>
                </a:lnSpc>
              </a:pPr>
            </a:p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answers three questions every week:</a:t>
              </a:r>
            </a:p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• Are we growing? (WAU, Bags Sold, Partners)</a:t>
              </a:r>
            </a:p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• Are we retaining? (Retention, Rating, Revenue)</a:t>
              </a:r>
            </a:p>
            <a:p>
              <a:pPr algn="l">
                <a:lnSpc>
                  <a:spcPts val="1441"/>
                </a:lnSpc>
              </a:pPr>
              <a:r>
                <a:rPr lang="en-US" sz="1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• Are we delivering impact? (CO₂, Meals, Activation)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5423" y="3177845"/>
            <a:ext cx="5366937" cy="2154879"/>
            <a:chOff x="0" y="0"/>
            <a:chExt cx="7155917" cy="28731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017" y="9017"/>
              <a:ext cx="7137908" cy="2855087"/>
            </a:xfrm>
            <a:custGeom>
              <a:avLst/>
              <a:gdLst/>
              <a:ahLst/>
              <a:cxnLst/>
              <a:rect r="r" b="b" t="t" l="l"/>
              <a:pathLst>
                <a:path h="2855087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2855087"/>
                  </a:lnTo>
                  <a:lnTo>
                    <a:pt x="0" y="2855087"/>
                  </a:lnTo>
                  <a:close/>
                </a:path>
              </a:pathLst>
            </a:custGeom>
            <a:solidFill>
              <a:srgbClr val="D6E4F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55942" cy="2873121"/>
            </a:xfrm>
            <a:custGeom>
              <a:avLst/>
              <a:gdLst/>
              <a:ahLst/>
              <a:cxnLst/>
              <a:rect r="r" b="b" t="t" l="l"/>
              <a:pathLst>
                <a:path h="2873121" w="7155942">
                  <a:moveTo>
                    <a:pt x="9017" y="0"/>
                  </a:moveTo>
                  <a:lnTo>
                    <a:pt x="7146925" y="0"/>
                  </a:lnTo>
                  <a:cubicBezTo>
                    <a:pt x="7151878" y="0"/>
                    <a:pt x="7155942" y="4064"/>
                    <a:pt x="7155942" y="9017"/>
                  </a:cubicBezTo>
                  <a:lnTo>
                    <a:pt x="7155942" y="2864104"/>
                  </a:lnTo>
                  <a:cubicBezTo>
                    <a:pt x="7155942" y="2869057"/>
                    <a:pt x="7151878" y="2873121"/>
                    <a:pt x="7146925" y="2873121"/>
                  </a:cubicBezTo>
                  <a:lnTo>
                    <a:pt x="9017" y="2873121"/>
                  </a:lnTo>
                  <a:cubicBezTo>
                    <a:pt x="4064" y="2873121"/>
                    <a:pt x="0" y="2869057"/>
                    <a:pt x="0" y="2864104"/>
                  </a:cubicBezTo>
                  <a:lnTo>
                    <a:pt x="0" y="9017"/>
                  </a:lnTo>
                  <a:cubicBezTo>
                    <a:pt x="0" y="4064"/>
                    <a:pt x="4064" y="0"/>
                    <a:pt x="9017" y="0"/>
                  </a:cubicBezTo>
                  <a:moveTo>
                    <a:pt x="9017" y="18034"/>
                  </a:moveTo>
                  <a:lnTo>
                    <a:pt x="9017" y="9017"/>
                  </a:lnTo>
                  <a:lnTo>
                    <a:pt x="18034" y="9017"/>
                  </a:lnTo>
                  <a:lnTo>
                    <a:pt x="18034" y="2864104"/>
                  </a:lnTo>
                  <a:lnTo>
                    <a:pt x="9017" y="2864104"/>
                  </a:lnTo>
                  <a:lnTo>
                    <a:pt x="9017" y="2855087"/>
                  </a:lnTo>
                  <a:lnTo>
                    <a:pt x="7146925" y="2855087"/>
                  </a:lnTo>
                  <a:lnTo>
                    <a:pt x="7146925" y="2864104"/>
                  </a:lnTo>
                  <a:lnTo>
                    <a:pt x="7137908" y="2864104"/>
                  </a:lnTo>
                  <a:lnTo>
                    <a:pt x="7137908" y="9017"/>
                  </a:lnTo>
                  <a:lnTo>
                    <a:pt x="7146925" y="9017"/>
                  </a:lnTo>
                  <a:lnTo>
                    <a:pt x="7146925" y="18034"/>
                  </a:lnTo>
                  <a:lnTo>
                    <a:pt x="9017" y="18034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92176" y="3184598"/>
            <a:ext cx="5353421" cy="384353"/>
            <a:chOff x="0" y="0"/>
            <a:chExt cx="7137895" cy="5124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37908" cy="512445"/>
            </a:xfrm>
            <a:custGeom>
              <a:avLst/>
              <a:gdLst/>
              <a:ahLst/>
              <a:cxnLst/>
              <a:rect r="r" b="b" t="t" l="l"/>
              <a:pathLst>
                <a:path h="512445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29441" y="3239510"/>
            <a:ext cx="5161245" cy="274539"/>
            <a:chOff x="0" y="0"/>
            <a:chExt cx="6881660" cy="3660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81664" cy="366046"/>
            </a:xfrm>
            <a:custGeom>
              <a:avLst/>
              <a:gdLst/>
              <a:ahLst/>
              <a:cxnLst/>
              <a:rect r="r" b="b" t="t" l="l"/>
              <a:pathLst>
                <a:path h="366046" w="6881664">
                  <a:moveTo>
                    <a:pt x="0" y="0"/>
                  </a:moveTo>
                  <a:lnTo>
                    <a:pt x="6881664" y="0"/>
                  </a:lnTo>
                  <a:lnTo>
                    <a:pt x="6881664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317" r="0" b="-31631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6881660" cy="394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📖  How to Read This Dashboard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56892" y="3623853"/>
            <a:ext cx="1509941" cy="247079"/>
            <a:chOff x="0" y="0"/>
            <a:chExt cx="2013255" cy="3294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3253" cy="329441"/>
            </a:xfrm>
            <a:custGeom>
              <a:avLst/>
              <a:gdLst/>
              <a:ahLst/>
              <a:cxnLst/>
              <a:rect r="r" b="b" t="t" l="l"/>
              <a:pathLst>
                <a:path h="329441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013255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 Green arrow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21745" y="3623853"/>
            <a:ext cx="3486588" cy="247079"/>
            <a:chOff x="0" y="0"/>
            <a:chExt cx="4648784" cy="3294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48784" cy="329441"/>
            </a:xfrm>
            <a:custGeom>
              <a:avLst/>
              <a:gdLst/>
              <a:ahLst/>
              <a:cxnLst/>
              <a:rect r="r" b="b" t="t" l="l"/>
              <a:pathLst>
                <a:path h="329441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956" r="0" b="-22495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648784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KPI is improving vs prior period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56892" y="3884666"/>
            <a:ext cx="1509941" cy="247079"/>
            <a:chOff x="0" y="0"/>
            <a:chExt cx="2013255" cy="3294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3253" cy="329441"/>
            </a:xfrm>
            <a:custGeom>
              <a:avLst/>
              <a:gdLst/>
              <a:ahLst/>
              <a:cxnLst/>
              <a:rect r="r" b="b" t="t" l="l"/>
              <a:pathLst>
                <a:path h="329441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2013255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▼ Red arrow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921745" y="3884666"/>
            <a:ext cx="3486588" cy="247079"/>
            <a:chOff x="0" y="0"/>
            <a:chExt cx="4648784" cy="3294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48784" cy="329441"/>
            </a:xfrm>
            <a:custGeom>
              <a:avLst/>
              <a:gdLst/>
              <a:ahLst/>
              <a:cxnLst/>
              <a:rect r="r" b="b" t="t" l="l"/>
              <a:pathLst>
                <a:path h="329441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956" r="0" b="-22495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648784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KPI declined — requires attention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56892" y="4145471"/>
            <a:ext cx="1509941" cy="247079"/>
            <a:chOff x="0" y="0"/>
            <a:chExt cx="2013255" cy="32943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13253" cy="329441"/>
            </a:xfrm>
            <a:custGeom>
              <a:avLst/>
              <a:gdLst/>
              <a:ahLst/>
              <a:cxnLst/>
              <a:rect r="r" b="b" t="t" l="l"/>
              <a:pathLst>
                <a:path h="329441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013255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Column chart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921745" y="4145471"/>
            <a:ext cx="3486588" cy="247079"/>
            <a:chOff x="0" y="0"/>
            <a:chExt cx="4648784" cy="3294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48784" cy="329441"/>
            </a:xfrm>
            <a:custGeom>
              <a:avLst/>
              <a:gdLst/>
              <a:ahLst/>
              <a:cxnLst/>
              <a:rect r="r" b="b" t="t" l="l"/>
              <a:pathLst>
                <a:path h="329441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956" r="0" b="-22495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4648784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Monthly volumes (bars show scale)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56892" y="4406275"/>
            <a:ext cx="1509941" cy="247079"/>
            <a:chOff x="0" y="0"/>
            <a:chExt cx="2013255" cy="32943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13253" cy="329441"/>
            </a:xfrm>
            <a:custGeom>
              <a:avLst/>
              <a:gdLst/>
              <a:ahLst/>
              <a:cxnLst/>
              <a:rect r="r" b="b" t="t" l="l"/>
              <a:pathLst>
                <a:path h="329441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2013255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Line chart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921745" y="4406275"/>
            <a:ext cx="3486588" cy="247079"/>
            <a:chOff x="0" y="0"/>
            <a:chExt cx="4648784" cy="32943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648784" cy="329441"/>
            </a:xfrm>
            <a:custGeom>
              <a:avLst/>
              <a:gdLst/>
              <a:ahLst/>
              <a:cxnLst/>
              <a:rect r="r" b="b" t="t" l="l"/>
              <a:pathLst>
                <a:path h="329441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956" r="0" b="-22495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4648784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Trends over time (slope = momentum)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56892" y="4667088"/>
            <a:ext cx="1509941" cy="247079"/>
            <a:chOff x="0" y="0"/>
            <a:chExt cx="2013255" cy="32943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13253" cy="329441"/>
            </a:xfrm>
            <a:custGeom>
              <a:avLst/>
              <a:gdLst/>
              <a:ahLst/>
              <a:cxnLst/>
              <a:rect r="r" b="b" t="t" l="l"/>
              <a:pathLst>
                <a:path h="329441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013255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Pie / Donut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21745" y="4667088"/>
            <a:ext cx="3486588" cy="247079"/>
            <a:chOff x="0" y="0"/>
            <a:chExt cx="4648784" cy="32943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648784" cy="329441"/>
            </a:xfrm>
            <a:custGeom>
              <a:avLst/>
              <a:gdLst/>
              <a:ahLst/>
              <a:cxnLst/>
              <a:rect r="r" b="b" t="t" l="l"/>
              <a:pathLst>
                <a:path h="329441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956" r="0" b="-22495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4648784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Share or composition breakdown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56892" y="4927892"/>
            <a:ext cx="1509941" cy="247079"/>
            <a:chOff x="0" y="0"/>
            <a:chExt cx="2013255" cy="3294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3253" cy="329441"/>
            </a:xfrm>
            <a:custGeom>
              <a:avLst/>
              <a:gdLst/>
              <a:ahLst/>
              <a:cxnLst/>
              <a:rect r="r" b="b" t="t" l="l"/>
              <a:pathLst>
                <a:path h="329441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2013255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Card value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21745" y="4927892"/>
            <a:ext cx="3486588" cy="247079"/>
            <a:chOff x="0" y="0"/>
            <a:chExt cx="4648784" cy="32943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648784" cy="329441"/>
            </a:xfrm>
            <a:custGeom>
              <a:avLst/>
              <a:gdLst/>
              <a:ahLst/>
              <a:cxnLst/>
              <a:rect r="r" b="b" t="t" l="l"/>
              <a:pathLst>
                <a:path h="329441" w="4648784">
                  <a:moveTo>
                    <a:pt x="0" y="0"/>
                  </a:moveTo>
                  <a:lnTo>
                    <a:pt x="4648784" y="0"/>
                  </a:lnTo>
                  <a:lnTo>
                    <a:pt x="464878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956" r="0" b="-22495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4648784" cy="358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Latest month (Dec 2024) snapshot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87671" y="5458730"/>
            <a:ext cx="5362432" cy="860060"/>
            <a:chOff x="0" y="0"/>
            <a:chExt cx="7149910" cy="114674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5969" y="5969"/>
              <a:ext cx="7137908" cy="1134745"/>
            </a:xfrm>
            <a:custGeom>
              <a:avLst/>
              <a:gdLst/>
              <a:ahLst/>
              <a:cxnLst/>
              <a:rect r="r" b="b" t="t" l="l"/>
              <a:pathLst>
                <a:path h="1134745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149846" cy="1146683"/>
            </a:xfrm>
            <a:custGeom>
              <a:avLst/>
              <a:gdLst/>
              <a:ahLst/>
              <a:cxnLst/>
              <a:rect r="r" b="b" t="t" l="l"/>
              <a:pathLst>
                <a:path h="1146683" w="7149846">
                  <a:moveTo>
                    <a:pt x="5969" y="0"/>
                  </a:moveTo>
                  <a:lnTo>
                    <a:pt x="7143877" y="0"/>
                  </a:lnTo>
                  <a:cubicBezTo>
                    <a:pt x="7147179" y="0"/>
                    <a:pt x="7149846" y="2667"/>
                    <a:pt x="7149846" y="5969"/>
                  </a:cubicBezTo>
                  <a:lnTo>
                    <a:pt x="7149846" y="1140714"/>
                  </a:lnTo>
                  <a:cubicBezTo>
                    <a:pt x="7149846" y="1144016"/>
                    <a:pt x="7147179" y="1146683"/>
                    <a:pt x="7143877" y="1146683"/>
                  </a:cubicBezTo>
                  <a:lnTo>
                    <a:pt x="5969" y="1146683"/>
                  </a:lnTo>
                  <a:cubicBezTo>
                    <a:pt x="2667" y="1146683"/>
                    <a:pt x="0" y="1144016"/>
                    <a:pt x="0" y="1140714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2065"/>
                  </a:moveTo>
                  <a:lnTo>
                    <a:pt x="5969" y="5969"/>
                  </a:lnTo>
                  <a:lnTo>
                    <a:pt x="12065" y="5969"/>
                  </a:lnTo>
                  <a:lnTo>
                    <a:pt x="12065" y="1140714"/>
                  </a:lnTo>
                  <a:lnTo>
                    <a:pt x="5969" y="1140714"/>
                  </a:lnTo>
                  <a:lnTo>
                    <a:pt x="5969" y="1134745"/>
                  </a:lnTo>
                  <a:lnTo>
                    <a:pt x="7143877" y="1134745"/>
                  </a:lnTo>
                  <a:lnTo>
                    <a:pt x="7143877" y="1140714"/>
                  </a:lnTo>
                  <a:lnTo>
                    <a:pt x="7137908" y="1140714"/>
                  </a:lnTo>
                  <a:lnTo>
                    <a:pt x="7137908" y="5969"/>
                  </a:lnTo>
                  <a:lnTo>
                    <a:pt x="7143877" y="5969"/>
                  </a:lnTo>
                  <a:lnTo>
                    <a:pt x="7143877" y="12065"/>
                  </a:lnTo>
                  <a:lnTo>
                    <a:pt x="5969" y="12065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329441" y="5490686"/>
            <a:ext cx="5133794" cy="247079"/>
            <a:chOff x="0" y="0"/>
            <a:chExt cx="6845059" cy="32943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845060" cy="329441"/>
            </a:xfrm>
            <a:custGeom>
              <a:avLst/>
              <a:gdLst/>
              <a:ahLst/>
              <a:cxnLst/>
              <a:rect r="r" b="b" t="t" l="l"/>
              <a:pathLst>
                <a:path h="329441" w="6845060">
                  <a:moveTo>
                    <a:pt x="0" y="0"/>
                  </a:moveTo>
                  <a:lnTo>
                    <a:pt x="6845060" y="0"/>
                  </a:lnTo>
                  <a:lnTo>
                    <a:pt x="6845060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4856" r="0" b="-35485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6845059" cy="34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1"/>
                </a:lnSpc>
              </a:pPr>
              <a:r>
                <a:rPr lang="en-US" sz="1200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📅  Update Frequency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29441" y="5806402"/>
            <a:ext cx="343167" cy="137265"/>
            <a:chOff x="0" y="0"/>
            <a:chExt cx="457556" cy="1830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57581" cy="183007"/>
            </a:xfrm>
            <a:custGeom>
              <a:avLst/>
              <a:gdLst/>
              <a:ahLst/>
              <a:cxnLst/>
              <a:rect r="r" b="b" t="t" l="l"/>
              <a:pathLst>
                <a:path h="183007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41245" y="5792676"/>
            <a:ext cx="4667088" cy="164725"/>
            <a:chOff x="0" y="0"/>
            <a:chExt cx="6222784" cy="21963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222781" cy="219628"/>
            </a:xfrm>
            <a:custGeom>
              <a:avLst/>
              <a:gdLst/>
              <a:ahLst/>
              <a:cxnLst/>
              <a:rect r="r" b="b" t="t" l="l"/>
              <a:pathLst>
                <a:path h="219628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74" r="0" b="-50207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6222784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Weekly:  WAU, Avg Order Value, Partner Rating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29441" y="5984853"/>
            <a:ext cx="343167" cy="137265"/>
            <a:chOff x="0" y="0"/>
            <a:chExt cx="457556" cy="1830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57581" cy="183007"/>
            </a:xfrm>
            <a:custGeom>
              <a:avLst/>
              <a:gdLst/>
              <a:ahLst/>
              <a:cxnLst/>
              <a:rect r="r" b="b" t="t" l="l"/>
              <a:pathLst>
                <a:path h="183007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41245" y="5971127"/>
            <a:ext cx="4667088" cy="164725"/>
            <a:chOff x="0" y="0"/>
            <a:chExt cx="6222784" cy="21963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222781" cy="219628"/>
            </a:xfrm>
            <a:custGeom>
              <a:avLst/>
              <a:gdLst/>
              <a:ahLst/>
              <a:cxnLst/>
              <a:rect r="r" b="b" t="t" l="l"/>
              <a:pathLst>
                <a:path h="219628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74" r="0" b="-50207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6222784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Monthly: Bags Sold, CO₂, Retention, Revenue, Partners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329441" y="6163294"/>
            <a:ext cx="343167" cy="137265"/>
            <a:chOff x="0" y="0"/>
            <a:chExt cx="457556" cy="1830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57581" cy="183007"/>
            </a:xfrm>
            <a:custGeom>
              <a:avLst/>
              <a:gdLst/>
              <a:ahLst/>
              <a:cxnLst/>
              <a:rect r="r" b="b" t="t" l="l"/>
              <a:pathLst>
                <a:path h="183007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D4733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41245" y="6149569"/>
            <a:ext cx="4667088" cy="164725"/>
            <a:chOff x="0" y="0"/>
            <a:chExt cx="6222784" cy="21963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222781" cy="219628"/>
            </a:xfrm>
            <a:custGeom>
              <a:avLst/>
              <a:gdLst/>
              <a:ahLst/>
              <a:cxnLst/>
              <a:rect r="r" b="b" t="t" l="l"/>
              <a:pathLst>
                <a:path h="219628" w="6222781">
                  <a:moveTo>
                    <a:pt x="0" y="0"/>
                  </a:moveTo>
                  <a:lnTo>
                    <a:pt x="6222781" y="0"/>
                  </a:lnTo>
                  <a:lnTo>
                    <a:pt x="6222781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74" r="0" b="-50207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6222784" cy="248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Daily:   Meals Saved Cumulative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5925445" y="956367"/>
            <a:ext cx="12376785" cy="9096099"/>
            <a:chOff x="0" y="0"/>
            <a:chExt cx="16502380" cy="1212813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5969" y="5969"/>
              <a:ext cx="16490443" cy="12116181"/>
            </a:xfrm>
            <a:custGeom>
              <a:avLst/>
              <a:gdLst/>
              <a:ahLst/>
              <a:cxnLst/>
              <a:rect r="r" b="b" t="t" l="l"/>
              <a:pathLst>
                <a:path h="12116181" w="16490443">
                  <a:moveTo>
                    <a:pt x="0" y="0"/>
                  </a:moveTo>
                  <a:lnTo>
                    <a:pt x="16490443" y="0"/>
                  </a:lnTo>
                  <a:lnTo>
                    <a:pt x="16490443" y="12116181"/>
                  </a:lnTo>
                  <a:lnTo>
                    <a:pt x="0" y="121161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6502380" cy="12128119"/>
            </a:xfrm>
            <a:custGeom>
              <a:avLst/>
              <a:gdLst/>
              <a:ahLst/>
              <a:cxnLst/>
              <a:rect r="r" b="b" t="t" l="l"/>
              <a:pathLst>
                <a:path h="12128119" w="16502380">
                  <a:moveTo>
                    <a:pt x="5969" y="0"/>
                  </a:moveTo>
                  <a:lnTo>
                    <a:pt x="16496412" y="0"/>
                  </a:lnTo>
                  <a:cubicBezTo>
                    <a:pt x="16499714" y="0"/>
                    <a:pt x="16502380" y="2667"/>
                    <a:pt x="16502380" y="5969"/>
                  </a:cubicBezTo>
                  <a:lnTo>
                    <a:pt x="16502380" y="12122150"/>
                  </a:lnTo>
                  <a:cubicBezTo>
                    <a:pt x="16502380" y="12125452"/>
                    <a:pt x="16499714" y="12128119"/>
                    <a:pt x="16496412" y="12128119"/>
                  </a:cubicBezTo>
                  <a:lnTo>
                    <a:pt x="5969" y="12128119"/>
                  </a:lnTo>
                  <a:cubicBezTo>
                    <a:pt x="2667" y="12128119"/>
                    <a:pt x="0" y="12125452"/>
                    <a:pt x="0" y="12122150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2065"/>
                  </a:moveTo>
                  <a:lnTo>
                    <a:pt x="5969" y="5969"/>
                  </a:lnTo>
                  <a:lnTo>
                    <a:pt x="12065" y="5969"/>
                  </a:lnTo>
                  <a:lnTo>
                    <a:pt x="12065" y="12122150"/>
                  </a:lnTo>
                  <a:lnTo>
                    <a:pt x="5969" y="12122150"/>
                  </a:lnTo>
                  <a:lnTo>
                    <a:pt x="5969" y="12116181"/>
                  </a:lnTo>
                  <a:lnTo>
                    <a:pt x="16496412" y="12116181"/>
                  </a:lnTo>
                  <a:lnTo>
                    <a:pt x="16496412" y="12122150"/>
                  </a:lnTo>
                  <a:lnTo>
                    <a:pt x="16490443" y="12122150"/>
                  </a:lnTo>
                  <a:lnTo>
                    <a:pt x="16490443" y="5969"/>
                  </a:lnTo>
                  <a:lnTo>
                    <a:pt x="16496412" y="5969"/>
                  </a:lnTo>
                  <a:lnTo>
                    <a:pt x="16496412" y="12065"/>
                  </a:lnTo>
                  <a:lnTo>
                    <a:pt x="5969" y="12065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5929941" y="960872"/>
            <a:ext cx="12367774" cy="384353"/>
            <a:chOff x="0" y="0"/>
            <a:chExt cx="16490366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6490314" cy="512445"/>
            </a:xfrm>
            <a:custGeom>
              <a:avLst/>
              <a:gdLst/>
              <a:ahLst/>
              <a:cxnLst/>
              <a:rect r="r" b="b" t="t" l="l"/>
              <a:pathLst>
                <a:path h="512445" w="16490314">
                  <a:moveTo>
                    <a:pt x="0" y="0"/>
                  </a:moveTo>
                  <a:lnTo>
                    <a:pt x="16490314" y="0"/>
                  </a:lnTo>
                  <a:lnTo>
                    <a:pt x="16490314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067215" y="1015775"/>
            <a:ext cx="12175598" cy="274539"/>
            <a:chOff x="0" y="0"/>
            <a:chExt cx="16234131" cy="3660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6234136" cy="366046"/>
            </a:xfrm>
            <a:custGeom>
              <a:avLst/>
              <a:gdLst/>
              <a:ahLst/>
              <a:cxnLst/>
              <a:rect r="r" b="b" t="t" l="l"/>
              <a:pathLst>
                <a:path h="366046" w="16234136">
                  <a:moveTo>
                    <a:pt x="0" y="0"/>
                  </a:moveTo>
                  <a:lnTo>
                    <a:pt x="16234136" y="0"/>
                  </a:lnTo>
                  <a:lnTo>
                    <a:pt x="16234136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4160" r="0" b="-81416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16234131" cy="394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1"/>
                </a:lnSpc>
              </a:pPr>
              <a:r>
                <a:rPr lang="en-US" sz="135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Distribution Matrix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929941" y="1345216"/>
            <a:ext cx="2882608" cy="329441"/>
            <a:chOff x="0" y="0"/>
            <a:chExt cx="3843477" cy="43925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843528" cy="439293"/>
            </a:xfrm>
            <a:custGeom>
              <a:avLst/>
              <a:gdLst/>
              <a:ahLst/>
              <a:cxnLst/>
              <a:rect r="r" b="b" t="t" l="l"/>
              <a:pathLst>
                <a:path h="439293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984853" y="1372676"/>
            <a:ext cx="2800255" cy="274530"/>
            <a:chOff x="0" y="0"/>
            <a:chExt cx="3733673" cy="36603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733669" cy="366044"/>
            </a:xfrm>
            <a:custGeom>
              <a:avLst/>
              <a:gdLst/>
              <a:ahLst/>
              <a:cxnLst/>
              <a:rect r="r" b="b" t="t" l="l"/>
              <a:pathLst>
                <a:path h="366044" w="3733669">
                  <a:moveTo>
                    <a:pt x="0" y="0"/>
                  </a:moveTo>
                  <a:lnTo>
                    <a:pt x="3733669" y="0"/>
                  </a:lnTo>
                  <a:lnTo>
                    <a:pt x="3733669" y="366044"/>
                  </a:lnTo>
                  <a:lnTo>
                    <a:pt x="0" y="3660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749" r="0" b="-14874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3733673" cy="394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8812559" y="1345216"/>
            <a:ext cx="960872" cy="329441"/>
            <a:chOff x="0" y="0"/>
            <a:chExt cx="1281163" cy="43925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281176" cy="439293"/>
            </a:xfrm>
            <a:custGeom>
              <a:avLst/>
              <a:gdLst/>
              <a:ahLst/>
              <a:cxnLst/>
              <a:rect r="r" b="b" t="t" l="l"/>
              <a:pathLst>
                <a:path h="43929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8867461" y="1372676"/>
            <a:ext cx="878510" cy="274530"/>
            <a:chOff x="0" y="0"/>
            <a:chExt cx="1171346" cy="36603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71345" cy="366044"/>
            </a:xfrm>
            <a:custGeom>
              <a:avLst/>
              <a:gdLst/>
              <a:ahLst/>
              <a:cxnLst/>
              <a:rect r="r" b="b" t="t" l="l"/>
              <a:pathLst>
                <a:path h="366044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366044"/>
                  </a:lnTo>
                  <a:lnTo>
                    <a:pt x="0" y="3660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3" r="0" b="-12351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1171346" cy="394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Freq.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773431" y="1345216"/>
            <a:ext cx="1784471" cy="329441"/>
            <a:chOff x="0" y="0"/>
            <a:chExt cx="2379294" cy="43925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379345" cy="439293"/>
            </a:xfrm>
            <a:custGeom>
              <a:avLst/>
              <a:gdLst/>
              <a:ahLst/>
              <a:cxnLst/>
              <a:rect r="r" b="b" t="t" l="l"/>
              <a:pathLst>
                <a:path h="439293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828333" y="1372676"/>
            <a:ext cx="1702117" cy="274530"/>
            <a:chOff x="0" y="0"/>
            <a:chExt cx="2269490" cy="36603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69485" cy="366044"/>
            </a:xfrm>
            <a:custGeom>
              <a:avLst/>
              <a:gdLst/>
              <a:ahLst/>
              <a:cxnLst/>
              <a:rect r="r" b="b" t="t" l="l"/>
              <a:pathLst>
                <a:path h="366044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366044"/>
                  </a:lnTo>
                  <a:lnTo>
                    <a:pt x="0" y="3660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8" r="0" b="-7080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2269490" cy="394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Channel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557902" y="1345216"/>
            <a:ext cx="2127647" cy="329441"/>
            <a:chOff x="0" y="0"/>
            <a:chExt cx="2836862" cy="43925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836799" cy="439293"/>
            </a:xfrm>
            <a:custGeom>
              <a:avLst/>
              <a:gdLst/>
              <a:ahLst/>
              <a:cxnLst/>
              <a:rect r="r" b="b" t="t" l="l"/>
              <a:pathLst>
                <a:path h="4392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D4733A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612804" y="1372676"/>
            <a:ext cx="2045284" cy="274530"/>
            <a:chOff x="0" y="0"/>
            <a:chExt cx="2727046" cy="36603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727042" cy="366044"/>
            </a:xfrm>
            <a:custGeom>
              <a:avLst/>
              <a:gdLst/>
              <a:ahLst/>
              <a:cxnLst/>
              <a:rect r="r" b="b" t="t" l="l"/>
              <a:pathLst>
                <a:path h="366044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366044"/>
                  </a:lnTo>
                  <a:lnTo>
                    <a:pt x="0" y="3660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165" r="0" b="-95163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2727046" cy="394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Owner / Role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3685549" y="1345216"/>
            <a:ext cx="2127647" cy="329441"/>
            <a:chOff x="0" y="0"/>
            <a:chExt cx="2836862" cy="43925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836799" cy="439293"/>
            </a:xfrm>
            <a:custGeom>
              <a:avLst/>
              <a:gdLst/>
              <a:ahLst/>
              <a:cxnLst/>
              <a:rect r="r" b="b" t="t" l="l"/>
              <a:pathLst>
                <a:path h="4392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3740451" y="1372676"/>
            <a:ext cx="2045284" cy="274530"/>
            <a:chOff x="0" y="0"/>
            <a:chExt cx="2727046" cy="36603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727042" cy="366044"/>
            </a:xfrm>
            <a:custGeom>
              <a:avLst/>
              <a:gdLst/>
              <a:ahLst/>
              <a:cxnLst/>
              <a:rect r="r" b="b" t="t" l="l"/>
              <a:pathLst>
                <a:path h="366044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366044"/>
                  </a:lnTo>
                  <a:lnTo>
                    <a:pt x="0" y="3660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165" r="0" b="-95163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2727046" cy="394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Recipients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5813186" y="1345216"/>
            <a:ext cx="2127647" cy="329441"/>
            <a:chOff x="0" y="0"/>
            <a:chExt cx="2836862" cy="43925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836799" cy="439293"/>
            </a:xfrm>
            <a:custGeom>
              <a:avLst/>
              <a:gdLst/>
              <a:ahLst/>
              <a:cxnLst/>
              <a:rect r="r" b="b" t="t" l="l"/>
              <a:pathLst>
                <a:path h="439293" w="2836799">
                  <a:moveTo>
                    <a:pt x="0" y="0"/>
                  </a:moveTo>
                  <a:lnTo>
                    <a:pt x="2836799" y="0"/>
                  </a:lnTo>
                  <a:lnTo>
                    <a:pt x="2836799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5868098" y="1372676"/>
            <a:ext cx="2045284" cy="274530"/>
            <a:chOff x="0" y="0"/>
            <a:chExt cx="2727046" cy="36603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727042" cy="366044"/>
            </a:xfrm>
            <a:custGeom>
              <a:avLst/>
              <a:gdLst/>
              <a:ahLst/>
              <a:cxnLst/>
              <a:rect r="r" b="b" t="t" l="l"/>
              <a:pathLst>
                <a:path h="366044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366044"/>
                  </a:lnTo>
                  <a:lnTo>
                    <a:pt x="0" y="3660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165" r="0" b="-95163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28575"/>
              <a:ext cx="2727046" cy="394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926188" y="1670904"/>
            <a:ext cx="2890114" cy="645795"/>
            <a:chOff x="0" y="0"/>
            <a:chExt cx="3853485" cy="8610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5929941" y="1674657"/>
            <a:ext cx="54912" cy="638289"/>
            <a:chOff x="0" y="0"/>
            <a:chExt cx="73216" cy="85105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6039755" y="1729569"/>
            <a:ext cx="2717892" cy="555936"/>
            <a:chOff x="0" y="0"/>
            <a:chExt cx="3623856" cy="74124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Weekly Active Users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8808806" y="1670904"/>
            <a:ext cx="968378" cy="645795"/>
            <a:chOff x="0" y="0"/>
            <a:chExt cx="1291171" cy="86106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EDFCF4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8867461" y="1729569"/>
            <a:ext cx="878510" cy="555936"/>
            <a:chOff x="0" y="0"/>
            <a:chExt cx="1171346" cy="74124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Weekly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769678" y="1670904"/>
            <a:ext cx="1791976" cy="645795"/>
            <a:chOff x="0" y="0"/>
            <a:chExt cx="2389302" cy="86106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828333" y="1729569"/>
            <a:ext cx="1702117" cy="555936"/>
            <a:chOff x="0" y="0"/>
            <a:chExt cx="2269490" cy="74124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+ Email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1554149" y="1670904"/>
            <a:ext cx="2135153" cy="645795"/>
            <a:chOff x="0" y="0"/>
            <a:chExt cx="2846870" cy="86106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1612804" y="1729569"/>
            <a:ext cx="2045284" cy="555936"/>
            <a:chOff x="0" y="0"/>
            <a:chExt cx="2727046" cy="74124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Head of Product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3681786" y="1670904"/>
            <a:ext cx="2135153" cy="645795"/>
            <a:chOff x="0" y="0"/>
            <a:chExt cx="2846870" cy="86106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740451" y="1729569"/>
            <a:ext cx="2045284" cy="555936"/>
            <a:chOff x="0" y="0"/>
            <a:chExt cx="2727046" cy="74124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Product, Mktg, C-Suite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5809433" y="1670904"/>
            <a:ext cx="2135153" cy="645795"/>
            <a:chOff x="0" y="0"/>
            <a:chExt cx="2846870" cy="86106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5868098" y="1729569"/>
            <a:ext cx="2045284" cy="555936"/>
            <a:chOff x="0" y="0"/>
            <a:chExt cx="2727046" cy="74124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 app engagement &amp; growth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5926188" y="2309203"/>
            <a:ext cx="2890114" cy="645795"/>
            <a:chOff x="0" y="0"/>
            <a:chExt cx="3853485" cy="86106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5929941" y="2312956"/>
            <a:ext cx="54912" cy="638289"/>
            <a:chOff x="0" y="0"/>
            <a:chExt cx="73216" cy="851052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6039755" y="2367858"/>
            <a:ext cx="2717892" cy="555936"/>
            <a:chOff x="0" y="0"/>
            <a:chExt cx="3623856" cy="741248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Surprise Bags Sold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8808806" y="2309203"/>
            <a:ext cx="968378" cy="645795"/>
            <a:chOff x="0" y="0"/>
            <a:chExt cx="1291171" cy="86106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D6E4F8"/>
            </a:solidFill>
          </p:spPr>
        </p:sp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8867461" y="2367858"/>
            <a:ext cx="878510" cy="555936"/>
            <a:chOff x="0" y="0"/>
            <a:chExt cx="1171346" cy="741248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Monthly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9769678" y="2309203"/>
            <a:ext cx="1791976" cy="645795"/>
            <a:chOff x="0" y="0"/>
            <a:chExt cx="2389302" cy="86106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9828333" y="2367858"/>
            <a:ext cx="1702117" cy="555936"/>
            <a:chOff x="0" y="0"/>
            <a:chExt cx="2269490" cy="741248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+ Slack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11554149" y="2309203"/>
            <a:ext cx="2135153" cy="645795"/>
            <a:chOff x="0" y="0"/>
            <a:chExt cx="2846870" cy="861060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1612804" y="2367858"/>
            <a:ext cx="2045284" cy="555936"/>
            <a:chOff x="0" y="0"/>
            <a:chExt cx="2727046" cy="741248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VP Operations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3681786" y="2309203"/>
            <a:ext cx="2135153" cy="645795"/>
            <a:chOff x="0" y="0"/>
            <a:chExt cx="2846870" cy="86106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13740451" y="2367858"/>
            <a:ext cx="2045284" cy="555936"/>
            <a:chOff x="0" y="0"/>
            <a:chExt cx="2727046" cy="741248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200" id="200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departments</a:t>
              </a: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15809433" y="2309203"/>
            <a:ext cx="2135153" cy="645795"/>
            <a:chOff x="0" y="0"/>
            <a:chExt cx="2846870" cy="86106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5868098" y="2367858"/>
            <a:ext cx="2045284" cy="555936"/>
            <a:chOff x="0" y="0"/>
            <a:chExt cx="2727046" cy="741248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 core business volume</a:t>
              </a:r>
            </a:p>
          </p:txBody>
        </p:sp>
      </p:grpSp>
      <p:grpSp>
        <p:nvGrpSpPr>
          <p:cNvPr name="Group 207" id="207"/>
          <p:cNvGrpSpPr/>
          <p:nvPr/>
        </p:nvGrpSpPr>
        <p:grpSpPr>
          <a:xfrm rot="0">
            <a:off x="5926188" y="2947492"/>
            <a:ext cx="2890114" cy="645795"/>
            <a:chOff x="0" y="0"/>
            <a:chExt cx="3853485" cy="861060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10" id="210"/>
          <p:cNvGrpSpPr/>
          <p:nvPr/>
        </p:nvGrpSpPr>
        <p:grpSpPr>
          <a:xfrm rot="0">
            <a:off x="5929941" y="2951245"/>
            <a:ext cx="54912" cy="638289"/>
            <a:chOff x="0" y="0"/>
            <a:chExt cx="73216" cy="851052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6039755" y="3006157"/>
            <a:ext cx="2717892" cy="555936"/>
            <a:chOff x="0" y="0"/>
            <a:chExt cx="3623856" cy="741248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Partner Activation Rate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8808806" y="2947492"/>
            <a:ext cx="968378" cy="645795"/>
            <a:chOff x="0" y="0"/>
            <a:chExt cx="1291171" cy="861060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D6E4F8"/>
            </a:solidFill>
          </p:spPr>
        </p:sp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8867461" y="3006157"/>
            <a:ext cx="878510" cy="555936"/>
            <a:chOff x="0" y="0"/>
            <a:chExt cx="1171346" cy="741248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Monthly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9769678" y="2947492"/>
            <a:ext cx="1791976" cy="645795"/>
            <a:chOff x="0" y="0"/>
            <a:chExt cx="2389302" cy="86106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9828333" y="3006157"/>
            <a:ext cx="1702117" cy="555936"/>
            <a:chOff x="0" y="0"/>
            <a:chExt cx="2269490" cy="741248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+ Email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11554149" y="2947492"/>
            <a:ext cx="2135153" cy="645795"/>
            <a:chOff x="0" y="0"/>
            <a:chExt cx="2846870" cy="861060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11612804" y="3006157"/>
            <a:ext cx="2045284" cy="555936"/>
            <a:chOff x="0" y="0"/>
            <a:chExt cx="2727046" cy="741248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VP Partnerships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13681786" y="2947492"/>
            <a:ext cx="2135153" cy="645795"/>
            <a:chOff x="0" y="0"/>
            <a:chExt cx="2846870" cy="86106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3740451" y="3006157"/>
            <a:ext cx="2045284" cy="555936"/>
            <a:chOff x="0" y="0"/>
            <a:chExt cx="2727046" cy="741248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Sales, Ops, C-Suite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15809433" y="2947492"/>
            <a:ext cx="2135153" cy="645795"/>
            <a:chOff x="0" y="0"/>
            <a:chExt cx="2846870" cy="861060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15868098" y="3006157"/>
            <a:ext cx="2045284" cy="555936"/>
            <a:chOff x="0" y="0"/>
            <a:chExt cx="2727046" cy="741248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Ensure partner engagement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5926188" y="3585781"/>
            <a:ext cx="2890114" cy="645795"/>
            <a:chOff x="0" y="0"/>
            <a:chExt cx="3853485" cy="861060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5929941" y="3589534"/>
            <a:ext cx="54912" cy="638289"/>
            <a:chOff x="0" y="0"/>
            <a:chExt cx="73216" cy="851052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0B6E4F"/>
            </a:solidFill>
          </p:spPr>
        </p:sp>
      </p:grpSp>
      <p:grpSp>
        <p:nvGrpSpPr>
          <p:cNvPr name="Group 250" id="250"/>
          <p:cNvGrpSpPr/>
          <p:nvPr/>
        </p:nvGrpSpPr>
        <p:grpSpPr>
          <a:xfrm rot="0">
            <a:off x="6039755" y="3644446"/>
            <a:ext cx="2717892" cy="555936"/>
            <a:chOff x="0" y="0"/>
            <a:chExt cx="3623856" cy="741248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252" id="252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0B6E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CO₂ Saved (Monthly)</a:t>
              </a:r>
            </a:p>
          </p:txBody>
        </p:sp>
      </p:grpSp>
      <p:grpSp>
        <p:nvGrpSpPr>
          <p:cNvPr name="Group 253" id="253"/>
          <p:cNvGrpSpPr/>
          <p:nvPr/>
        </p:nvGrpSpPr>
        <p:grpSpPr>
          <a:xfrm rot="0">
            <a:off x="8808806" y="3585781"/>
            <a:ext cx="968378" cy="645795"/>
            <a:chOff x="0" y="0"/>
            <a:chExt cx="1291171" cy="861060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D6E4F8"/>
            </a:solidFill>
          </p:spPr>
        </p:sp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56" id="256"/>
          <p:cNvGrpSpPr/>
          <p:nvPr/>
        </p:nvGrpSpPr>
        <p:grpSpPr>
          <a:xfrm rot="0">
            <a:off x="8867461" y="3644446"/>
            <a:ext cx="878510" cy="555936"/>
            <a:chOff x="0" y="0"/>
            <a:chExt cx="1171346" cy="741248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258" id="258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Monthly</a:t>
              </a:r>
            </a:p>
          </p:txBody>
        </p:sp>
      </p:grpSp>
      <p:grpSp>
        <p:nvGrpSpPr>
          <p:cNvPr name="Group 259" id="259"/>
          <p:cNvGrpSpPr/>
          <p:nvPr/>
        </p:nvGrpSpPr>
        <p:grpSpPr>
          <a:xfrm rot="0">
            <a:off x="9769678" y="3585781"/>
            <a:ext cx="1791976" cy="645795"/>
            <a:chOff x="0" y="0"/>
            <a:chExt cx="2389302" cy="861060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9828333" y="3644446"/>
            <a:ext cx="1702117" cy="555936"/>
            <a:chOff x="0" y="0"/>
            <a:chExt cx="2269490" cy="741248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+ Press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1554149" y="3585781"/>
            <a:ext cx="2135153" cy="645795"/>
            <a:chOff x="0" y="0"/>
            <a:chExt cx="2846870" cy="861060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68" id="268"/>
          <p:cNvGrpSpPr/>
          <p:nvPr/>
        </p:nvGrpSpPr>
        <p:grpSpPr>
          <a:xfrm rot="0">
            <a:off x="11612804" y="3644446"/>
            <a:ext cx="2045284" cy="555936"/>
            <a:chOff x="0" y="0"/>
            <a:chExt cx="2727046" cy="741248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Head of Sustainability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681786" y="3585781"/>
            <a:ext cx="2135153" cy="645795"/>
            <a:chOff x="0" y="0"/>
            <a:chExt cx="2846870" cy="861060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74" id="274"/>
          <p:cNvGrpSpPr/>
          <p:nvPr/>
        </p:nvGrpSpPr>
        <p:grpSpPr>
          <a:xfrm rot="0">
            <a:off x="13740451" y="3644446"/>
            <a:ext cx="2045284" cy="555936"/>
            <a:chOff x="0" y="0"/>
            <a:chExt cx="2727046" cy="741248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276" id="276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depts, NGOs, Public</a:t>
              </a:r>
            </a:p>
          </p:txBody>
        </p:sp>
      </p:grpSp>
      <p:grpSp>
        <p:nvGrpSpPr>
          <p:cNvPr name="Group 277" id="277"/>
          <p:cNvGrpSpPr/>
          <p:nvPr/>
        </p:nvGrpSpPr>
        <p:grpSpPr>
          <a:xfrm rot="0">
            <a:off x="15809433" y="3585781"/>
            <a:ext cx="2135153" cy="645795"/>
            <a:chOff x="0" y="0"/>
            <a:chExt cx="2846870" cy="861060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80" id="280"/>
          <p:cNvGrpSpPr/>
          <p:nvPr/>
        </p:nvGrpSpPr>
        <p:grpSpPr>
          <a:xfrm rot="0">
            <a:off x="15868098" y="3644446"/>
            <a:ext cx="2045284" cy="555936"/>
            <a:chOff x="0" y="0"/>
            <a:chExt cx="2727046" cy="741248"/>
          </a:xfrm>
        </p:grpSpPr>
        <p:sp>
          <p:nvSpPr>
            <p:cNvPr name="Freeform 281" id="281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282" id="282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environmental impact</a:t>
              </a:r>
            </a:p>
          </p:txBody>
        </p:sp>
      </p:grpSp>
      <p:grpSp>
        <p:nvGrpSpPr>
          <p:cNvPr name="Group 283" id="283"/>
          <p:cNvGrpSpPr/>
          <p:nvPr/>
        </p:nvGrpSpPr>
        <p:grpSpPr>
          <a:xfrm rot="0">
            <a:off x="5926188" y="4224080"/>
            <a:ext cx="2890114" cy="645795"/>
            <a:chOff x="0" y="0"/>
            <a:chExt cx="3853485" cy="861060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5929941" y="4227833"/>
            <a:ext cx="54912" cy="638289"/>
            <a:chOff x="0" y="0"/>
            <a:chExt cx="73216" cy="851052"/>
          </a:xfrm>
        </p:grpSpPr>
        <p:sp>
          <p:nvSpPr>
            <p:cNvPr name="Freeform 287" id="287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D4733A"/>
            </a:solid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6039755" y="4282735"/>
            <a:ext cx="2717892" cy="555936"/>
            <a:chOff x="0" y="0"/>
            <a:chExt cx="3623856" cy="741248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D473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Order Value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8808806" y="4224080"/>
            <a:ext cx="968378" cy="645795"/>
            <a:chOff x="0" y="0"/>
            <a:chExt cx="1291171" cy="861060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EDFCF4"/>
            </a:solidFill>
          </p:spPr>
        </p:sp>
        <p:sp>
          <p:nvSpPr>
            <p:cNvPr name="Freeform 293" id="293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94" id="294"/>
          <p:cNvGrpSpPr/>
          <p:nvPr/>
        </p:nvGrpSpPr>
        <p:grpSpPr>
          <a:xfrm rot="0">
            <a:off x="8867461" y="4282735"/>
            <a:ext cx="878510" cy="555936"/>
            <a:chOff x="0" y="0"/>
            <a:chExt cx="1171346" cy="741248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Weekly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9769678" y="4224080"/>
            <a:ext cx="1791976" cy="645795"/>
            <a:chOff x="0" y="0"/>
            <a:chExt cx="2389302" cy="861060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299" id="299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9828333" y="4282735"/>
            <a:ext cx="1702117" cy="555936"/>
            <a:chOff x="0" y="0"/>
            <a:chExt cx="2269490" cy="741248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302" id="302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</p:txBody>
        </p:sp>
      </p:grpSp>
      <p:grpSp>
        <p:nvGrpSpPr>
          <p:cNvPr name="Group 303" id="303"/>
          <p:cNvGrpSpPr/>
          <p:nvPr/>
        </p:nvGrpSpPr>
        <p:grpSpPr>
          <a:xfrm rot="0">
            <a:off x="11554149" y="4224080"/>
            <a:ext cx="2135153" cy="645795"/>
            <a:chOff x="0" y="0"/>
            <a:chExt cx="2846870" cy="861060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305" id="305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06" id="306"/>
          <p:cNvGrpSpPr/>
          <p:nvPr/>
        </p:nvGrpSpPr>
        <p:grpSpPr>
          <a:xfrm rot="0">
            <a:off x="11612804" y="4282735"/>
            <a:ext cx="2045284" cy="555936"/>
            <a:chOff x="0" y="0"/>
            <a:chExt cx="2727046" cy="741248"/>
          </a:xfrm>
        </p:grpSpPr>
        <p:sp>
          <p:nvSpPr>
            <p:cNvPr name="Freeform 307" id="307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308" id="308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CFO</a:t>
              </a:r>
            </a:p>
          </p:txBody>
        </p:sp>
      </p:grpSp>
      <p:grpSp>
        <p:nvGrpSpPr>
          <p:cNvPr name="Group 309" id="309"/>
          <p:cNvGrpSpPr/>
          <p:nvPr/>
        </p:nvGrpSpPr>
        <p:grpSpPr>
          <a:xfrm rot="0">
            <a:off x="13681786" y="4224080"/>
            <a:ext cx="2135153" cy="645795"/>
            <a:chOff x="0" y="0"/>
            <a:chExt cx="2846870" cy="861060"/>
          </a:xfrm>
        </p:grpSpPr>
        <p:sp>
          <p:nvSpPr>
            <p:cNvPr name="Freeform 310" id="310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311" id="311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12" id="312"/>
          <p:cNvGrpSpPr/>
          <p:nvPr/>
        </p:nvGrpSpPr>
        <p:grpSpPr>
          <a:xfrm rot="0">
            <a:off x="13740451" y="4282735"/>
            <a:ext cx="2045284" cy="555936"/>
            <a:chOff x="0" y="0"/>
            <a:chExt cx="2727046" cy="741248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Finance, Product</a:t>
              </a:r>
            </a:p>
          </p:txBody>
        </p:sp>
      </p:grpSp>
      <p:grpSp>
        <p:nvGrpSpPr>
          <p:cNvPr name="Group 315" id="315"/>
          <p:cNvGrpSpPr/>
          <p:nvPr/>
        </p:nvGrpSpPr>
        <p:grpSpPr>
          <a:xfrm rot="0">
            <a:off x="15809433" y="4224080"/>
            <a:ext cx="2135153" cy="645795"/>
            <a:chOff x="0" y="0"/>
            <a:chExt cx="2846870" cy="861060"/>
          </a:xfrm>
        </p:grpSpPr>
        <p:sp>
          <p:nvSpPr>
            <p:cNvPr name="Freeform 316" id="316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317" id="317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18" id="318"/>
          <p:cNvGrpSpPr/>
          <p:nvPr/>
        </p:nvGrpSpPr>
        <p:grpSpPr>
          <a:xfrm rot="0">
            <a:off x="15868098" y="4282735"/>
            <a:ext cx="2045284" cy="555936"/>
            <a:chOff x="0" y="0"/>
            <a:chExt cx="2727046" cy="741248"/>
          </a:xfrm>
        </p:grpSpPr>
        <p:sp>
          <p:nvSpPr>
            <p:cNvPr name="Freeform 319" id="319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320" id="320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Optimise revenue per order</a:t>
              </a:r>
            </a:p>
          </p:txBody>
        </p:sp>
      </p:grpSp>
      <p:grpSp>
        <p:nvGrpSpPr>
          <p:cNvPr name="Group 321" id="321"/>
          <p:cNvGrpSpPr/>
          <p:nvPr/>
        </p:nvGrpSpPr>
        <p:grpSpPr>
          <a:xfrm rot="0">
            <a:off x="5926188" y="4862370"/>
            <a:ext cx="2890114" cy="645795"/>
            <a:chOff x="0" y="0"/>
            <a:chExt cx="3853485" cy="861060"/>
          </a:xfrm>
        </p:grpSpPr>
        <p:sp>
          <p:nvSpPr>
            <p:cNvPr name="Freeform 322" id="322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3" id="323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24" id="324"/>
          <p:cNvGrpSpPr/>
          <p:nvPr/>
        </p:nvGrpSpPr>
        <p:grpSpPr>
          <a:xfrm rot="0">
            <a:off x="5929941" y="4866122"/>
            <a:ext cx="54912" cy="638289"/>
            <a:chOff x="0" y="0"/>
            <a:chExt cx="73216" cy="851052"/>
          </a:xfrm>
        </p:grpSpPr>
        <p:sp>
          <p:nvSpPr>
            <p:cNvPr name="Freeform 325" id="325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154B8C"/>
            </a:solidFill>
          </p:spPr>
        </p:sp>
      </p:grpSp>
      <p:grpSp>
        <p:nvGrpSpPr>
          <p:cNvPr name="Group 326" id="326"/>
          <p:cNvGrpSpPr/>
          <p:nvPr/>
        </p:nvGrpSpPr>
        <p:grpSpPr>
          <a:xfrm rot="0">
            <a:off x="6039755" y="4921034"/>
            <a:ext cx="2717892" cy="555936"/>
            <a:chOff x="0" y="0"/>
            <a:chExt cx="3623856" cy="741248"/>
          </a:xfrm>
        </p:grpSpPr>
        <p:sp>
          <p:nvSpPr>
            <p:cNvPr name="Freeform 327" id="327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328" id="328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Retention Rate</a:t>
              </a:r>
            </a:p>
          </p:txBody>
        </p:sp>
      </p:grpSp>
      <p:grpSp>
        <p:nvGrpSpPr>
          <p:cNvPr name="Group 329" id="329"/>
          <p:cNvGrpSpPr/>
          <p:nvPr/>
        </p:nvGrpSpPr>
        <p:grpSpPr>
          <a:xfrm rot="0">
            <a:off x="8808806" y="4862370"/>
            <a:ext cx="968378" cy="645795"/>
            <a:chOff x="0" y="0"/>
            <a:chExt cx="1291171" cy="861060"/>
          </a:xfrm>
        </p:grpSpPr>
        <p:sp>
          <p:nvSpPr>
            <p:cNvPr name="Freeform 330" id="330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D6E4F8"/>
            </a:solidFill>
          </p:spPr>
        </p:sp>
        <p:sp>
          <p:nvSpPr>
            <p:cNvPr name="Freeform 331" id="331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32" id="332"/>
          <p:cNvGrpSpPr/>
          <p:nvPr/>
        </p:nvGrpSpPr>
        <p:grpSpPr>
          <a:xfrm rot="0">
            <a:off x="8867461" y="4921034"/>
            <a:ext cx="878510" cy="555936"/>
            <a:chOff x="0" y="0"/>
            <a:chExt cx="1171346" cy="741248"/>
          </a:xfrm>
        </p:grpSpPr>
        <p:sp>
          <p:nvSpPr>
            <p:cNvPr name="Freeform 333" id="333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334" id="334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Monthly</a:t>
              </a:r>
            </a:p>
          </p:txBody>
        </p:sp>
      </p:grpSp>
      <p:grpSp>
        <p:nvGrpSpPr>
          <p:cNvPr name="Group 335" id="335"/>
          <p:cNvGrpSpPr/>
          <p:nvPr/>
        </p:nvGrpSpPr>
        <p:grpSpPr>
          <a:xfrm rot="0">
            <a:off x="9769678" y="4862370"/>
            <a:ext cx="1791976" cy="645795"/>
            <a:chOff x="0" y="0"/>
            <a:chExt cx="2389302" cy="861060"/>
          </a:xfrm>
        </p:grpSpPr>
        <p:sp>
          <p:nvSpPr>
            <p:cNvPr name="Freeform 336" id="336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7" id="337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38" id="338"/>
          <p:cNvGrpSpPr/>
          <p:nvPr/>
        </p:nvGrpSpPr>
        <p:grpSpPr>
          <a:xfrm rot="0">
            <a:off x="9828333" y="4921034"/>
            <a:ext cx="1702117" cy="555936"/>
            <a:chOff x="0" y="0"/>
            <a:chExt cx="2269490" cy="741248"/>
          </a:xfrm>
        </p:grpSpPr>
        <p:sp>
          <p:nvSpPr>
            <p:cNvPr name="Freeform 339" id="339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340" id="340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+ Email</a:t>
              </a:r>
            </a:p>
          </p:txBody>
        </p:sp>
      </p:grpSp>
      <p:grpSp>
        <p:nvGrpSpPr>
          <p:cNvPr name="Group 341" id="341"/>
          <p:cNvGrpSpPr/>
          <p:nvPr/>
        </p:nvGrpSpPr>
        <p:grpSpPr>
          <a:xfrm rot="0">
            <a:off x="11554149" y="4862370"/>
            <a:ext cx="2135153" cy="645795"/>
            <a:chOff x="0" y="0"/>
            <a:chExt cx="2846870" cy="861060"/>
          </a:xfrm>
        </p:grpSpPr>
        <p:sp>
          <p:nvSpPr>
            <p:cNvPr name="Freeform 342" id="342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3" id="343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44" id="344"/>
          <p:cNvGrpSpPr/>
          <p:nvPr/>
        </p:nvGrpSpPr>
        <p:grpSpPr>
          <a:xfrm rot="0">
            <a:off x="11612804" y="4921034"/>
            <a:ext cx="2045284" cy="555936"/>
            <a:chOff x="0" y="0"/>
            <a:chExt cx="2727046" cy="741248"/>
          </a:xfrm>
        </p:grpSpPr>
        <p:sp>
          <p:nvSpPr>
            <p:cNvPr name="Freeform 345" id="345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346" id="346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CMO</a:t>
              </a:r>
            </a:p>
          </p:txBody>
        </p:sp>
      </p:grpSp>
      <p:grpSp>
        <p:nvGrpSpPr>
          <p:cNvPr name="Group 347" id="347"/>
          <p:cNvGrpSpPr/>
          <p:nvPr/>
        </p:nvGrpSpPr>
        <p:grpSpPr>
          <a:xfrm rot="0">
            <a:off x="13681786" y="4862370"/>
            <a:ext cx="2135153" cy="645795"/>
            <a:chOff x="0" y="0"/>
            <a:chExt cx="2846870" cy="861060"/>
          </a:xfrm>
        </p:grpSpPr>
        <p:sp>
          <p:nvSpPr>
            <p:cNvPr name="Freeform 348" id="348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9" id="349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50" id="350"/>
          <p:cNvGrpSpPr/>
          <p:nvPr/>
        </p:nvGrpSpPr>
        <p:grpSpPr>
          <a:xfrm rot="0">
            <a:off x="13740451" y="4921034"/>
            <a:ext cx="2045284" cy="555936"/>
            <a:chOff x="0" y="0"/>
            <a:chExt cx="2727046" cy="741248"/>
          </a:xfrm>
        </p:grpSpPr>
        <p:sp>
          <p:nvSpPr>
            <p:cNvPr name="Freeform 351" id="351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352" id="352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Marketing, Product</a:t>
              </a:r>
            </a:p>
          </p:txBody>
        </p:sp>
      </p:grpSp>
      <p:grpSp>
        <p:nvGrpSpPr>
          <p:cNvPr name="Group 353" id="353"/>
          <p:cNvGrpSpPr/>
          <p:nvPr/>
        </p:nvGrpSpPr>
        <p:grpSpPr>
          <a:xfrm rot="0">
            <a:off x="15809433" y="4862370"/>
            <a:ext cx="2135153" cy="645795"/>
            <a:chOff x="0" y="0"/>
            <a:chExt cx="2846870" cy="861060"/>
          </a:xfrm>
        </p:grpSpPr>
        <p:sp>
          <p:nvSpPr>
            <p:cNvPr name="Freeform 354" id="354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5" id="355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56" id="356"/>
          <p:cNvGrpSpPr/>
          <p:nvPr/>
        </p:nvGrpSpPr>
        <p:grpSpPr>
          <a:xfrm rot="0">
            <a:off x="15868098" y="4921034"/>
            <a:ext cx="2045284" cy="555936"/>
            <a:chOff x="0" y="0"/>
            <a:chExt cx="2727046" cy="741248"/>
          </a:xfrm>
        </p:grpSpPr>
        <p:sp>
          <p:nvSpPr>
            <p:cNvPr name="Freeform 357" id="357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358" id="358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 churn, build loyalty</a:t>
              </a:r>
            </a:p>
          </p:txBody>
        </p:sp>
      </p:grpSp>
      <p:grpSp>
        <p:nvGrpSpPr>
          <p:cNvPr name="Group 359" id="359"/>
          <p:cNvGrpSpPr/>
          <p:nvPr/>
        </p:nvGrpSpPr>
        <p:grpSpPr>
          <a:xfrm rot="0">
            <a:off x="5926188" y="5500659"/>
            <a:ext cx="2890114" cy="645795"/>
            <a:chOff x="0" y="0"/>
            <a:chExt cx="3853485" cy="861060"/>
          </a:xfrm>
        </p:grpSpPr>
        <p:sp>
          <p:nvSpPr>
            <p:cNvPr name="Freeform 360" id="360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361" id="361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62" id="362"/>
          <p:cNvGrpSpPr/>
          <p:nvPr/>
        </p:nvGrpSpPr>
        <p:grpSpPr>
          <a:xfrm rot="0">
            <a:off x="5929941" y="5504412"/>
            <a:ext cx="54912" cy="638289"/>
            <a:chOff x="0" y="0"/>
            <a:chExt cx="73216" cy="851052"/>
          </a:xfrm>
        </p:grpSpPr>
        <p:sp>
          <p:nvSpPr>
            <p:cNvPr name="Freeform 363" id="363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D4733A"/>
            </a:solidFill>
          </p:spPr>
        </p:sp>
      </p:grpSp>
      <p:grpSp>
        <p:nvGrpSpPr>
          <p:cNvPr name="Group 364" id="364"/>
          <p:cNvGrpSpPr/>
          <p:nvPr/>
        </p:nvGrpSpPr>
        <p:grpSpPr>
          <a:xfrm rot="0">
            <a:off x="6039755" y="5559323"/>
            <a:ext cx="2717892" cy="555936"/>
            <a:chOff x="0" y="0"/>
            <a:chExt cx="3623856" cy="741248"/>
          </a:xfrm>
        </p:grpSpPr>
        <p:sp>
          <p:nvSpPr>
            <p:cNvPr name="Freeform 365" id="365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366" id="366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D473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Partner Net Revenue</a:t>
              </a:r>
            </a:p>
          </p:txBody>
        </p:sp>
      </p:grpSp>
      <p:grpSp>
        <p:nvGrpSpPr>
          <p:cNvPr name="Group 367" id="367"/>
          <p:cNvGrpSpPr/>
          <p:nvPr/>
        </p:nvGrpSpPr>
        <p:grpSpPr>
          <a:xfrm rot="0">
            <a:off x="8808806" y="5500659"/>
            <a:ext cx="968378" cy="645795"/>
            <a:chOff x="0" y="0"/>
            <a:chExt cx="1291171" cy="861060"/>
          </a:xfrm>
        </p:grpSpPr>
        <p:sp>
          <p:nvSpPr>
            <p:cNvPr name="Freeform 368" id="368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D6E4F8"/>
            </a:solidFill>
          </p:spPr>
        </p:sp>
        <p:sp>
          <p:nvSpPr>
            <p:cNvPr name="Freeform 369" id="369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70" id="370"/>
          <p:cNvGrpSpPr/>
          <p:nvPr/>
        </p:nvGrpSpPr>
        <p:grpSpPr>
          <a:xfrm rot="0">
            <a:off x="8867461" y="5559323"/>
            <a:ext cx="878510" cy="555936"/>
            <a:chOff x="0" y="0"/>
            <a:chExt cx="1171346" cy="741248"/>
          </a:xfrm>
        </p:grpSpPr>
        <p:sp>
          <p:nvSpPr>
            <p:cNvPr name="Freeform 371" id="371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372" id="372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Monthly</a:t>
              </a:r>
            </a:p>
          </p:txBody>
        </p:sp>
      </p:grpSp>
      <p:grpSp>
        <p:nvGrpSpPr>
          <p:cNvPr name="Group 373" id="373"/>
          <p:cNvGrpSpPr/>
          <p:nvPr/>
        </p:nvGrpSpPr>
        <p:grpSpPr>
          <a:xfrm rot="0">
            <a:off x="9769678" y="5500659"/>
            <a:ext cx="1791976" cy="645795"/>
            <a:chOff x="0" y="0"/>
            <a:chExt cx="2389302" cy="861060"/>
          </a:xfrm>
        </p:grpSpPr>
        <p:sp>
          <p:nvSpPr>
            <p:cNvPr name="Freeform 374" id="374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375" id="375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76" id="376"/>
          <p:cNvGrpSpPr/>
          <p:nvPr/>
        </p:nvGrpSpPr>
        <p:grpSpPr>
          <a:xfrm rot="0">
            <a:off x="9828333" y="5559323"/>
            <a:ext cx="1702117" cy="555936"/>
            <a:chOff x="0" y="0"/>
            <a:chExt cx="2269490" cy="741248"/>
          </a:xfrm>
        </p:grpSpPr>
        <p:sp>
          <p:nvSpPr>
            <p:cNvPr name="Freeform 377" id="377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378" id="378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+ Reports</a:t>
              </a:r>
            </a:p>
          </p:txBody>
        </p:sp>
      </p:grpSp>
      <p:grpSp>
        <p:nvGrpSpPr>
          <p:cNvPr name="Group 379" id="379"/>
          <p:cNvGrpSpPr/>
          <p:nvPr/>
        </p:nvGrpSpPr>
        <p:grpSpPr>
          <a:xfrm rot="0">
            <a:off x="11554149" y="5500659"/>
            <a:ext cx="2135153" cy="645795"/>
            <a:chOff x="0" y="0"/>
            <a:chExt cx="2846870" cy="861060"/>
          </a:xfrm>
        </p:grpSpPr>
        <p:sp>
          <p:nvSpPr>
            <p:cNvPr name="Freeform 380" id="380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381" id="381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82" id="382"/>
          <p:cNvGrpSpPr/>
          <p:nvPr/>
        </p:nvGrpSpPr>
        <p:grpSpPr>
          <a:xfrm rot="0">
            <a:off x="11612804" y="5559323"/>
            <a:ext cx="2045284" cy="555936"/>
            <a:chOff x="0" y="0"/>
            <a:chExt cx="2727046" cy="741248"/>
          </a:xfrm>
        </p:grpSpPr>
        <p:sp>
          <p:nvSpPr>
            <p:cNvPr name="Freeform 383" id="383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384" id="384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CFO</a:t>
              </a:r>
            </a:p>
          </p:txBody>
        </p:sp>
      </p:grpSp>
      <p:grpSp>
        <p:nvGrpSpPr>
          <p:cNvPr name="Group 385" id="385"/>
          <p:cNvGrpSpPr/>
          <p:nvPr/>
        </p:nvGrpSpPr>
        <p:grpSpPr>
          <a:xfrm rot="0">
            <a:off x="13681786" y="5500659"/>
            <a:ext cx="2135153" cy="645795"/>
            <a:chOff x="0" y="0"/>
            <a:chExt cx="2846870" cy="861060"/>
          </a:xfrm>
        </p:grpSpPr>
        <p:sp>
          <p:nvSpPr>
            <p:cNvPr name="Freeform 386" id="386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387" id="387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88" id="388"/>
          <p:cNvGrpSpPr/>
          <p:nvPr/>
        </p:nvGrpSpPr>
        <p:grpSpPr>
          <a:xfrm rot="0">
            <a:off x="13740451" y="5559323"/>
            <a:ext cx="2045284" cy="555936"/>
            <a:chOff x="0" y="0"/>
            <a:chExt cx="2727046" cy="741248"/>
          </a:xfrm>
        </p:grpSpPr>
        <p:sp>
          <p:nvSpPr>
            <p:cNvPr name="Freeform 389" id="389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390" id="390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Finance, Partners</a:t>
              </a:r>
            </a:p>
          </p:txBody>
        </p:sp>
      </p:grpSp>
      <p:grpSp>
        <p:nvGrpSpPr>
          <p:cNvPr name="Group 391" id="391"/>
          <p:cNvGrpSpPr/>
          <p:nvPr/>
        </p:nvGrpSpPr>
        <p:grpSpPr>
          <a:xfrm rot="0">
            <a:off x="15809433" y="5500659"/>
            <a:ext cx="2135153" cy="645795"/>
            <a:chOff x="0" y="0"/>
            <a:chExt cx="2846870" cy="861060"/>
          </a:xfrm>
        </p:grpSpPr>
        <p:sp>
          <p:nvSpPr>
            <p:cNvPr name="Freeform 392" id="392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393" id="393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94" id="394"/>
          <p:cNvGrpSpPr/>
          <p:nvPr/>
        </p:nvGrpSpPr>
        <p:grpSpPr>
          <a:xfrm rot="0">
            <a:off x="15868098" y="5559323"/>
            <a:ext cx="2045284" cy="555936"/>
            <a:chOff x="0" y="0"/>
            <a:chExt cx="2727046" cy="741248"/>
          </a:xfrm>
        </p:grpSpPr>
        <p:sp>
          <p:nvSpPr>
            <p:cNvPr name="Freeform 395" id="395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396" id="396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 financial performance</a:t>
              </a:r>
            </a:p>
          </p:txBody>
        </p:sp>
      </p:grpSp>
      <p:grpSp>
        <p:nvGrpSpPr>
          <p:cNvPr name="Group 397" id="397"/>
          <p:cNvGrpSpPr/>
          <p:nvPr/>
        </p:nvGrpSpPr>
        <p:grpSpPr>
          <a:xfrm rot="0">
            <a:off x="5926188" y="6138958"/>
            <a:ext cx="2890114" cy="645795"/>
            <a:chOff x="0" y="0"/>
            <a:chExt cx="3853485" cy="861060"/>
          </a:xfrm>
        </p:grpSpPr>
        <p:sp>
          <p:nvSpPr>
            <p:cNvPr name="Freeform 398" id="398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9" id="399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00" id="400"/>
          <p:cNvGrpSpPr/>
          <p:nvPr/>
        </p:nvGrpSpPr>
        <p:grpSpPr>
          <a:xfrm rot="0">
            <a:off x="5929941" y="6142711"/>
            <a:ext cx="54912" cy="638289"/>
            <a:chOff x="0" y="0"/>
            <a:chExt cx="73216" cy="851052"/>
          </a:xfrm>
        </p:grpSpPr>
        <p:sp>
          <p:nvSpPr>
            <p:cNvPr name="Freeform 401" id="401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6A0572"/>
            </a:solidFill>
          </p:spPr>
        </p:sp>
      </p:grpSp>
      <p:grpSp>
        <p:nvGrpSpPr>
          <p:cNvPr name="Group 402" id="402"/>
          <p:cNvGrpSpPr/>
          <p:nvPr/>
        </p:nvGrpSpPr>
        <p:grpSpPr>
          <a:xfrm rot="0">
            <a:off x="6039755" y="6197613"/>
            <a:ext cx="2717892" cy="555936"/>
            <a:chOff x="0" y="0"/>
            <a:chExt cx="3623856" cy="741248"/>
          </a:xfrm>
        </p:grpSpPr>
        <p:sp>
          <p:nvSpPr>
            <p:cNvPr name="Freeform 403" id="403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404" id="404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6A05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Partner Rating</a:t>
              </a:r>
            </a:p>
          </p:txBody>
        </p:sp>
      </p:grpSp>
      <p:grpSp>
        <p:nvGrpSpPr>
          <p:cNvPr name="Group 405" id="405"/>
          <p:cNvGrpSpPr/>
          <p:nvPr/>
        </p:nvGrpSpPr>
        <p:grpSpPr>
          <a:xfrm rot="0">
            <a:off x="8808806" y="6138958"/>
            <a:ext cx="968378" cy="645795"/>
            <a:chOff x="0" y="0"/>
            <a:chExt cx="1291171" cy="861060"/>
          </a:xfrm>
        </p:grpSpPr>
        <p:sp>
          <p:nvSpPr>
            <p:cNvPr name="Freeform 406" id="406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EDFCF4"/>
            </a:solidFill>
          </p:spPr>
        </p:sp>
        <p:sp>
          <p:nvSpPr>
            <p:cNvPr name="Freeform 407" id="407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08" id="408"/>
          <p:cNvGrpSpPr/>
          <p:nvPr/>
        </p:nvGrpSpPr>
        <p:grpSpPr>
          <a:xfrm rot="0">
            <a:off x="8867461" y="6197613"/>
            <a:ext cx="878510" cy="555936"/>
            <a:chOff x="0" y="0"/>
            <a:chExt cx="1171346" cy="741248"/>
          </a:xfrm>
        </p:grpSpPr>
        <p:sp>
          <p:nvSpPr>
            <p:cNvPr name="Freeform 409" id="409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410" id="410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Weekly</a:t>
              </a:r>
            </a:p>
          </p:txBody>
        </p:sp>
      </p:grpSp>
      <p:grpSp>
        <p:nvGrpSpPr>
          <p:cNvPr name="Group 411" id="411"/>
          <p:cNvGrpSpPr/>
          <p:nvPr/>
        </p:nvGrpSpPr>
        <p:grpSpPr>
          <a:xfrm rot="0">
            <a:off x="9769678" y="6138958"/>
            <a:ext cx="1791976" cy="645795"/>
            <a:chOff x="0" y="0"/>
            <a:chExt cx="2389302" cy="861060"/>
          </a:xfrm>
        </p:grpSpPr>
        <p:sp>
          <p:nvSpPr>
            <p:cNvPr name="Freeform 412" id="412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3" id="413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14" id="414"/>
          <p:cNvGrpSpPr/>
          <p:nvPr/>
        </p:nvGrpSpPr>
        <p:grpSpPr>
          <a:xfrm rot="0">
            <a:off x="9828333" y="6197613"/>
            <a:ext cx="1702117" cy="555936"/>
            <a:chOff x="0" y="0"/>
            <a:chExt cx="2269490" cy="741248"/>
          </a:xfrm>
        </p:grpSpPr>
        <p:sp>
          <p:nvSpPr>
            <p:cNvPr name="Freeform 415" id="415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416" id="416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+ Slack</a:t>
              </a:r>
            </a:p>
          </p:txBody>
        </p:sp>
      </p:grpSp>
      <p:grpSp>
        <p:nvGrpSpPr>
          <p:cNvPr name="Group 417" id="417"/>
          <p:cNvGrpSpPr/>
          <p:nvPr/>
        </p:nvGrpSpPr>
        <p:grpSpPr>
          <a:xfrm rot="0">
            <a:off x="11554149" y="6138958"/>
            <a:ext cx="2135153" cy="645795"/>
            <a:chOff x="0" y="0"/>
            <a:chExt cx="2846870" cy="861060"/>
          </a:xfrm>
        </p:grpSpPr>
        <p:sp>
          <p:nvSpPr>
            <p:cNvPr name="Freeform 418" id="418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9" id="419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20" id="420"/>
          <p:cNvGrpSpPr/>
          <p:nvPr/>
        </p:nvGrpSpPr>
        <p:grpSpPr>
          <a:xfrm rot="0">
            <a:off x="11612804" y="6197613"/>
            <a:ext cx="2045284" cy="555936"/>
            <a:chOff x="0" y="0"/>
            <a:chExt cx="2727046" cy="741248"/>
          </a:xfrm>
        </p:grpSpPr>
        <p:sp>
          <p:nvSpPr>
            <p:cNvPr name="Freeform 421" id="421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422" id="422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Head of Quality</a:t>
              </a:r>
            </a:p>
          </p:txBody>
        </p:sp>
      </p:grpSp>
      <p:grpSp>
        <p:nvGrpSpPr>
          <p:cNvPr name="Group 423" id="423"/>
          <p:cNvGrpSpPr/>
          <p:nvPr/>
        </p:nvGrpSpPr>
        <p:grpSpPr>
          <a:xfrm rot="0">
            <a:off x="13681786" y="6138958"/>
            <a:ext cx="2135153" cy="645795"/>
            <a:chOff x="0" y="0"/>
            <a:chExt cx="2846870" cy="861060"/>
          </a:xfrm>
        </p:grpSpPr>
        <p:sp>
          <p:nvSpPr>
            <p:cNvPr name="Freeform 424" id="424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5" id="425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26" id="426"/>
          <p:cNvGrpSpPr/>
          <p:nvPr/>
        </p:nvGrpSpPr>
        <p:grpSpPr>
          <a:xfrm rot="0">
            <a:off x="13740451" y="6197613"/>
            <a:ext cx="2045284" cy="555936"/>
            <a:chOff x="0" y="0"/>
            <a:chExt cx="2727046" cy="741248"/>
          </a:xfrm>
        </p:grpSpPr>
        <p:sp>
          <p:nvSpPr>
            <p:cNvPr name="Freeform 427" id="427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428" id="428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Ops, Partners, Mktg</a:t>
              </a:r>
            </a:p>
          </p:txBody>
        </p:sp>
      </p:grpSp>
      <p:grpSp>
        <p:nvGrpSpPr>
          <p:cNvPr name="Group 429" id="429"/>
          <p:cNvGrpSpPr/>
          <p:nvPr/>
        </p:nvGrpSpPr>
        <p:grpSpPr>
          <a:xfrm rot="0">
            <a:off x="15809433" y="6138958"/>
            <a:ext cx="2135153" cy="645795"/>
            <a:chOff x="0" y="0"/>
            <a:chExt cx="2846870" cy="861060"/>
          </a:xfrm>
        </p:grpSpPr>
        <p:sp>
          <p:nvSpPr>
            <p:cNvPr name="Freeform 430" id="430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1" id="431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32" id="432"/>
          <p:cNvGrpSpPr/>
          <p:nvPr/>
        </p:nvGrpSpPr>
        <p:grpSpPr>
          <a:xfrm rot="0">
            <a:off x="15868098" y="6197613"/>
            <a:ext cx="2045284" cy="555936"/>
            <a:chOff x="0" y="0"/>
            <a:chExt cx="2727046" cy="741248"/>
          </a:xfrm>
        </p:grpSpPr>
        <p:sp>
          <p:nvSpPr>
            <p:cNvPr name="Freeform 433" id="433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434" id="434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Maintain service quality</a:t>
              </a:r>
            </a:p>
          </p:txBody>
        </p:sp>
      </p:grpSp>
      <p:grpSp>
        <p:nvGrpSpPr>
          <p:cNvPr name="Group 435" id="435"/>
          <p:cNvGrpSpPr/>
          <p:nvPr/>
        </p:nvGrpSpPr>
        <p:grpSpPr>
          <a:xfrm rot="0">
            <a:off x="5926188" y="6777247"/>
            <a:ext cx="2890114" cy="645795"/>
            <a:chOff x="0" y="0"/>
            <a:chExt cx="3853485" cy="861060"/>
          </a:xfrm>
        </p:grpSpPr>
        <p:sp>
          <p:nvSpPr>
            <p:cNvPr name="Freeform 436" id="436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437" id="437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38" id="438"/>
          <p:cNvGrpSpPr/>
          <p:nvPr/>
        </p:nvGrpSpPr>
        <p:grpSpPr>
          <a:xfrm rot="0">
            <a:off x="5929941" y="6781000"/>
            <a:ext cx="54912" cy="638289"/>
            <a:chOff x="0" y="0"/>
            <a:chExt cx="73216" cy="851052"/>
          </a:xfrm>
        </p:grpSpPr>
        <p:sp>
          <p:nvSpPr>
            <p:cNvPr name="Freeform 439" id="439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440" id="440"/>
          <p:cNvGrpSpPr/>
          <p:nvPr/>
        </p:nvGrpSpPr>
        <p:grpSpPr>
          <a:xfrm rot="0">
            <a:off x="6039755" y="6835912"/>
            <a:ext cx="2717892" cy="555936"/>
            <a:chOff x="0" y="0"/>
            <a:chExt cx="3623856" cy="741248"/>
          </a:xfrm>
        </p:grpSpPr>
        <p:sp>
          <p:nvSpPr>
            <p:cNvPr name="Freeform 441" id="441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442" id="442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1B4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 Partner Sign-ups</a:t>
              </a:r>
            </a:p>
          </p:txBody>
        </p:sp>
      </p:grpSp>
      <p:grpSp>
        <p:nvGrpSpPr>
          <p:cNvPr name="Group 443" id="443"/>
          <p:cNvGrpSpPr/>
          <p:nvPr/>
        </p:nvGrpSpPr>
        <p:grpSpPr>
          <a:xfrm rot="0">
            <a:off x="8808806" y="6777247"/>
            <a:ext cx="968378" cy="645795"/>
            <a:chOff x="0" y="0"/>
            <a:chExt cx="1291171" cy="861060"/>
          </a:xfrm>
        </p:grpSpPr>
        <p:sp>
          <p:nvSpPr>
            <p:cNvPr name="Freeform 444" id="444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D6E4F8"/>
            </a:solidFill>
          </p:spPr>
        </p:sp>
        <p:sp>
          <p:nvSpPr>
            <p:cNvPr name="Freeform 445" id="445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46" id="446"/>
          <p:cNvGrpSpPr/>
          <p:nvPr/>
        </p:nvGrpSpPr>
        <p:grpSpPr>
          <a:xfrm rot="0">
            <a:off x="8867461" y="6835912"/>
            <a:ext cx="878510" cy="555936"/>
            <a:chOff x="0" y="0"/>
            <a:chExt cx="1171346" cy="741248"/>
          </a:xfrm>
        </p:grpSpPr>
        <p:sp>
          <p:nvSpPr>
            <p:cNvPr name="Freeform 447" id="447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448" id="448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154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Monthly</a:t>
              </a:r>
            </a:p>
          </p:txBody>
        </p:sp>
      </p:grpSp>
      <p:grpSp>
        <p:nvGrpSpPr>
          <p:cNvPr name="Group 449" id="449"/>
          <p:cNvGrpSpPr/>
          <p:nvPr/>
        </p:nvGrpSpPr>
        <p:grpSpPr>
          <a:xfrm rot="0">
            <a:off x="9769678" y="6777247"/>
            <a:ext cx="1791976" cy="645795"/>
            <a:chOff x="0" y="0"/>
            <a:chExt cx="2389302" cy="861060"/>
          </a:xfrm>
        </p:grpSpPr>
        <p:sp>
          <p:nvSpPr>
            <p:cNvPr name="Freeform 450" id="450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451" id="451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52" id="452"/>
          <p:cNvGrpSpPr/>
          <p:nvPr/>
        </p:nvGrpSpPr>
        <p:grpSpPr>
          <a:xfrm rot="0">
            <a:off x="9828333" y="6835912"/>
            <a:ext cx="1702117" cy="555936"/>
            <a:chOff x="0" y="0"/>
            <a:chExt cx="2269490" cy="741248"/>
          </a:xfrm>
        </p:grpSpPr>
        <p:sp>
          <p:nvSpPr>
            <p:cNvPr name="Freeform 453" id="453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454" id="454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+ CRM</a:t>
              </a:r>
            </a:p>
          </p:txBody>
        </p:sp>
      </p:grpSp>
      <p:grpSp>
        <p:nvGrpSpPr>
          <p:cNvPr name="Group 455" id="455"/>
          <p:cNvGrpSpPr/>
          <p:nvPr/>
        </p:nvGrpSpPr>
        <p:grpSpPr>
          <a:xfrm rot="0">
            <a:off x="11554149" y="6777247"/>
            <a:ext cx="2135153" cy="645795"/>
            <a:chOff x="0" y="0"/>
            <a:chExt cx="2846870" cy="861060"/>
          </a:xfrm>
        </p:grpSpPr>
        <p:sp>
          <p:nvSpPr>
            <p:cNvPr name="Freeform 456" id="456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457" id="457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58" id="458"/>
          <p:cNvGrpSpPr/>
          <p:nvPr/>
        </p:nvGrpSpPr>
        <p:grpSpPr>
          <a:xfrm rot="0">
            <a:off x="11612804" y="6835912"/>
            <a:ext cx="2045284" cy="555936"/>
            <a:chOff x="0" y="0"/>
            <a:chExt cx="2727046" cy="741248"/>
          </a:xfrm>
        </p:grpSpPr>
        <p:sp>
          <p:nvSpPr>
            <p:cNvPr name="Freeform 459" id="459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460" id="460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VP Partnerships</a:t>
              </a:r>
            </a:p>
          </p:txBody>
        </p:sp>
      </p:grpSp>
      <p:grpSp>
        <p:nvGrpSpPr>
          <p:cNvPr name="Group 461" id="461"/>
          <p:cNvGrpSpPr/>
          <p:nvPr/>
        </p:nvGrpSpPr>
        <p:grpSpPr>
          <a:xfrm rot="0">
            <a:off x="13681786" y="6777247"/>
            <a:ext cx="2135153" cy="645795"/>
            <a:chOff x="0" y="0"/>
            <a:chExt cx="2846870" cy="861060"/>
          </a:xfrm>
        </p:grpSpPr>
        <p:sp>
          <p:nvSpPr>
            <p:cNvPr name="Freeform 462" id="462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463" id="463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64" id="464"/>
          <p:cNvGrpSpPr/>
          <p:nvPr/>
        </p:nvGrpSpPr>
        <p:grpSpPr>
          <a:xfrm rot="0">
            <a:off x="13740451" y="6835912"/>
            <a:ext cx="2045284" cy="555936"/>
            <a:chOff x="0" y="0"/>
            <a:chExt cx="2727046" cy="741248"/>
          </a:xfrm>
        </p:grpSpPr>
        <p:sp>
          <p:nvSpPr>
            <p:cNvPr name="Freeform 465" id="465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466" id="466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Sales, Ops, C-Suite</a:t>
              </a:r>
            </a:p>
          </p:txBody>
        </p:sp>
      </p:grpSp>
      <p:grpSp>
        <p:nvGrpSpPr>
          <p:cNvPr name="Group 467" id="467"/>
          <p:cNvGrpSpPr/>
          <p:nvPr/>
        </p:nvGrpSpPr>
        <p:grpSpPr>
          <a:xfrm rot="0">
            <a:off x="15809433" y="6777247"/>
            <a:ext cx="2135153" cy="645795"/>
            <a:chOff x="0" y="0"/>
            <a:chExt cx="2846870" cy="861060"/>
          </a:xfrm>
        </p:grpSpPr>
        <p:sp>
          <p:nvSpPr>
            <p:cNvPr name="Freeform 468" id="468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2FAF5"/>
            </a:solidFill>
          </p:spPr>
        </p:sp>
        <p:sp>
          <p:nvSpPr>
            <p:cNvPr name="Freeform 469" id="469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70" id="470"/>
          <p:cNvGrpSpPr/>
          <p:nvPr/>
        </p:nvGrpSpPr>
        <p:grpSpPr>
          <a:xfrm rot="0">
            <a:off x="15868098" y="6835912"/>
            <a:ext cx="2045284" cy="555936"/>
            <a:chOff x="0" y="0"/>
            <a:chExt cx="2727046" cy="741248"/>
          </a:xfrm>
        </p:grpSpPr>
        <p:sp>
          <p:nvSpPr>
            <p:cNvPr name="Freeform 471" id="471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472" id="472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Grow the partner network</a:t>
              </a:r>
            </a:p>
          </p:txBody>
        </p:sp>
      </p:grpSp>
      <p:grpSp>
        <p:nvGrpSpPr>
          <p:cNvPr name="Group 473" id="473"/>
          <p:cNvGrpSpPr/>
          <p:nvPr/>
        </p:nvGrpSpPr>
        <p:grpSpPr>
          <a:xfrm rot="0">
            <a:off x="5926188" y="7415546"/>
            <a:ext cx="2890114" cy="645795"/>
            <a:chOff x="0" y="0"/>
            <a:chExt cx="3853485" cy="861060"/>
          </a:xfrm>
        </p:grpSpPr>
        <p:sp>
          <p:nvSpPr>
            <p:cNvPr name="Freeform 474" id="474"/>
            <p:cNvSpPr/>
            <p:nvPr/>
          </p:nvSpPr>
          <p:spPr>
            <a:xfrm flipH="false" flipV="false" rot="0">
              <a:off x="4953" y="4953"/>
              <a:ext cx="3843528" cy="851154"/>
            </a:xfrm>
            <a:custGeom>
              <a:avLst/>
              <a:gdLst/>
              <a:ahLst/>
              <a:cxnLst/>
              <a:rect r="r" b="b" t="t" l="l"/>
              <a:pathLst>
                <a:path h="851154" w="3843528">
                  <a:moveTo>
                    <a:pt x="0" y="0"/>
                  </a:moveTo>
                  <a:lnTo>
                    <a:pt x="3843528" y="0"/>
                  </a:lnTo>
                  <a:lnTo>
                    <a:pt x="3843528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5" id="475"/>
            <p:cNvSpPr/>
            <p:nvPr/>
          </p:nvSpPr>
          <p:spPr>
            <a:xfrm flipH="false" flipV="false" rot="0">
              <a:off x="0" y="0"/>
              <a:ext cx="3853434" cy="861060"/>
            </a:xfrm>
            <a:custGeom>
              <a:avLst/>
              <a:gdLst/>
              <a:ahLst/>
              <a:cxnLst/>
              <a:rect r="r" b="b" t="t" l="l"/>
              <a:pathLst>
                <a:path h="861060" w="3853434">
                  <a:moveTo>
                    <a:pt x="4953" y="0"/>
                  </a:moveTo>
                  <a:lnTo>
                    <a:pt x="3848481" y="0"/>
                  </a:lnTo>
                  <a:cubicBezTo>
                    <a:pt x="3851275" y="0"/>
                    <a:pt x="3853434" y="2286"/>
                    <a:pt x="3853434" y="4953"/>
                  </a:cubicBezTo>
                  <a:lnTo>
                    <a:pt x="3853434" y="856107"/>
                  </a:lnTo>
                  <a:cubicBezTo>
                    <a:pt x="3853434" y="858901"/>
                    <a:pt x="3851148" y="861060"/>
                    <a:pt x="3848481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3848481" y="851154"/>
                  </a:lnTo>
                  <a:lnTo>
                    <a:pt x="3848481" y="856107"/>
                  </a:lnTo>
                  <a:lnTo>
                    <a:pt x="3843528" y="856107"/>
                  </a:lnTo>
                  <a:lnTo>
                    <a:pt x="3843528" y="4953"/>
                  </a:lnTo>
                  <a:lnTo>
                    <a:pt x="3848481" y="4953"/>
                  </a:lnTo>
                  <a:lnTo>
                    <a:pt x="3848481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76" id="476"/>
          <p:cNvGrpSpPr/>
          <p:nvPr/>
        </p:nvGrpSpPr>
        <p:grpSpPr>
          <a:xfrm rot="0">
            <a:off x="5929941" y="7419299"/>
            <a:ext cx="54912" cy="638289"/>
            <a:chOff x="0" y="0"/>
            <a:chExt cx="73216" cy="851052"/>
          </a:xfrm>
        </p:grpSpPr>
        <p:sp>
          <p:nvSpPr>
            <p:cNvPr name="Freeform 477" id="477"/>
            <p:cNvSpPr/>
            <p:nvPr/>
          </p:nvSpPr>
          <p:spPr>
            <a:xfrm flipH="false" flipV="false" rot="0">
              <a:off x="0" y="0"/>
              <a:ext cx="73152" cy="851027"/>
            </a:xfrm>
            <a:custGeom>
              <a:avLst/>
              <a:gdLst/>
              <a:ahLst/>
              <a:cxnLst/>
              <a:rect r="r" b="b" t="t" l="l"/>
              <a:pathLst>
                <a:path h="851027" w="73152">
                  <a:moveTo>
                    <a:pt x="0" y="0"/>
                  </a:moveTo>
                  <a:lnTo>
                    <a:pt x="73152" y="0"/>
                  </a:lnTo>
                  <a:lnTo>
                    <a:pt x="73152" y="851027"/>
                  </a:lnTo>
                  <a:lnTo>
                    <a:pt x="0" y="851027"/>
                  </a:lnTo>
                  <a:close/>
                </a:path>
              </a:pathLst>
            </a:custGeom>
            <a:solidFill>
              <a:srgbClr val="2D936B"/>
            </a:solidFill>
          </p:spPr>
        </p:sp>
      </p:grpSp>
      <p:grpSp>
        <p:nvGrpSpPr>
          <p:cNvPr name="Group 478" id="478"/>
          <p:cNvGrpSpPr/>
          <p:nvPr/>
        </p:nvGrpSpPr>
        <p:grpSpPr>
          <a:xfrm rot="0">
            <a:off x="6039755" y="7474201"/>
            <a:ext cx="2717892" cy="555936"/>
            <a:chOff x="0" y="0"/>
            <a:chExt cx="3623856" cy="741248"/>
          </a:xfrm>
        </p:grpSpPr>
        <p:sp>
          <p:nvSpPr>
            <p:cNvPr name="Freeform 479" id="479"/>
            <p:cNvSpPr/>
            <p:nvPr/>
          </p:nvSpPr>
          <p:spPr>
            <a:xfrm flipH="false" flipV="false" rot="0">
              <a:off x="0" y="0"/>
              <a:ext cx="3623855" cy="741243"/>
            </a:xfrm>
            <a:custGeom>
              <a:avLst/>
              <a:gdLst/>
              <a:ahLst/>
              <a:cxnLst/>
              <a:rect r="r" b="b" t="t" l="l"/>
              <a:pathLst>
                <a:path h="741243" w="3623855">
                  <a:moveTo>
                    <a:pt x="0" y="0"/>
                  </a:moveTo>
                  <a:lnTo>
                    <a:pt x="3623855" y="0"/>
                  </a:lnTo>
                  <a:lnTo>
                    <a:pt x="362385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59" r="0" b="-45260"/>
              </a:stretch>
            </a:blipFill>
          </p:spPr>
        </p:sp>
        <p:sp>
          <p:nvSpPr>
            <p:cNvPr name="TextBox 480" id="480"/>
            <p:cNvSpPr txBox="true"/>
            <p:nvPr/>
          </p:nvSpPr>
          <p:spPr>
            <a:xfrm>
              <a:off x="0" y="-28575"/>
              <a:ext cx="362385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 b="true">
                  <a:solidFill>
                    <a:srgbClr val="2D93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Meals Saved — Cumulative</a:t>
              </a:r>
            </a:p>
          </p:txBody>
        </p:sp>
      </p:grpSp>
      <p:grpSp>
        <p:nvGrpSpPr>
          <p:cNvPr name="Group 481" id="481"/>
          <p:cNvGrpSpPr/>
          <p:nvPr/>
        </p:nvGrpSpPr>
        <p:grpSpPr>
          <a:xfrm rot="0">
            <a:off x="8808806" y="7415546"/>
            <a:ext cx="968378" cy="645795"/>
            <a:chOff x="0" y="0"/>
            <a:chExt cx="1291171" cy="861060"/>
          </a:xfrm>
        </p:grpSpPr>
        <p:sp>
          <p:nvSpPr>
            <p:cNvPr name="Freeform 482" id="482"/>
            <p:cNvSpPr/>
            <p:nvPr/>
          </p:nvSpPr>
          <p:spPr>
            <a:xfrm flipH="false" flipV="false" rot="0">
              <a:off x="4953" y="4953"/>
              <a:ext cx="1281176" cy="851154"/>
            </a:xfrm>
            <a:custGeom>
              <a:avLst/>
              <a:gdLst/>
              <a:ahLst/>
              <a:cxnLst/>
              <a:rect r="r" b="b" t="t" l="l"/>
              <a:pathLst>
                <a:path h="851154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3E8"/>
            </a:solidFill>
          </p:spPr>
        </p:sp>
        <p:sp>
          <p:nvSpPr>
            <p:cNvPr name="Freeform 483" id="483"/>
            <p:cNvSpPr/>
            <p:nvPr/>
          </p:nvSpPr>
          <p:spPr>
            <a:xfrm flipH="false" flipV="false" rot="0">
              <a:off x="0" y="0"/>
              <a:ext cx="1291082" cy="861060"/>
            </a:xfrm>
            <a:custGeom>
              <a:avLst/>
              <a:gdLst/>
              <a:ahLst/>
              <a:cxnLst/>
              <a:rect r="r" b="b" t="t" l="l"/>
              <a:pathLst>
                <a:path h="861060" w="1291082">
                  <a:moveTo>
                    <a:pt x="4953" y="0"/>
                  </a:moveTo>
                  <a:lnTo>
                    <a:pt x="1286129" y="0"/>
                  </a:lnTo>
                  <a:cubicBezTo>
                    <a:pt x="1288923" y="0"/>
                    <a:pt x="1291082" y="2286"/>
                    <a:pt x="1291082" y="4953"/>
                  </a:cubicBezTo>
                  <a:lnTo>
                    <a:pt x="1291082" y="856107"/>
                  </a:lnTo>
                  <a:cubicBezTo>
                    <a:pt x="1291082" y="858901"/>
                    <a:pt x="1288796" y="861060"/>
                    <a:pt x="128612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1286129" y="851154"/>
                  </a:lnTo>
                  <a:lnTo>
                    <a:pt x="1286129" y="856107"/>
                  </a:lnTo>
                  <a:lnTo>
                    <a:pt x="1281176" y="856107"/>
                  </a:lnTo>
                  <a:lnTo>
                    <a:pt x="1281176" y="4953"/>
                  </a:lnTo>
                  <a:lnTo>
                    <a:pt x="1286129" y="4953"/>
                  </a:lnTo>
                  <a:lnTo>
                    <a:pt x="128612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84" id="484"/>
          <p:cNvGrpSpPr/>
          <p:nvPr/>
        </p:nvGrpSpPr>
        <p:grpSpPr>
          <a:xfrm rot="0">
            <a:off x="8867461" y="7474201"/>
            <a:ext cx="878510" cy="555936"/>
            <a:chOff x="0" y="0"/>
            <a:chExt cx="1171346" cy="741248"/>
          </a:xfrm>
        </p:grpSpPr>
        <p:sp>
          <p:nvSpPr>
            <p:cNvPr name="Freeform 485" id="485"/>
            <p:cNvSpPr/>
            <p:nvPr/>
          </p:nvSpPr>
          <p:spPr>
            <a:xfrm flipH="false" flipV="false" rot="0">
              <a:off x="0" y="0"/>
              <a:ext cx="1171345" cy="741243"/>
            </a:xfrm>
            <a:custGeom>
              <a:avLst/>
              <a:gdLst/>
              <a:ahLst/>
              <a:cxnLst/>
              <a:rect r="r" b="b" t="t" l="l"/>
              <a:pathLst>
                <a:path h="741243" w="1171345">
                  <a:moveTo>
                    <a:pt x="0" y="0"/>
                  </a:moveTo>
                  <a:lnTo>
                    <a:pt x="1171345" y="0"/>
                  </a:lnTo>
                  <a:lnTo>
                    <a:pt x="117134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92" t="0" r="-31192" b="0"/>
              </a:stretch>
            </a:blipFill>
          </p:spPr>
        </p:sp>
        <p:sp>
          <p:nvSpPr>
            <p:cNvPr name="TextBox 486" id="486"/>
            <p:cNvSpPr txBox="true"/>
            <p:nvPr/>
          </p:nvSpPr>
          <p:spPr>
            <a:xfrm>
              <a:off x="0" y="-28575"/>
              <a:ext cx="11713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D473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Daily</a:t>
              </a:r>
            </a:p>
          </p:txBody>
        </p:sp>
      </p:grpSp>
      <p:grpSp>
        <p:nvGrpSpPr>
          <p:cNvPr name="Group 487" id="487"/>
          <p:cNvGrpSpPr/>
          <p:nvPr/>
        </p:nvGrpSpPr>
        <p:grpSpPr>
          <a:xfrm rot="0">
            <a:off x="9769678" y="7415546"/>
            <a:ext cx="1791976" cy="645795"/>
            <a:chOff x="0" y="0"/>
            <a:chExt cx="2389302" cy="861060"/>
          </a:xfrm>
        </p:grpSpPr>
        <p:sp>
          <p:nvSpPr>
            <p:cNvPr name="Freeform 488" id="488"/>
            <p:cNvSpPr/>
            <p:nvPr/>
          </p:nvSpPr>
          <p:spPr>
            <a:xfrm flipH="false" flipV="false" rot="0">
              <a:off x="4953" y="4953"/>
              <a:ext cx="2379345" cy="851154"/>
            </a:xfrm>
            <a:custGeom>
              <a:avLst/>
              <a:gdLst/>
              <a:ahLst/>
              <a:cxnLst/>
              <a:rect r="r" b="b" t="t" l="l"/>
              <a:pathLst>
                <a:path h="851154" w="2379345">
                  <a:moveTo>
                    <a:pt x="0" y="0"/>
                  </a:moveTo>
                  <a:lnTo>
                    <a:pt x="2379345" y="0"/>
                  </a:lnTo>
                  <a:lnTo>
                    <a:pt x="2379345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9" id="489"/>
            <p:cNvSpPr/>
            <p:nvPr/>
          </p:nvSpPr>
          <p:spPr>
            <a:xfrm flipH="false" flipV="false" rot="0">
              <a:off x="0" y="0"/>
              <a:ext cx="2389251" cy="861060"/>
            </a:xfrm>
            <a:custGeom>
              <a:avLst/>
              <a:gdLst/>
              <a:ahLst/>
              <a:cxnLst/>
              <a:rect r="r" b="b" t="t" l="l"/>
              <a:pathLst>
                <a:path h="861060" w="2389251">
                  <a:moveTo>
                    <a:pt x="4953" y="0"/>
                  </a:moveTo>
                  <a:lnTo>
                    <a:pt x="2384298" y="0"/>
                  </a:lnTo>
                  <a:cubicBezTo>
                    <a:pt x="2387092" y="0"/>
                    <a:pt x="2389251" y="2286"/>
                    <a:pt x="2389251" y="4953"/>
                  </a:cubicBezTo>
                  <a:lnTo>
                    <a:pt x="2389251" y="856107"/>
                  </a:lnTo>
                  <a:cubicBezTo>
                    <a:pt x="2389251" y="858901"/>
                    <a:pt x="2386965" y="861060"/>
                    <a:pt x="2384298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384298" y="851154"/>
                  </a:lnTo>
                  <a:lnTo>
                    <a:pt x="2384298" y="856107"/>
                  </a:lnTo>
                  <a:lnTo>
                    <a:pt x="2379345" y="856107"/>
                  </a:lnTo>
                  <a:lnTo>
                    <a:pt x="2379345" y="4953"/>
                  </a:lnTo>
                  <a:lnTo>
                    <a:pt x="2384298" y="4953"/>
                  </a:lnTo>
                  <a:lnTo>
                    <a:pt x="2384298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90" id="490"/>
          <p:cNvGrpSpPr/>
          <p:nvPr/>
        </p:nvGrpSpPr>
        <p:grpSpPr>
          <a:xfrm rot="0">
            <a:off x="9828333" y="7474201"/>
            <a:ext cx="1702117" cy="555936"/>
            <a:chOff x="0" y="0"/>
            <a:chExt cx="2269490" cy="741248"/>
          </a:xfrm>
        </p:grpSpPr>
        <p:sp>
          <p:nvSpPr>
            <p:cNvPr name="Freeform 491" id="491"/>
            <p:cNvSpPr/>
            <p:nvPr/>
          </p:nvSpPr>
          <p:spPr>
            <a:xfrm flipH="false" flipV="false" rot="0">
              <a:off x="0" y="0"/>
              <a:ext cx="2269485" cy="741243"/>
            </a:xfrm>
            <a:custGeom>
              <a:avLst/>
              <a:gdLst/>
              <a:ahLst/>
              <a:cxnLst/>
              <a:rect r="r" b="b" t="t" l="l"/>
              <a:pathLst>
                <a:path h="741243" w="2269485">
                  <a:moveTo>
                    <a:pt x="0" y="0"/>
                  </a:moveTo>
                  <a:lnTo>
                    <a:pt x="2269485" y="0"/>
                  </a:lnTo>
                  <a:lnTo>
                    <a:pt x="2269485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57" r="0" b="-9658"/>
              </a:stretch>
            </a:blipFill>
          </p:spPr>
        </p:sp>
        <p:sp>
          <p:nvSpPr>
            <p:cNvPr name="TextBox 492" id="492"/>
            <p:cNvSpPr txBox="true"/>
            <p:nvPr/>
          </p:nvSpPr>
          <p:spPr>
            <a:xfrm>
              <a:off x="0" y="-28575"/>
              <a:ext cx="2269490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+ Website + PR</a:t>
              </a:r>
            </a:p>
          </p:txBody>
        </p:sp>
      </p:grpSp>
      <p:grpSp>
        <p:nvGrpSpPr>
          <p:cNvPr name="Group 493" id="493"/>
          <p:cNvGrpSpPr/>
          <p:nvPr/>
        </p:nvGrpSpPr>
        <p:grpSpPr>
          <a:xfrm rot="0">
            <a:off x="11554149" y="7415546"/>
            <a:ext cx="2135153" cy="645795"/>
            <a:chOff x="0" y="0"/>
            <a:chExt cx="2846870" cy="861060"/>
          </a:xfrm>
        </p:grpSpPr>
        <p:sp>
          <p:nvSpPr>
            <p:cNvPr name="Freeform 494" id="494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5" id="495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96" id="496"/>
          <p:cNvGrpSpPr/>
          <p:nvPr/>
        </p:nvGrpSpPr>
        <p:grpSpPr>
          <a:xfrm rot="0">
            <a:off x="11612804" y="7474201"/>
            <a:ext cx="2045284" cy="555936"/>
            <a:chOff x="0" y="0"/>
            <a:chExt cx="2727046" cy="741248"/>
          </a:xfrm>
        </p:grpSpPr>
        <p:sp>
          <p:nvSpPr>
            <p:cNvPr name="Freeform 497" id="497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498" id="498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CEO / Sustainability</a:t>
              </a:r>
            </a:p>
          </p:txBody>
        </p:sp>
      </p:grpSp>
      <p:grpSp>
        <p:nvGrpSpPr>
          <p:cNvPr name="Group 499" id="499"/>
          <p:cNvGrpSpPr/>
          <p:nvPr/>
        </p:nvGrpSpPr>
        <p:grpSpPr>
          <a:xfrm rot="0">
            <a:off x="13681786" y="7415546"/>
            <a:ext cx="2135153" cy="645795"/>
            <a:chOff x="0" y="0"/>
            <a:chExt cx="2846870" cy="861060"/>
          </a:xfrm>
        </p:grpSpPr>
        <p:sp>
          <p:nvSpPr>
            <p:cNvPr name="Freeform 500" id="500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01" id="501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502" id="502"/>
          <p:cNvGrpSpPr/>
          <p:nvPr/>
        </p:nvGrpSpPr>
        <p:grpSpPr>
          <a:xfrm rot="0">
            <a:off x="13740451" y="7474201"/>
            <a:ext cx="2045284" cy="555936"/>
            <a:chOff x="0" y="0"/>
            <a:chExt cx="2727046" cy="741248"/>
          </a:xfrm>
        </p:grpSpPr>
        <p:sp>
          <p:nvSpPr>
            <p:cNvPr name="Freeform 503" id="503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504" id="504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All, Public, Press</a:t>
              </a:r>
            </a:p>
          </p:txBody>
        </p:sp>
      </p:grpSp>
      <p:grpSp>
        <p:nvGrpSpPr>
          <p:cNvPr name="Group 505" id="505"/>
          <p:cNvGrpSpPr/>
          <p:nvPr/>
        </p:nvGrpSpPr>
        <p:grpSpPr>
          <a:xfrm rot="0">
            <a:off x="15809433" y="7415546"/>
            <a:ext cx="2135153" cy="645795"/>
            <a:chOff x="0" y="0"/>
            <a:chExt cx="2846870" cy="861060"/>
          </a:xfrm>
        </p:grpSpPr>
        <p:sp>
          <p:nvSpPr>
            <p:cNvPr name="Freeform 506" id="506"/>
            <p:cNvSpPr/>
            <p:nvPr/>
          </p:nvSpPr>
          <p:spPr>
            <a:xfrm flipH="false" flipV="false" rot="0">
              <a:off x="4953" y="4953"/>
              <a:ext cx="2836926" cy="851154"/>
            </a:xfrm>
            <a:custGeom>
              <a:avLst/>
              <a:gdLst/>
              <a:ahLst/>
              <a:cxnLst/>
              <a:rect r="r" b="b" t="t" l="l"/>
              <a:pathLst>
                <a:path h="851154" w="2836926">
                  <a:moveTo>
                    <a:pt x="0" y="0"/>
                  </a:moveTo>
                  <a:lnTo>
                    <a:pt x="2836926" y="0"/>
                  </a:lnTo>
                  <a:lnTo>
                    <a:pt x="2836926" y="851154"/>
                  </a:lnTo>
                  <a:lnTo>
                    <a:pt x="0" y="8511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07" id="507"/>
            <p:cNvSpPr/>
            <p:nvPr/>
          </p:nvSpPr>
          <p:spPr>
            <a:xfrm flipH="false" flipV="false" rot="0">
              <a:off x="0" y="0"/>
              <a:ext cx="2846832" cy="861060"/>
            </a:xfrm>
            <a:custGeom>
              <a:avLst/>
              <a:gdLst/>
              <a:ahLst/>
              <a:cxnLst/>
              <a:rect r="r" b="b" t="t" l="l"/>
              <a:pathLst>
                <a:path h="861060" w="2846832">
                  <a:moveTo>
                    <a:pt x="4953" y="0"/>
                  </a:moveTo>
                  <a:lnTo>
                    <a:pt x="2841879" y="0"/>
                  </a:lnTo>
                  <a:cubicBezTo>
                    <a:pt x="2844673" y="0"/>
                    <a:pt x="2846832" y="2286"/>
                    <a:pt x="2846832" y="4953"/>
                  </a:cubicBezTo>
                  <a:lnTo>
                    <a:pt x="2846832" y="856107"/>
                  </a:lnTo>
                  <a:cubicBezTo>
                    <a:pt x="2846832" y="858901"/>
                    <a:pt x="2844546" y="861060"/>
                    <a:pt x="2841879" y="861060"/>
                  </a:cubicBezTo>
                  <a:lnTo>
                    <a:pt x="4953" y="861060"/>
                  </a:lnTo>
                  <a:cubicBezTo>
                    <a:pt x="2159" y="861060"/>
                    <a:pt x="0" y="858774"/>
                    <a:pt x="0" y="856107"/>
                  </a:cubicBezTo>
                  <a:lnTo>
                    <a:pt x="0" y="4953"/>
                  </a:lnTo>
                  <a:cubicBezTo>
                    <a:pt x="0" y="2286"/>
                    <a:pt x="2286" y="0"/>
                    <a:pt x="4953" y="0"/>
                  </a:cubicBezTo>
                  <a:moveTo>
                    <a:pt x="4953" y="10033"/>
                  </a:moveTo>
                  <a:lnTo>
                    <a:pt x="4953" y="4953"/>
                  </a:lnTo>
                  <a:lnTo>
                    <a:pt x="10033" y="4953"/>
                  </a:lnTo>
                  <a:lnTo>
                    <a:pt x="10033" y="856107"/>
                  </a:lnTo>
                  <a:lnTo>
                    <a:pt x="4953" y="856107"/>
                  </a:lnTo>
                  <a:lnTo>
                    <a:pt x="4953" y="851154"/>
                  </a:lnTo>
                  <a:lnTo>
                    <a:pt x="2841879" y="851154"/>
                  </a:lnTo>
                  <a:lnTo>
                    <a:pt x="2841879" y="856107"/>
                  </a:lnTo>
                  <a:lnTo>
                    <a:pt x="2836926" y="856107"/>
                  </a:lnTo>
                  <a:lnTo>
                    <a:pt x="2836926" y="4953"/>
                  </a:lnTo>
                  <a:lnTo>
                    <a:pt x="2841879" y="4953"/>
                  </a:lnTo>
                  <a:lnTo>
                    <a:pt x="2841879" y="10033"/>
                  </a:lnTo>
                  <a:lnTo>
                    <a:pt x="4953" y="10033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508" id="508"/>
          <p:cNvGrpSpPr/>
          <p:nvPr/>
        </p:nvGrpSpPr>
        <p:grpSpPr>
          <a:xfrm rot="0">
            <a:off x="15868098" y="7474201"/>
            <a:ext cx="2045284" cy="555936"/>
            <a:chOff x="0" y="0"/>
            <a:chExt cx="2727046" cy="741248"/>
          </a:xfrm>
        </p:grpSpPr>
        <p:sp>
          <p:nvSpPr>
            <p:cNvPr name="Freeform 509" id="509"/>
            <p:cNvSpPr/>
            <p:nvPr/>
          </p:nvSpPr>
          <p:spPr>
            <a:xfrm flipH="false" flipV="false" rot="0">
              <a:off x="0" y="0"/>
              <a:ext cx="2727042" cy="741243"/>
            </a:xfrm>
            <a:custGeom>
              <a:avLst/>
              <a:gdLst/>
              <a:ahLst/>
              <a:cxnLst/>
              <a:rect r="r" b="b" t="t" l="l"/>
              <a:pathLst>
                <a:path h="741243" w="2727042">
                  <a:moveTo>
                    <a:pt x="0" y="0"/>
                  </a:moveTo>
                  <a:lnTo>
                    <a:pt x="2727042" y="0"/>
                  </a:lnTo>
                  <a:lnTo>
                    <a:pt x="2727042" y="741243"/>
                  </a:lnTo>
                  <a:lnTo>
                    <a:pt x="0" y="741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85" r="0" b="-21686"/>
              </a:stretch>
            </a:blipFill>
          </p:spPr>
        </p:sp>
        <p:sp>
          <p:nvSpPr>
            <p:cNvPr name="TextBox 510" id="510"/>
            <p:cNvSpPr txBox="true"/>
            <p:nvPr/>
          </p:nvSpPr>
          <p:spPr>
            <a:xfrm>
              <a:off x="0" y="-28575"/>
              <a:ext cx="2727046" cy="769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impact milestone tracking</a:t>
              </a:r>
            </a:p>
          </p:txBody>
        </p:sp>
      </p:grpSp>
      <p:grpSp>
        <p:nvGrpSpPr>
          <p:cNvPr name="Group 511" id="511"/>
          <p:cNvGrpSpPr/>
          <p:nvPr/>
        </p:nvGrpSpPr>
        <p:grpSpPr>
          <a:xfrm rot="0">
            <a:off x="0" y="10075412"/>
            <a:ext cx="18297725" cy="219627"/>
            <a:chOff x="0" y="0"/>
            <a:chExt cx="24396967" cy="292837"/>
          </a:xfrm>
        </p:grpSpPr>
        <p:sp>
          <p:nvSpPr>
            <p:cNvPr name="Freeform 512" id="512"/>
            <p:cNvSpPr/>
            <p:nvPr/>
          </p:nvSpPr>
          <p:spPr>
            <a:xfrm flipH="false" flipV="false" rot="0">
              <a:off x="0" y="0"/>
              <a:ext cx="24396954" cy="292862"/>
            </a:xfrm>
            <a:custGeom>
              <a:avLst/>
              <a:gdLst/>
              <a:ahLst/>
              <a:cxnLst/>
              <a:rect r="r" b="b" t="t" l="l"/>
              <a:pathLst>
                <a:path h="292862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292862"/>
                  </a:lnTo>
                  <a:lnTo>
                    <a:pt x="0" y="292862"/>
                  </a:ln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513" id="513"/>
          <p:cNvGrpSpPr/>
          <p:nvPr/>
        </p:nvGrpSpPr>
        <p:grpSpPr>
          <a:xfrm rot="0">
            <a:off x="274539" y="10116598"/>
            <a:ext cx="17748656" cy="137265"/>
            <a:chOff x="0" y="0"/>
            <a:chExt cx="23664875" cy="183020"/>
          </a:xfrm>
        </p:grpSpPr>
        <p:sp>
          <p:nvSpPr>
            <p:cNvPr name="Freeform 514" id="514"/>
            <p:cNvSpPr/>
            <p:nvPr/>
          </p:nvSpPr>
          <p:spPr>
            <a:xfrm flipH="false" flipV="false" rot="0">
              <a:off x="0" y="0"/>
              <a:ext cx="23664872" cy="183023"/>
            </a:xfrm>
            <a:custGeom>
              <a:avLst/>
              <a:gdLst/>
              <a:ahLst/>
              <a:cxnLst/>
              <a:rect r="r" b="b" t="t" l="l"/>
              <a:pathLst>
                <a:path h="183023" w="23664872">
                  <a:moveTo>
                    <a:pt x="0" y="0"/>
                  </a:moveTo>
                  <a:lnTo>
                    <a:pt x="23664872" y="0"/>
                  </a:lnTo>
                  <a:lnTo>
                    <a:pt x="23664872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9416" r="0" b="-2469414"/>
              </a:stretch>
            </a:blipFill>
          </p:spPr>
        </p:sp>
        <p:sp>
          <p:nvSpPr>
            <p:cNvPr name="TextBox 515" id="515"/>
            <p:cNvSpPr txBox="true"/>
            <p:nvPr/>
          </p:nvSpPr>
          <p:spPr>
            <a:xfrm>
              <a:off x="0" y="-28575"/>
              <a:ext cx="23664875" cy="211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i="true">
                  <a:solidFill>
                    <a:srgbClr val="E8F5E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Too Good To Go  |  Dashboard Explanation &amp; KPI Framework  |  FY 2024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DAHGTPaayPk</dc:identifier>
  <dcterms:modified xsi:type="dcterms:W3CDTF">2011-08-01T06:04:30Z</dcterms:modified>
  <cp:revision>1</cp:revision>
  <dc:title>TooGoodToGo_Slide9_Fixed.pptx</dc:title>
</cp:coreProperties>
</file>